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twenty-year detective story</a:t>
            </a:r>
          </a:p>
          <a:p>
            <a:r>
              <a:rPr b="0" sz="1100">
                <a:latin typeface="Geist"/>
              </a:rPr>
              <a:t>Open like a mystery, because it was one. For twenty years, observational studies -- just watching women, not assigning anything -- kept finding that estrogen users had sharper memory and less Alzheimer's [1, 2]. Doctors nearly started prescribing hormones for the brain. Then in 2003 the WHIMS randomized trial flipped a coin to decide who got hormones, and the benefit didn't just vanish, it reversed: dementia risk actually rose [3, 4]. Same drug, opposite answer. Set up the whole talk as: how can two honest studies disagree this badly? Transition: here it is in one picture.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When they flipped a coin, the benefit vanished</a:t>
            </a:r>
          </a:p>
          <a:p>
            <a:r>
              <a:rPr b="0" sz="1100">
                <a:latin typeface="Geist"/>
              </a:rPr>
              <a:t>This is our most important slide -- read it slowly. Left bar, 'just watching': hormone users looked protected, risk about two-thirds of non-users. Right bar, the coin-flip trial: risk more than doubled. The amber arrow is the sign flip. The dashed line is 'no effect.' The point for a 15-year-old: the STUDY DESIGN, not the drug, decided the answer. Watching can lie; a coin flip cannot. Transition: so why does watching lie here?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Healthy-user bias: a hidden third factor</a:t>
            </a:r>
          </a:p>
          <a:p>
            <a:r>
              <a:rPr b="0" sz="1100">
                <a:latin typeface="Geist"/>
              </a:rPr>
              <a:t>Now name the villain: confounding, or 'healthy-user bias.' The women who chose hormone therapy were, on average, richer, more active, and saw doctors more [5]. That hidden head start -- the pink box at the top -- pushes down on BOTH boxes: it makes them more likely to take the pill AND more likely to have good memory. So the dashed bottom arrow, 'takes pill -&gt; better memory,' only LOOKS like cause. It's a mirage created by the third factor [6]. This one diagram is the whole statistical idea of the talk. Transition: you already know this trap from summer.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Ice cream and shark attacks</a:t>
            </a:r>
          </a:p>
          <a:p>
            <a:r>
              <a:rPr b="0" sz="1100">
                <a:latin typeface="Geist"/>
              </a:rPr>
              <a:t>Make it click with the classic. Ice-cream sales and shark attacks rise together every summer -- but ice cream doesn't summon sharks; hot weather drives both. Map it: estrogen use is the ice cream, good memory is the shark attacks, and 'being healthier to start with' is the summer heat. The takeaway line is the transferable habit: when two things move together, hunt for the hidden third factor before you believe one caused the other. Transition: now to our own toy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Our data: NHANES women 60 and older</a:t>
            </a:r>
          </a:p>
          <a:p>
            <a:r>
              <a:rPr b="0" sz="1100">
                <a:latin typeface="Geist"/>
              </a:rPr>
              <a:t>Quick tour of the dataset so the results land. 739 women, all 60+, from NHANES -- a real US government health survey, not something we made up. For each woman we know: did she ever use estrogen; her age, education, and income (the possible confounders); and a memory/attention test score, where higher is sharper. Our model tries to predict who lands in the weaker-scoring half. Keep it light -- they don't need every column, just the shape. Transition: what can we actually ask of survey 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one question we can actually ask</a:t>
            </a:r>
          </a:p>
          <a:p>
            <a:r>
              <a:rPr b="0" sz="1100">
                <a:latin typeface="Geist"/>
              </a:rPr>
              <a:t>Set expectations honestly. We can't randomly assign estrogen in a survey -- so we can't prove cause. But we CAN ask the narrower question in the box: does the estrogen effect survive once we account for age, education, and income? We'll measure estrogen's effect two ways -- crude (alone) and adjusted (after the confounders). If it shrinks, the crude headline was mostly confounding. That crude-vs-adjusted move is the entire method. Transition: start with the naive, tempting look.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tempting headline, exactly as anyone would first compute it. Average the memory score for users versus non-users: 51.8 versus 43.7, an 8-point head start for the estrogen group. If you stopped here, you'd write 'estrogen users think better' -- the same clue the 1990s studies chased. The whole point of the next slide is that we did NOT stop here. Transition: now adjust for who these women were.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Two-thirds of the effect was confounding</a:t>
            </a:r>
          </a:p>
          <a:p>
            <a:r>
              <a:rPr b="0" sz="1100">
                <a:latin typeface="Geist"/>
              </a:rPr>
              <a:t>The punchline slide. Same data, honest test. Crude effect: about -0.33 (negative = looks protective). Adjusted for age, education, and income: it collapses to -0.11. That's a 67% shrink -- two-thirds of the 'benefit' was never the estrogen, it was that users were healthier and better-off to begin with. This is confounding caught in the act, a miniature of exactly why WHIMS overturned the observational headlines. If they remember one number from this talk, make it 67%. Transition: one more check any people-model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Does the model work for everyone?</a:t>
            </a:r>
          </a:p>
          <a:p>
            <a:r>
              <a:rPr b="0" sz="1100">
                <a:latin typeface="Geist"/>
              </a:rPr>
              <a:t>A fairness audit, the habit from earlier this week. We trained one model to predict low cognition, then split its accuracy by group: 0.73 for estrogen-users, 0.65 for non-users. A model can look fine overall yet work unequally across groups -- and a clinic that trusts it equally could quietly do more harm to the group it's worse at. The mature move isn't to hide the gap; it's to name it. Transition: and there's something no score in this dataset can see at 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tests say “fine”; she says “not fine”</a:t>
            </a:r>
          </a:p>
          <a:p>
            <a:r>
              <a:rPr b="0" sz="1100">
                <a:latin typeface="Geist"/>
              </a:rPr>
              <a:t>Step outside the numbers. Our data is a test SCORE. But many women in menopause report real, daily 'brain fog' even when their objective test looks normal [7] -- the slope lines cross exactly there. And women's symptoms get waved off as stress far too often [8]. The grown-up data-scientist stance holds two true things at once: the confounding is real (the pill may not be the hero), AND the patient's lived report is real evidence, not noise. Transition: so what can this project honestly claim?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A survey can hint; only an experiment proves</a:t>
            </a:r>
          </a:p>
          <a:p>
            <a:r>
              <a:rPr b="0" sz="1100">
                <a:latin typeface="Geist"/>
              </a:rPr>
              <a:t>Be scrupulously honest about scope -- this is what earns trust. CAN DO: show a tempting headline is mostly a mirage and that adjusting shrinks it ~67%. CANNOT DO: prove cause -- we can only correct for confounders we measured and thought of; something unrecorded could still be doing the work. SETTLES IT: a randomized trial, where a coin flip (not the patient) assigns the drug, so the groups start identical. That's why WHIMS could do what twenty years of watching couldn't. Transition: the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References</a:t>
            </a:r>
          </a:p>
          <a:p>
            <a:r>
              <a:rPr b="0" sz="1100">
                <a:latin typeface="Geist"/>
              </a:rPr>
              <a:t>The paper trail, in order of the story. Top-left: the two observational studies that raised the exciting clue [1, 2]. Bottom of the left column into the trial: the WHIMS randomized results that overturned it [3, 4]. Right column: the healthy-user-bias explanation [5, 6] and the brain-fog / symptom-dismissal pieces [7, 8]. All were checked against PubMed or the journal page. Transition: one habit to take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b="1" sz="1300">
                <a:latin typeface="Geist Mono"/>
              </a:rPr>
              <a:t>The one habit to carry out the door</a:t>
            </a:r>
          </a:p>
          <a:p>
            <a:r>
              <a:rPr b="0" sz="1100">
                <a:latin typeface="Geist"/>
              </a:rPr>
              <a:t>Close on the transferable lesson, not the estrogen specifics. Suspect the chooser, not the treatment: whenever a group that CHOSE something looks healthier, the head start usually belongs to the person, and only a coin-flip experiment can turn a correlation into a cause. And -- because this is medicine, about real women -- take the patient's account seriously even when the test says 'fine.' That pair, statistical humility plus listening, is the whole point of the project. Thank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2801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Outset · AI in Healthcare · Day 3 · Group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058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Geist Mono"/>
              </a:rPr>
              <a:t>Does estrogen keep the mind sharp?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7033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E5E5EA"/>
                </a:solidFill>
                <a:latin typeface="Geist"/>
              </a:rPr>
              <a:t>A twenty-year lesson in confounding, and why a survey can hint but only an experiment can prove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480559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937759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5440679"/>
            <a:ext cx="3657600" cy="18288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557784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F0C840"/>
                </a:solidFill>
                <a:latin typeface="Geist Mono"/>
              </a:rPr>
              <a:t>2026-07-08</a:t>
            </a:r>
          </a:p>
        </p:txBody>
      </p:sp>
      <p:pic>
        <p:nvPicPr>
          <p:cNvPr id="12" name="Picture 11" descr="ucs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10379" y="5248656"/>
            <a:ext cx="1163329" cy="1152144"/>
          </a:xfrm>
          <a:prstGeom prst="rect">
            <a:avLst/>
          </a:prstGeom>
        </p:spPr>
      </p:pic>
      <p:pic>
        <p:nvPicPr>
          <p:cNvPr id="13" name="Picture 12" descr="cal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2308" y="5413248"/>
            <a:ext cx="1032187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BACKGROUND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twenty-year detective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5440680" cy="41605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051560"/>
            <a:ext cx="5440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1430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THE EXCITING CLUE  (1996-2002)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691640"/>
            <a:ext cx="5111496" cy="3428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Studies that simply WATCHED women found that estrogen users developed Alzheimer's less often and later [1, 2]. It looked like solid proof the pills protected the brain.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051560"/>
            <a:ext cx="5440680" cy="41605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051560"/>
            <a:ext cx="5440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11430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THE PLOT TWIST  (2003)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1691640"/>
            <a:ext cx="5111496" cy="3428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Then the WHIMS trial let a COIN FLIP decide who got hormones. The benefit vanished, and dementia risk actually ROSE in women 65+ [3, 4].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68112"/>
            <a:ext cx="11247120" cy="56692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5468112"/>
            <a:ext cx="107899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4141C"/>
                </a:solidFill>
                <a:latin typeface="Geist Mono"/>
              </a:rPr>
              <a:t>Same drug, opposite answer. The rest of this talk is one question: HOW?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When they flipped a coin, the benefit vanished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effect_f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5796" y="1097280"/>
            <a:ext cx="7589926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1">
                <a:solidFill>
                  <a:srgbClr val="555560"/>
                </a:solidFill>
                <a:latin typeface="Geist"/>
              </a:rPr>
              <a:t>Just watching (turquoise) said hormones protect; the coin-flip trial (pink) said they harm.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Healthy-user bias: a hidden third factor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confounding_triang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10402"/>
            <a:ext cx="6748272" cy="409439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25512" y="1097280"/>
            <a:ext cx="4178808" cy="50749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25512" y="1097280"/>
            <a:ext cx="4178808" cy="9144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54112" y="138074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Who chose the pill?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54112" y="170992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Users were richer, more active, and saw doctors more often to begin with [5].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4112" y="279806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The hidden 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54112" y="312724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That same head start drives BOTH the drug use AND the good memory.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54112" y="4215384"/>
            <a:ext cx="372160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So the bottom link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54112" y="4544568"/>
            <a:ext cx="372160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only LOOKS like cause. It is a mirage -- confounding, a.k.a. healthy-user bias [6].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Ice cream and shark attacks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4141C"/>
                </a:solidFill>
                <a:latin typeface="Geist"/>
              </a:rPr>
              <a:t>On hot days, ice-cream sales and shark attacks BOTH rise together. Does ice cream summon sharks?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5440680" cy="342899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544068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8288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THE ANALOGY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377440"/>
            <a:ext cx="5111496" cy="2697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No -- the hot SUMMER WEATHER drives both: heat sells ice cream and sends people into the ocean. Neither one causes the other.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737360"/>
            <a:ext cx="5440680" cy="342899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737360"/>
            <a:ext cx="5440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18288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OUR VERSION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377440"/>
            <a:ext cx="5111496" cy="2697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Estrogen use and good memory rise together. Being HEALTHIER to start with drives both -- the pill may summon nothing.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67527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1493"/>
                </a:solidFill>
                <a:latin typeface="Geist Mono"/>
              </a:rPr>
              <a:t>When two things move together, hunt for the hidden third factor before you believe one caused the other.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METHODS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Our data: NHANES women 60 and older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257175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257175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34440"/>
            <a:ext cx="2242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739 WOMEN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224256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all age 60+, drawn from the NHANES 2013-14 US national health survey.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48990" y="1143000"/>
            <a:ext cx="257175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48990" y="1143000"/>
            <a:ext cx="257175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13582" y="1234440"/>
            <a:ext cx="2242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USED ESTROGEN?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13582" y="1783080"/>
            <a:ext cx="224256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whether she ever took female hormones -- yes or no, self-reported.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0780" y="1143000"/>
            <a:ext cx="257175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40780" y="1143000"/>
            <a:ext cx="257175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1234440"/>
            <a:ext cx="2242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HER BACKGROUND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5372" y="1783080"/>
            <a:ext cx="224256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age, education, and family income -- the confounders we must check.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32570" y="1143000"/>
            <a:ext cx="257175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32570" y="1143000"/>
            <a:ext cx="2571750" cy="54864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97162" y="1234440"/>
            <a:ext cx="224256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MEMORY SCORE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7162" y="1783080"/>
            <a:ext cx="224256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 digit-symbol test; higher = sharper. We predict the weaker-scoring half.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one question we can actually 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4141C"/>
                </a:solidFill>
                <a:latin typeface="Geist"/>
              </a:rPr>
              <a:t>We cannot randomly assign estrogen in a survey. So we ask a narrower, honest question: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37360"/>
            <a:ext cx="11247120" cy="1051560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737360"/>
            <a:ext cx="128016" cy="105156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37360"/>
            <a:ext cx="1060704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4141C"/>
                </a:solidFill>
                <a:latin typeface="Geist Mono"/>
              </a:rPr>
              <a:t>Does the estrogen effect SURVIVE once we account for age, education, and income?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108960"/>
            <a:ext cx="5440680" cy="260603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108960"/>
            <a:ext cx="544068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2004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CRUDE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749040"/>
            <a:ext cx="511149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Estrogen's effect all by itself -- ignoring everything else about the woman.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3108960"/>
            <a:ext cx="5440680" cy="260603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63640" y="3108960"/>
            <a:ext cx="544068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200400"/>
            <a:ext cx="511149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ADJUSTED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749040"/>
            <a:ext cx="5111496" cy="18745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Estrogen's effect AFTER accounting for age, education, and income.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79592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1">
                <a:solidFill>
                  <a:srgbClr val="555560"/>
                </a:solidFill>
                <a:latin typeface="Geist"/>
              </a:rPr>
              <a:t>If the effect shrinks from crude to adjusted, the headline was mostly confounding -- not cause.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RESULTS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tempting headline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raw_me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80859"/>
            <a:ext cx="6298387" cy="35534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325880"/>
            <a:ext cx="45829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i="0">
                <a:solidFill>
                  <a:srgbClr val="40E0D0"/>
                </a:solidFill>
                <a:latin typeface="Geist Mono"/>
              </a:rPr>
              <a:t>+8.1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2468880"/>
            <a:ext cx="45829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points -- the raw gap, users over non-users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3063240"/>
            <a:ext cx="458297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51.8 versus 43.7. Taken at face value, the exciting headline writes itself: 'estrogen users think better.' But we never checked whether the two groups were the same kind of people to begin with.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Two-thirds of the effect was confounding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confou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24087"/>
            <a:ext cx="6298387" cy="42670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325880"/>
            <a:ext cx="4582972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600" b="1" i="0">
                <a:solidFill>
                  <a:srgbClr val="FF1493"/>
                </a:solidFill>
                <a:latin typeface="Geist Mono"/>
              </a:rPr>
              <a:t>67%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2560320"/>
            <a:ext cx="458297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4141C"/>
                </a:solidFill>
                <a:latin typeface="Geist Mono"/>
              </a:rPr>
              <a:t>of the effect was confounding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3154680"/>
            <a:ext cx="4582972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4141C"/>
                </a:solidFill>
                <a:latin typeface="Geist"/>
              </a:rPr>
              <a:t>The crude effect (-0.33) shrank to just -0.11 once we adjusted for age, education, and income. That missing two-thirds was never the estrogen -- it was that users were healthier and better-off to start with.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Does the model work for everyone?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fairnes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67075"/>
            <a:ext cx="6298387" cy="4781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21347" y="1234440"/>
            <a:ext cx="45829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40E0D0"/>
                </a:solidFill>
                <a:latin typeface="Geist Mono"/>
              </a:rPr>
              <a:t>0.73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21347" y="1965960"/>
            <a:ext cx="45829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1C"/>
                </a:solidFill>
                <a:latin typeface="Geist Mono"/>
              </a:rPr>
              <a:t>test accuracy for estrogen-USERS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21347" y="2606040"/>
            <a:ext cx="45829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555560"/>
                </a:solidFill>
                <a:latin typeface="Geist Mono"/>
              </a:rPr>
              <a:t>0.65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21347" y="3337560"/>
            <a:ext cx="45829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4141C"/>
                </a:solidFill>
                <a:latin typeface="Geist Mono"/>
              </a:rPr>
              <a:t>test accuracy for NON-users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21347" y="4069080"/>
            <a:ext cx="45829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4141C"/>
                </a:solidFill>
                <a:latin typeface="Geist"/>
              </a:rPr>
              <a:t>A tool that is reliably right for one group and shakier for another can quietly do harm if a clinic trusts it equally. Naming the gap out loud is the honest move.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0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640080"/>
            <a:ext cx="164592" cy="41148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6400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8A2BE2"/>
                </a:solidFill>
                <a:latin typeface="Geist Mono"/>
              </a:rPr>
              <a:t>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94560"/>
            <a:ext cx="1097280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Geist Mono"/>
              </a:rPr>
              <a:t>WHAT THE NUMBERS CAN’T CAPTURE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120640"/>
            <a:ext cx="1828800" cy="18288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612648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3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39" y="61264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1493"/>
                </a:solidFill>
                <a:latin typeface="Geist Mono"/>
              </a:rPr>
              <a:t>Outset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599" y="6126480"/>
            <a:ext cx="182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612648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888888"/>
                </a:solidFill>
                <a:latin typeface="Geist Mono"/>
              </a:rPr>
              <a:t>Does estrogen keep the mind sharp?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tests say “fine”; she says “not fine”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pic>
        <p:nvPicPr>
          <p:cNvPr id="7" name="Picture 6" descr="intro_objective_vs_subj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57514"/>
            <a:ext cx="6523329" cy="44001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346289" y="1097280"/>
            <a:ext cx="4358030" cy="50749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46289" y="1097280"/>
            <a:ext cx="4358030" cy="9144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74889" y="138074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The mismatch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4889" y="170992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Many women report real, daily brain fog even when the objective test looks perfectly normal [7].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74889" y="279806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Why it matters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74889" y="312724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Women's symptoms are too often waved off as stress or emotion instead of investigated [8].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74889" y="4215384"/>
            <a:ext cx="39008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2BE2"/>
                </a:solidFill>
                <a:latin typeface="Geist Mono"/>
              </a:rPr>
              <a:t>Hold both ideas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74889" y="4544568"/>
            <a:ext cx="390083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The confounding is real AND the patient's account is real evidence -- not noise to dismiss.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A survey can hint; only an experiment proves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143000"/>
            <a:ext cx="350520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43000"/>
            <a:ext cx="3505200" cy="54864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1234440"/>
            <a:ext cx="31760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40E0D0"/>
                </a:solidFill>
                <a:latin typeface="Geist Mono"/>
              </a:rPr>
              <a:t>WHAT IT CAN 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1783080"/>
            <a:ext cx="317601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Show a tempting headline is mostly a mirage, and that adjusting shrinks the effect by ~67%.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28160" y="1143000"/>
            <a:ext cx="350520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28160" y="1143000"/>
            <a:ext cx="3505200" cy="54864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2752" y="1234440"/>
            <a:ext cx="31760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1493"/>
                </a:solidFill>
                <a:latin typeface="Geist Mono"/>
              </a:rPr>
              <a:t>WHAT IT CANNOT 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2752" y="1783080"/>
            <a:ext cx="317601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Prove cause. We can only correct for confounders we actually measured and thought of.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9120" y="1143000"/>
            <a:ext cx="3505200" cy="4846319"/>
          </a:xfrm>
          <a:prstGeom prst="rect">
            <a:avLst/>
          </a:prstGeom>
          <a:solidFill>
            <a:srgbClr val="FA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99120" y="1143000"/>
            <a:ext cx="3505200" cy="54864"/>
          </a:xfrm>
          <a:prstGeom prst="rect">
            <a:avLst/>
          </a:prstGeom>
          <a:solidFill>
            <a:srgbClr val="F0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3712" y="1234440"/>
            <a:ext cx="317601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0C840"/>
                </a:solidFill>
                <a:latin typeface="Geist Mono"/>
              </a:rPr>
              <a:t>WHAT SETTLES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1783080"/>
            <a:ext cx="3176016" cy="4114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4141C"/>
                </a:solidFill>
                <a:latin typeface="Geist"/>
              </a:rPr>
              <a:t>A randomized trial: a coin flip, not the patient, assigns the drug. That is why WHIMS could overturn 20 years of headlines.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References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18872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[1] Tang et al. 1996, Lancet -- observational; estrogen users got Alzheimer's less/later.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4028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[2] Zandi et al. 2002, JAMA (Cache County) -- observational; long-term users lower risk.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291839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[3] Shumaker et al. 2003, JAMA -- WHIMS RCT; hormones DOUBLED dementia risk in 65+.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4340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[4] Rapp et al. 2003, JAMA -- WHIMS RCT; no cognitive benefit, scores trended worse.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[5] Wharton et al. 2009, Maturitas -- healthy-user bias; users start out healthier.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4028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[6] Vandenbroucke 2009, Lancet -- why observational studies and RCTs disagreed.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3291839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[7] Maki 2024, Harvard Health -- menopause 'brain fog' vs. normal test scores.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343400"/>
            <a:ext cx="54406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4141C"/>
                </a:solidFill>
                <a:latin typeface="Geist"/>
              </a:rPr>
              <a:t>[8] Chen &amp; Shafir 2025, Harvard Health -- the dismissal of women's symptoms.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8A2B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41C"/>
                </a:solidFill>
                <a:latin typeface="Geist Mono"/>
              </a:rPr>
              <a:t>The one habit to carry out the door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868680"/>
            <a:ext cx="11247120" cy="45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105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560"/>
                </a:solidFill>
                <a:latin typeface="Geist Mono"/>
              </a:rPr>
              <a:t>Jinchi Wei  ·  Outset  ·  Does estrogen keep the mind sharp?  ·  2026-07-08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146304" cy="219456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234440"/>
            <a:ext cx="106984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14141C"/>
                </a:solidFill>
                <a:latin typeface="Geist Mono"/>
              </a:rPr>
              <a:t>Suspect the chooser, not the treatment.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4141C"/>
                </a:solidFill>
                <a:latin typeface="Geist"/>
              </a:rPr>
              <a:t>When a group that CHOSE a treatment looks healthier, the head start usually belongs to the person, not the pill -- and only a coin-flip experiment can promote a correlation to a cause.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862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1493"/>
                </a:solidFill>
                <a:latin typeface="Geist Mono"/>
              </a:rPr>
              <a:t>And take the patient's account seriously -- even when the test says 'fine.'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A3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A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40E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0"/>
            <a:ext cx="228600" cy="6858000"/>
          </a:xfrm>
          <a:prstGeom prst="rect">
            <a:avLst/>
          </a:prstGeom>
          <a:solidFill>
            <a:srgbClr val="FF14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141732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6000" b="1" i="0">
                <a:solidFill>
                  <a:srgbClr val="FF1493"/>
                </a:solidFill>
                <a:latin typeface="Geist Mono"/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24612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0" i="0">
                <a:solidFill>
                  <a:srgbClr val="40E0D0"/>
                </a:solidFill>
                <a:latin typeface="Noto Sans CJK TC"/>
              </a:rPr>
              <a:t>魏晉祺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922776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40E0D0"/>
                </a:solidFill>
                <a:latin typeface="Geist Mono"/>
              </a:rPr>
              <a:t>Jinchi Wei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439826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Geist"/>
              </a:rPr>
              <a:t>Outset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4837176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 i="0">
                <a:solidFill>
                  <a:srgbClr val="F0C840"/>
                </a:solidFill>
                <a:latin typeface="Geist Mono"/>
              </a:rPr>
              <a:t>jinchikwei@gmail.com</a:t>
            </a:r>
          </a:p>
        </p:txBody>
      </p:sp>
      <p:pic>
        <p:nvPicPr>
          <p:cNvPr id="10" name="Picture 9" descr="me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6477" y="5486400"/>
            <a:ext cx="690906" cy="914400"/>
          </a:xfrm>
          <a:prstGeom prst="rect">
            <a:avLst/>
          </a:prstGeom>
        </p:spPr>
      </p:pic>
      <p:pic>
        <p:nvPicPr>
          <p:cNvPr id="11" name="Picture 10" descr="xia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8551" y="5486400"/>
            <a:ext cx="755944" cy="914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