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Background</a:t>
            </a:r>
          </a:p>
          <a:p>
            <a:r>
              <a:rPr b="0" sz="1100">
                <a:latin typeface="Geist"/>
              </a:rPr>
              <a:t>This section sets up the tension before any of our own results: skin-cancer AI is sold as a way to widen access, yet it learns from images that mostly show light skin. Prime students to ask 'good for whom?' rather than just 'is it accurate?'.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A promise, and a catch</a:t>
            </a:r>
          </a:p>
          <a:p>
            <a:r>
              <a:rPr b="0" sz="1100">
                <a:latin typeface="Geist"/>
              </a:rPr>
              <a:t>Skin-cancer AI could reach billions who never see a dermatologist, but a model only knows what its training images showed it, and those images skew heavily toward light skin. The promise and the risk are two sides of the same coin. Next we look at what the training data actually contains.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AI mostly practiced on light skin</a:t>
            </a:r>
          </a:p>
          <a:p>
            <a:r>
              <a:rPr b="0" sz="1100">
                <a:latin typeface="Geist"/>
              </a:rPr>
              <a:t>A systematic review of 21 public skin datasets (over 100,000 images) found almost all came from light-skinned patients in Europe, North America, and Oceania. On the Fitzpatrick I-VI scale the counts pile up on the lighter types and nearly vanish on the darker ones. A model that barely sees dark skin in training has little chance of doing well on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Same model, one number hides who it fails</a:t>
            </a:r>
          </a:p>
          <a:p>
            <a:r>
              <a:rPr b="0" sz="1100">
                <a:latin typeface="Geist"/>
              </a:rPr>
              <a:t>Two studies make the point: Groh showed a model is most accurate on the skin types it saw most, and Daneshjou showed top models drop sharply on dark skin. The single average accuracy a report cites sits between the groups and hides the gap. This is why we distrust one headline number.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Accurate on average can still be unfair</a:t>
            </a:r>
          </a:p>
          <a:p>
            <a:r>
              <a:rPr b="0" sz="1100">
                <a:latin typeface="Geist"/>
              </a:rPr>
              <a:t>Obermeyer's famous case: a health algorithm used on millions looked fair on average but underserved Black patients, because it predicted cost as a stand-in for illness -- the wrong target. A model can score well and still be unfair. That is exactly the suspicion we carry into our own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Methods</a:t>
            </a:r>
          </a:p>
          <a:p>
            <a:r>
              <a:rPr b="0" sz="1100">
                <a:latin typeface="Geist"/>
              </a:rPr>
              <a:t>Here we explain what we actually did. The key move is that we reuse the screening group's exact model and change only the question we ask of it -- from 'how accurate?' to 'accurate for whom?'.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same model, a harder question</a:t>
            </a:r>
          </a:p>
          <a:p>
            <a:r>
              <a:rPr b="0" sz="1100">
                <a:latin typeface="Geist"/>
              </a:rPr>
              <a:t>We deliberately keep the screening group's model unchanged -- a ResNet18 with a fresh head sorting images into seven conditions -- so the only variable is the question. Same tool, harder question: not 'is it good?' but 'good for whom?'.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equity lens: break the average apart</a:t>
            </a:r>
          </a:p>
          <a:p>
            <a:r>
              <a:rPr b="0" sz="1100">
                <a:latin typeface="Geist"/>
              </a:rPr>
              <a:t>A single accuracy number is an average, and an average can let one strong group carry a failing one. The equity lens refuses the blend and splits the score apart. Here we split by condition, because that is the axis DermaMNIST actually labels.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Results</a:t>
            </a:r>
          </a:p>
          <a:p>
            <a:r>
              <a:rPr b="0" sz="1100">
                <a:latin typeface="Geist"/>
              </a:rPr>
              <a:t>Now we show what breaking the average apart reveals. Watch for the gap between the single headline number and the per-condition scores hiding beneath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headline number looks fine</a:t>
            </a:r>
          </a:p>
          <a:p>
            <a:r>
              <a:rPr b="0" sz="1100">
                <a:latin typeface="Geist"/>
              </a:rPr>
              <a:t>Overall the model scores about 68 percent -- unremarkable, the kind of number you would accept and move on. That is precisely the moment to stop and disaggregate. The next slide breaks this number apart by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Break it apart: a whole condition is failed</a:t>
            </a:r>
          </a:p>
          <a:p>
            <a:r>
              <a:rPr b="0" sz="1100">
                <a:latin typeface="Geist"/>
              </a:rPr>
              <a:t>Splitting the 68 percent by condition exposes a near-total failure the average was hiding: common moles are caught about 99 percent of the time and prop the number up, while several rarer conditions are caught almost never, some at zero. The headline was carried almost entirely by one dominant class.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Why: the model sees some conditions far more</a:t>
            </a:r>
          </a:p>
          <a:p>
            <a:r>
              <a:rPr b="0" sz="1100">
                <a:latin typeface="Geist"/>
              </a:rPr>
              <a:t>The cause is simple: one class has thousands of training images while the rare conditions have only dozens, and a model gets best at whatever it sees most. This is the same imbalance the literature describes for skin tone -- shown here along the condition axis DermaMNIST records.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blind spot we cannot measure</a:t>
            </a:r>
          </a:p>
          <a:p>
            <a:r>
              <a:rPr b="0" sz="1100">
                <a:latin typeface="Geist"/>
              </a:rPr>
              <a:t>The gap the literature worries about most is skin tone, but DermaMNIST ships no skin-tone labels -- only lesion type. So we can demonstrate the risk of a blind spot, not measure the real skin-tone gap. Saying that plainly is part of doing this honestly.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Being honest</a:t>
            </a:r>
          </a:p>
          <a:p>
            <a:r>
              <a:rPr b="0" sz="1100">
                <a:latin typeface="Geist"/>
              </a:rPr>
              <a:t>This closing section is about honesty: naming who the tool leaves out, and admitting what our dataset cannot tell us. Model the habit of stating limits out loud.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Who gets left out</a:t>
            </a:r>
          </a:p>
          <a:p>
            <a:r>
              <a:rPr b="0" sz="1100">
                <a:latin typeface="Geist"/>
              </a:rPr>
              <a:t>The cruel irony: the people the pitch was meant to help -- those with little access, often in underrepresented regions and skin types -- are the ones most likely missing from the training data. A tool that works worst where care is scarcest can widen the very gap it was sold to close.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References</a:t>
            </a:r>
          </a:p>
          <a:p>
            <a:r>
              <a:rPr b="0" sz="1100">
                <a:latin typeface="Geist"/>
              </a:rPr>
              <a:t>These seven papers anchor the equity lens, from the Fitzpatrick scale that names the skin-type groups, to the studies that measured the accuracy gaps, to Obermeyer's proxy-bias case. Point students here for the primary sources.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28016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Outset · AI in Healthcare · Day 3 · Group 4</a:t>
            </a:r>
          </a:p>
        </p:txBody>
      </p:sp>
      <p:sp>
        <p:nvSpPr>
          <p:cNvPr id="6" name="TextBox 5"/>
          <p:cNvSpPr txBox="1"/>
          <p:nvPr/>
        </p:nvSpPr>
        <p:spPr>
          <a:xfrm>
            <a:off x="1188720" y="1737360"/>
            <a:ext cx="10058400" cy="1828800"/>
          </a:xfrm>
          <a:prstGeom prst="rect">
            <a:avLst/>
          </a:prstGeom>
          <a:noFill/>
        </p:spPr>
        <p:txBody>
          <a:bodyPr wrap="square" anchor="t" lIns="0" rIns="0" tIns="0" bIns="0">
            <a:spAutoFit/>
          </a:bodyPr>
          <a:lstStyle/>
          <a:p>
            <a:pPr algn="l"/>
            <a:r>
              <a:rPr sz="4800" b="1" i="0">
                <a:solidFill>
                  <a:srgbClr val="FFFFFF"/>
                </a:solidFill>
                <a:latin typeface="Geist Mono"/>
              </a:rPr>
              <a:t>Good for whom?</a:t>
            </a:r>
          </a:p>
        </p:txBody>
      </p:sp>
      <p:sp>
        <p:nvSpPr>
          <p:cNvPr id="7" name="TextBox 6"/>
          <p:cNvSpPr txBox="1"/>
          <p:nvPr/>
        </p:nvSpPr>
        <p:spPr>
          <a:xfrm>
            <a:off x="1188720" y="3703320"/>
            <a:ext cx="10058400" cy="640080"/>
          </a:xfrm>
          <a:prstGeom prst="rect">
            <a:avLst/>
          </a:prstGeom>
          <a:noFill/>
        </p:spPr>
        <p:txBody>
          <a:bodyPr wrap="square" anchor="t" lIns="0" rIns="0" tIns="0" bIns="0">
            <a:spAutoFit/>
          </a:bodyPr>
          <a:lstStyle/>
          <a:p>
            <a:pPr algn="l"/>
            <a:r>
              <a:rPr sz="1800" b="0" i="0">
                <a:solidFill>
                  <a:srgbClr val="E5E5EA"/>
                </a:solidFill>
                <a:latin typeface="Geist"/>
              </a:rPr>
              <a:t>Skin-cancer AI, access, and who is missing from the training data</a:t>
            </a:r>
          </a:p>
        </p:txBody>
      </p:sp>
      <p:sp>
        <p:nvSpPr>
          <p:cNvPr id="8" name="TextBox 7"/>
          <p:cNvSpPr txBox="1"/>
          <p:nvPr/>
        </p:nvSpPr>
        <p:spPr>
          <a:xfrm>
            <a:off x="1188720" y="4480559"/>
            <a:ext cx="10058400" cy="365760"/>
          </a:xfrm>
          <a:prstGeom prst="rect">
            <a:avLst/>
          </a:prstGeom>
          <a:noFill/>
        </p:spPr>
        <p:txBody>
          <a:bodyPr wrap="square" anchor="t" lIns="0" rIns="0" tIns="0" bIns="0">
            <a:spAutoFit/>
          </a:bodyPr>
          <a:lstStyle/>
          <a:p>
            <a:pPr algn="l"/>
            <a:r>
              <a:rPr sz="2200" b="1" i="0">
                <a:solidFill>
                  <a:srgbClr val="40E0D0"/>
                </a:solidFill>
                <a:latin typeface="Geist Mono"/>
              </a:rPr>
              <a:t>Jinchi Wei</a:t>
            </a:r>
          </a:p>
        </p:txBody>
      </p:sp>
      <p:sp>
        <p:nvSpPr>
          <p:cNvPr id="9" name="TextBox 8"/>
          <p:cNvSpPr txBox="1"/>
          <p:nvPr/>
        </p:nvSpPr>
        <p:spPr>
          <a:xfrm>
            <a:off x="1188720" y="4937759"/>
            <a:ext cx="10058400" cy="320040"/>
          </a:xfrm>
          <a:prstGeom prst="rect">
            <a:avLst/>
          </a:prstGeom>
          <a:noFill/>
        </p:spPr>
        <p:txBody>
          <a:bodyPr wrap="square" anchor="t" lIns="0" rIns="0" tIns="0" bIns="0">
            <a:spAutoFit/>
          </a:bodyPr>
          <a:lstStyle/>
          <a:p>
            <a:pPr algn="l"/>
            <a:r>
              <a:rPr sz="1600" b="1" i="0">
                <a:solidFill>
                  <a:srgbClr val="FF1493"/>
                </a:solidFill>
                <a:latin typeface="Geist Mono"/>
              </a:rPr>
              <a:t>Outset</a:t>
            </a:r>
          </a:p>
        </p:txBody>
      </p:sp>
      <p:sp>
        <p:nvSpPr>
          <p:cNvPr id="10" name="Rectangle 9"/>
          <p:cNvSpPr/>
          <p:nvPr/>
        </p:nvSpPr>
        <p:spPr>
          <a:xfrm>
            <a:off x="1188720" y="5440679"/>
            <a:ext cx="3657600" cy="18288"/>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5577840"/>
            <a:ext cx="10058400" cy="274320"/>
          </a:xfrm>
          <a:prstGeom prst="rect">
            <a:avLst/>
          </a:prstGeom>
          <a:noFill/>
        </p:spPr>
        <p:txBody>
          <a:bodyPr wrap="square" anchor="t" lIns="0" rIns="0" tIns="0" bIns="0">
            <a:spAutoFit/>
          </a:bodyPr>
          <a:lstStyle/>
          <a:p>
            <a:pPr algn="l"/>
            <a:r>
              <a:rPr sz="1200" b="0" i="0">
                <a:solidFill>
                  <a:srgbClr val="F0C840"/>
                </a:solidFill>
                <a:latin typeface="Geist Mono"/>
              </a:rPr>
              <a:t>2026-07-08</a:t>
            </a:r>
          </a:p>
        </p:txBody>
      </p:sp>
      <p:pic>
        <p:nvPicPr>
          <p:cNvPr id="12" name="Picture 11" descr="ucsf-logo.png"/>
          <p:cNvPicPr>
            <a:picLocks noChangeAspect="1"/>
          </p:cNvPicPr>
          <p:nvPr/>
        </p:nvPicPr>
        <p:blipFill>
          <a:blip r:embed="rId2"/>
          <a:stretch>
            <a:fillRect/>
          </a:stretch>
        </p:blipFill>
        <p:spPr>
          <a:xfrm>
            <a:off x="9310379" y="5248656"/>
            <a:ext cx="1163329" cy="1152144"/>
          </a:xfrm>
          <a:prstGeom prst="rect">
            <a:avLst/>
          </a:prstGeom>
        </p:spPr>
      </p:pic>
      <p:pic>
        <p:nvPicPr>
          <p:cNvPr id="13" name="Picture 12" descr="cal-logo.png"/>
          <p:cNvPicPr>
            <a:picLocks noChangeAspect="1"/>
          </p:cNvPicPr>
          <p:nvPr/>
        </p:nvPicPr>
        <p:blipFill>
          <a:blip r:embed="rId3"/>
          <a:stretch>
            <a:fillRect/>
          </a:stretch>
        </p:blipFill>
        <p:spPr>
          <a:xfrm>
            <a:off x="10702308" y="5413248"/>
            <a:ext cx="1032187" cy="8229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Overview</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BACKGROUND</a:t>
            </a:r>
          </a:p>
        </p:txBody>
      </p:sp>
      <p:sp>
        <p:nvSpPr>
          <p:cNvPr id="7" name="Rectangle 6"/>
          <p:cNvSpPr/>
          <p:nvPr/>
        </p:nvSpPr>
        <p:spPr>
          <a:xfrm>
            <a:off x="777240" y="5120640"/>
            <a:ext cx="1828800" cy="182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Good for whom?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A promise, and a catch</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sp>
        <p:nvSpPr>
          <p:cNvPr id="7" name="Rectangle 6"/>
          <p:cNvSpPr/>
          <p:nvPr/>
        </p:nvSpPr>
        <p:spPr>
          <a:xfrm>
            <a:off x="484632" y="2093976"/>
            <a:ext cx="868680" cy="82296"/>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350008"/>
            <a:ext cx="10149840" cy="1097280"/>
          </a:xfrm>
          <a:prstGeom prst="rect">
            <a:avLst/>
          </a:prstGeom>
          <a:noFill/>
        </p:spPr>
        <p:txBody>
          <a:bodyPr wrap="square" anchor="t" lIns="0" rIns="0" tIns="0" bIns="0">
            <a:spAutoFit/>
          </a:bodyPr>
          <a:lstStyle/>
          <a:p>
            <a:pPr algn="l"/>
            <a:r>
              <a:rPr sz="3000" b="1" i="0">
                <a:solidFill>
                  <a:srgbClr val="14141C"/>
                </a:solidFill>
                <a:latin typeface="Geist Mono"/>
              </a:rPr>
              <a:t>A model only learns what it is shown.</a:t>
            </a:r>
          </a:p>
        </p:txBody>
      </p:sp>
      <p:sp>
        <p:nvSpPr>
          <p:cNvPr id="9" name="TextBox 8"/>
          <p:cNvSpPr txBox="1"/>
          <p:nvPr/>
        </p:nvSpPr>
        <p:spPr>
          <a:xfrm>
            <a:off x="484632" y="3319272"/>
            <a:ext cx="8869680" cy="1737360"/>
          </a:xfrm>
          <a:prstGeom prst="rect">
            <a:avLst/>
          </a:prstGeom>
          <a:noFill/>
        </p:spPr>
        <p:txBody>
          <a:bodyPr wrap="square" anchor="t" lIns="0" rIns="0" tIns="0" bIns="0">
            <a:spAutoFit/>
          </a:bodyPr>
          <a:lstStyle/>
          <a:p>
            <a:pPr algn="l"/>
            <a:r>
              <a:rPr sz="1900" b="0" i="0">
                <a:solidFill>
                  <a:srgbClr val="14141C"/>
                </a:solidFill>
                <a:latin typeface="Geist"/>
              </a:rPr>
              <a:t>Skin-cancer AI is pitched as a way to reach the roughly three billion people with little access to a dermatologist. That promise is real, and so is the catch: the images these models learn from are badly skewed toward light skin.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AI mostly practiced on light skin</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pic>
        <p:nvPicPr>
          <p:cNvPr id="7" name="Picture 6" descr="intro_dataset_skew.png"/>
          <p:cNvPicPr>
            <a:picLocks noChangeAspect="1"/>
          </p:cNvPicPr>
          <p:nvPr/>
        </p:nvPicPr>
        <p:blipFill>
          <a:blip r:embed="rId2"/>
          <a:stretch>
            <a:fillRect/>
          </a:stretch>
        </p:blipFill>
        <p:spPr>
          <a:xfrm>
            <a:off x="457200" y="1632187"/>
            <a:ext cx="6298387" cy="4005104"/>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22515" y="1389888"/>
            <a:ext cx="91440"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23683" y="1325880"/>
            <a:ext cx="4016044" cy="1426464"/>
          </a:xfrm>
          <a:prstGeom prst="rect">
            <a:avLst/>
          </a:prstGeom>
          <a:noFill/>
        </p:spPr>
        <p:txBody>
          <a:bodyPr wrap="square" anchor="t" lIns="0" rIns="0" tIns="0" bIns="0">
            <a:spAutoFit/>
          </a:bodyPr>
          <a:lstStyle/>
          <a:p>
            <a:pPr algn="l"/>
            <a:r>
              <a:rPr sz="1300" b="0" i="0">
                <a:solidFill>
                  <a:srgbClr val="14141C"/>
                </a:solidFill>
                <a:latin typeface="Geist"/>
              </a:rPr>
              <a:t>A review of twenty-one public skin datasets, over a hundred thousand images, found almost all came from Europe, North America, and Oceania, with almost none labeled as darker skin. On the Fitzpatrick scale the training data piles up on the left and nearly vanishes on the right.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Same model, one number hides who it fails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pic>
        <p:nvPicPr>
          <p:cNvPr id="7" name="Picture 6" descr="intro_accuracy_by_group.png"/>
          <p:cNvPicPr>
            <a:picLocks noChangeAspect="1"/>
          </p:cNvPicPr>
          <p:nvPr/>
        </p:nvPicPr>
        <p:blipFill>
          <a:blip r:embed="rId2"/>
          <a:stretch>
            <a:fillRect/>
          </a:stretch>
        </p:blipFill>
        <p:spPr>
          <a:xfrm>
            <a:off x="457200" y="1534504"/>
            <a:ext cx="6298387" cy="4200471"/>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22515" y="1389888"/>
            <a:ext cx="91440"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23683" y="1325880"/>
            <a:ext cx="4016044" cy="1426464"/>
          </a:xfrm>
          <a:prstGeom prst="rect">
            <a:avLst/>
          </a:prstGeom>
          <a:noFill/>
        </p:spPr>
        <p:txBody>
          <a:bodyPr wrap="square" anchor="t" lIns="0" rIns="0" tIns="0" bIns="0">
            <a:spAutoFit/>
          </a:bodyPr>
          <a:lstStyle/>
          <a:p>
            <a:pPr algn="l"/>
            <a:r>
              <a:rPr sz="1300" b="0" i="0">
                <a:solidFill>
                  <a:srgbClr val="14141C"/>
                </a:solidFill>
                <a:latin typeface="Geist"/>
              </a:rPr>
              <a:t>Groh showed a model is most accurate on the skin types it saw most; Daneshjou showed top models drop sharply on dark skin. Same model, very different results depending on who you are, and the single average number a report shows sits in between and hides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Accurate on average can still be unfair</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pic>
        <p:nvPicPr>
          <p:cNvPr id="7" name="Picture 6" descr="intro_proxy_gone_wrong.png"/>
          <p:cNvPicPr>
            <a:picLocks noChangeAspect="1"/>
          </p:cNvPicPr>
          <p:nvPr/>
        </p:nvPicPr>
        <p:blipFill>
          <a:blip r:embed="rId2"/>
          <a:stretch>
            <a:fillRect/>
          </a:stretch>
        </p:blipFill>
        <p:spPr>
          <a:xfrm>
            <a:off x="457200" y="2036103"/>
            <a:ext cx="6298387" cy="3197272"/>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22515" y="1389888"/>
            <a:ext cx="91440"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23683" y="1325880"/>
            <a:ext cx="4016044" cy="1426464"/>
          </a:xfrm>
          <a:prstGeom prst="rect">
            <a:avLst/>
          </a:prstGeom>
          <a:noFill/>
        </p:spPr>
        <p:txBody>
          <a:bodyPr wrap="square" anchor="t" lIns="0" rIns="0" tIns="0" bIns="0">
            <a:spAutoFit/>
          </a:bodyPr>
          <a:lstStyle/>
          <a:p>
            <a:pPr algn="l"/>
            <a:r>
              <a:rPr sz="1300" b="0" i="0">
                <a:solidFill>
                  <a:srgbClr val="14141C"/>
                </a:solidFill>
                <a:latin typeface="Geist"/>
              </a:rPr>
              <a:t>Obermeyer studied a health algorithm used on millions of patients that looked fair on paper but underserved Black patients, because it was trained to predict cost as a stand-in for illness. It scored well on the wrong target. That is the exact suspicion we bring to our own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F1493"/>
                </a:solidFill>
                <a:latin typeface="Geist Mono"/>
              </a:rPr>
              <a:t>Methodology</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METHODS</a:t>
            </a:r>
          </a:p>
        </p:txBody>
      </p:sp>
      <p:sp>
        <p:nvSpPr>
          <p:cNvPr id="7" name="Rectangle 6"/>
          <p:cNvSpPr/>
          <p:nvPr/>
        </p:nvSpPr>
        <p:spPr>
          <a:xfrm>
            <a:off x="777240" y="5120640"/>
            <a:ext cx="1828800" cy="18288"/>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Good for whom?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same model, a harder question</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sp>
        <p:nvSpPr>
          <p:cNvPr id="7" name="Rectangle 6"/>
          <p:cNvSpPr/>
          <p:nvPr/>
        </p:nvSpPr>
        <p:spPr>
          <a:xfrm>
            <a:off x="484632" y="2093976"/>
            <a:ext cx="868680" cy="82296"/>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350008"/>
            <a:ext cx="10149840" cy="1097280"/>
          </a:xfrm>
          <a:prstGeom prst="rect">
            <a:avLst/>
          </a:prstGeom>
          <a:noFill/>
        </p:spPr>
        <p:txBody>
          <a:bodyPr wrap="square" anchor="t" lIns="0" rIns="0" tIns="0" bIns="0">
            <a:spAutoFit/>
          </a:bodyPr>
          <a:lstStyle/>
          <a:p>
            <a:pPr algn="l"/>
            <a:r>
              <a:rPr sz="3000" b="1" i="0">
                <a:solidFill>
                  <a:srgbClr val="14141C"/>
                </a:solidFill>
                <a:latin typeface="Geist Mono"/>
              </a:rPr>
              <a:t>Change the question, not the model.</a:t>
            </a:r>
          </a:p>
        </p:txBody>
      </p:sp>
      <p:sp>
        <p:nvSpPr>
          <p:cNvPr id="9" name="TextBox 8"/>
          <p:cNvSpPr txBox="1"/>
          <p:nvPr/>
        </p:nvSpPr>
        <p:spPr>
          <a:xfrm>
            <a:off x="484632" y="3319272"/>
            <a:ext cx="8869680" cy="1737360"/>
          </a:xfrm>
          <a:prstGeom prst="rect">
            <a:avLst/>
          </a:prstGeom>
          <a:noFill/>
        </p:spPr>
        <p:txBody>
          <a:bodyPr wrap="square" anchor="t" lIns="0" rIns="0" tIns="0" bIns="0">
            <a:spAutoFit/>
          </a:bodyPr>
          <a:lstStyle/>
          <a:p>
            <a:pPr algn="l"/>
            <a:r>
              <a:rPr sz="1900" b="0" i="0">
                <a:solidFill>
                  <a:srgbClr val="14141C"/>
                </a:solidFill>
                <a:latin typeface="Geist"/>
              </a:rPr>
              <a:t>We reuse the screening group's exact DermaMNIST model -- a ResNet18 pretrained on ordinary photos, with a fresh head, sorting images into seven skin conditions. Same tool, harder question: not how good is it, but good for whom?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equity lens: break the average apart</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sp>
        <p:nvSpPr>
          <p:cNvPr id="7" name="Rectangle 6"/>
          <p:cNvSpPr/>
          <p:nvPr/>
        </p:nvSpPr>
        <p:spPr>
          <a:xfrm>
            <a:off x="484632" y="2093976"/>
            <a:ext cx="868680" cy="82296"/>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350008"/>
            <a:ext cx="10149840" cy="1097280"/>
          </a:xfrm>
          <a:prstGeom prst="rect">
            <a:avLst/>
          </a:prstGeom>
          <a:noFill/>
        </p:spPr>
        <p:txBody>
          <a:bodyPr wrap="square" anchor="t" lIns="0" rIns="0" tIns="0" bIns="0">
            <a:spAutoFit/>
          </a:bodyPr>
          <a:lstStyle/>
          <a:p>
            <a:pPr algn="l"/>
            <a:r>
              <a:rPr sz="3000" b="1" i="0">
                <a:solidFill>
                  <a:srgbClr val="14141C"/>
                </a:solidFill>
                <a:latin typeface="Geist Mono"/>
              </a:rPr>
              <a:t>Good for whom?</a:t>
            </a:r>
          </a:p>
        </p:txBody>
      </p:sp>
      <p:sp>
        <p:nvSpPr>
          <p:cNvPr id="9" name="TextBox 8"/>
          <p:cNvSpPr txBox="1"/>
          <p:nvPr/>
        </p:nvSpPr>
        <p:spPr>
          <a:xfrm>
            <a:off x="484632" y="3319272"/>
            <a:ext cx="8869680" cy="1737360"/>
          </a:xfrm>
          <a:prstGeom prst="rect">
            <a:avLst/>
          </a:prstGeom>
          <a:noFill/>
        </p:spPr>
        <p:txBody>
          <a:bodyPr wrap="square" anchor="t" lIns="0" rIns="0" tIns="0" bIns="0">
            <a:spAutoFit/>
          </a:bodyPr>
          <a:lstStyle/>
          <a:p>
            <a:pPr algn="l"/>
            <a:r>
              <a:rPr sz="1900" b="0" i="0">
                <a:solidFill>
                  <a:srgbClr val="14141C"/>
                </a:solidFill>
                <a:latin typeface="Geist"/>
              </a:rPr>
              <a:t>A single accuracy number is a blend, and a blend can hide that one group is being carried by another. The screening group asks how good the model is; we refuse to trust the average and split the score apart by condition.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0C840"/>
                </a:solidFill>
                <a:latin typeface="Geist Mono"/>
              </a:rPr>
              <a:t>Results</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RESULTS</a:t>
            </a:r>
          </a:p>
        </p:txBody>
      </p:sp>
      <p:sp>
        <p:nvSpPr>
          <p:cNvPr id="7" name="Rectangle 6"/>
          <p:cNvSpPr/>
          <p:nvPr/>
        </p:nvSpPr>
        <p:spPr>
          <a:xfrm>
            <a:off x="777240" y="5120640"/>
            <a:ext cx="1828800" cy="18288"/>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Good for whom?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headline number looks fine</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sp>
        <p:nvSpPr>
          <p:cNvPr id="7" name="TextBox 6"/>
          <p:cNvSpPr txBox="1"/>
          <p:nvPr/>
        </p:nvSpPr>
        <p:spPr>
          <a:xfrm>
            <a:off x="457200" y="1371600"/>
            <a:ext cx="5852160" cy="1737360"/>
          </a:xfrm>
          <a:prstGeom prst="rect">
            <a:avLst/>
          </a:prstGeom>
          <a:noFill/>
        </p:spPr>
        <p:txBody>
          <a:bodyPr wrap="square" anchor="t" lIns="0" rIns="0" tIns="0" bIns="0">
            <a:spAutoFit/>
          </a:bodyPr>
          <a:lstStyle/>
          <a:p>
            <a:pPr algn="l"/>
            <a:r>
              <a:rPr sz="12000" b="1" i="0">
                <a:solidFill>
                  <a:srgbClr val="14141C"/>
                </a:solidFill>
                <a:latin typeface="Geist Mono"/>
              </a:rPr>
              <a:t>68%</a:t>
            </a:r>
          </a:p>
        </p:txBody>
      </p:sp>
      <p:sp>
        <p:nvSpPr>
          <p:cNvPr id="8" name="TextBox 7"/>
          <p:cNvSpPr txBox="1"/>
          <p:nvPr/>
        </p:nvSpPr>
        <p:spPr>
          <a:xfrm>
            <a:off x="4937760" y="1874519"/>
            <a:ext cx="4937760" cy="457200"/>
          </a:xfrm>
          <a:prstGeom prst="rect">
            <a:avLst/>
          </a:prstGeom>
          <a:noFill/>
        </p:spPr>
        <p:txBody>
          <a:bodyPr wrap="square" anchor="t" lIns="0" rIns="0" tIns="0" bIns="0">
            <a:spAutoFit/>
          </a:bodyPr>
          <a:lstStyle/>
          <a:p>
            <a:pPr algn="l"/>
            <a:r>
              <a:rPr sz="2400" b="1" i="0">
                <a:solidFill>
                  <a:srgbClr val="14141C"/>
                </a:solidFill>
                <a:latin typeface="Geist Mono"/>
              </a:rPr>
              <a:t>overall accuracy</a:t>
            </a:r>
          </a:p>
        </p:txBody>
      </p:sp>
      <p:sp>
        <p:nvSpPr>
          <p:cNvPr id="9" name="TextBox 8"/>
          <p:cNvSpPr txBox="1"/>
          <p:nvPr/>
        </p:nvSpPr>
        <p:spPr>
          <a:xfrm>
            <a:off x="4937760" y="2359152"/>
            <a:ext cx="5852160" cy="457200"/>
          </a:xfrm>
          <a:prstGeom prst="rect">
            <a:avLst/>
          </a:prstGeom>
          <a:noFill/>
        </p:spPr>
        <p:txBody>
          <a:bodyPr wrap="square" anchor="t" lIns="0" rIns="0" tIns="0" bIns="0">
            <a:spAutoFit/>
          </a:bodyPr>
          <a:lstStyle/>
          <a:p>
            <a:pPr algn="l"/>
            <a:r>
              <a:rPr sz="1500" b="0" i="0">
                <a:solidFill>
                  <a:srgbClr val="555560"/>
                </a:solidFill>
                <a:latin typeface="Geist"/>
              </a:rPr>
              <a:t>across all seven conditions, blended into one number</a:t>
            </a:r>
          </a:p>
        </p:txBody>
      </p:sp>
      <p:sp>
        <p:nvSpPr>
          <p:cNvPr id="10" name="Rectangle 9"/>
          <p:cNvSpPr/>
          <p:nvPr/>
        </p:nvSpPr>
        <p:spPr>
          <a:xfrm>
            <a:off x="502920" y="3246120"/>
            <a:ext cx="2560320" cy="9144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520440"/>
            <a:ext cx="8961120" cy="1463040"/>
          </a:xfrm>
          <a:prstGeom prst="rect">
            <a:avLst/>
          </a:prstGeom>
          <a:noFill/>
        </p:spPr>
        <p:txBody>
          <a:bodyPr wrap="square" anchor="t" lIns="0" rIns="0" tIns="0" bIns="0">
            <a:spAutoFit/>
          </a:bodyPr>
          <a:lstStyle/>
          <a:p>
            <a:pPr algn="l"/>
            <a:r>
              <a:rPr sz="1900" b="0" i="0">
                <a:solidFill>
                  <a:srgbClr val="14141C"/>
                </a:solidFill>
                <a:latin typeface="Geist"/>
              </a:rPr>
              <a:t>Not amazing, not embarrassing -- the kind of number you would quietly accept and move on. This is exactly the moment the equity lens says: stop, and break it apart.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Break it apart: a whole condition is failed</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pic>
        <p:nvPicPr>
          <p:cNvPr id="7" name="Picture 6" descr="equity_per_class.png"/>
          <p:cNvPicPr>
            <a:picLocks noChangeAspect="1"/>
          </p:cNvPicPr>
          <p:nvPr/>
        </p:nvPicPr>
        <p:blipFill>
          <a:blip r:embed="rId2"/>
          <a:stretch>
            <a:fillRect/>
          </a:stretch>
        </p:blipFill>
        <p:spPr>
          <a:xfrm>
            <a:off x="457200" y="1752404"/>
            <a:ext cx="6298387" cy="3764671"/>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22515" y="1389888"/>
            <a:ext cx="91440" cy="9144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23683" y="1325880"/>
            <a:ext cx="4016044" cy="649224"/>
          </a:xfrm>
          <a:prstGeom prst="rect">
            <a:avLst/>
          </a:prstGeom>
          <a:noFill/>
        </p:spPr>
        <p:txBody>
          <a:bodyPr wrap="square" anchor="t" lIns="0" rIns="0" tIns="0" bIns="0">
            <a:spAutoFit/>
          </a:bodyPr>
          <a:lstStyle/>
          <a:p>
            <a:pPr algn="l"/>
            <a:r>
              <a:rPr sz="1300" b="0" i="0">
                <a:solidFill>
                  <a:srgbClr val="14141C"/>
                </a:solidFill>
                <a:latin typeface="Geist"/>
              </a:rPr>
              <a:t>Splitting the same score by condition, the average was hiding a near-total failure</a:t>
            </a:r>
          </a:p>
        </p:txBody>
      </p:sp>
      <p:sp>
        <p:nvSpPr>
          <p:cNvPr id="12" name="Rectangle 11"/>
          <p:cNvSpPr/>
          <p:nvPr/>
        </p:nvSpPr>
        <p:spPr>
          <a:xfrm>
            <a:off x="7322515" y="2167128"/>
            <a:ext cx="91440" cy="9144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23683" y="2103120"/>
            <a:ext cx="4016044" cy="1042415"/>
          </a:xfrm>
          <a:prstGeom prst="rect">
            <a:avLst/>
          </a:prstGeom>
          <a:noFill/>
        </p:spPr>
        <p:txBody>
          <a:bodyPr wrap="square" anchor="t" lIns="0" rIns="0" tIns="0" bIns="0">
            <a:spAutoFit/>
          </a:bodyPr>
          <a:lstStyle/>
          <a:p>
            <a:pPr algn="l"/>
            <a:r>
              <a:rPr sz="1300" b="0" i="0">
                <a:solidFill>
                  <a:srgbClr val="14141C"/>
                </a:solidFill>
                <a:latin typeface="Geist"/>
              </a:rPr>
              <a:t>Ordinary moles, the giant class, are caught almost perfectly at ninety-nine percent and prop the average up. Several rarer conditions are caught almost never, some flat at zero.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Why: the model sees some conditions far more</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pic>
        <p:nvPicPr>
          <p:cNvPr id="7" name="Picture 6" descr="train_imbalance.png"/>
          <p:cNvPicPr>
            <a:picLocks noChangeAspect="1"/>
          </p:cNvPicPr>
          <p:nvPr/>
        </p:nvPicPr>
        <p:blipFill>
          <a:blip r:embed="rId2"/>
          <a:stretch>
            <a:fillRect/>
          </a:stretch>
        </p:blipFill>
        <p:spPr>
          <a:xfrm>
            <a:off x="457200" y="1827462"/>
            <a:ext cx="6298387" cy="3614555"/>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22515" y="1389888"/>
            <a:ext cx="91440" cy="9144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23683" y="1325880"/>
            <a:ext cx="4016044" cy="256032"/>
          </a:xfrm>
          <a:prstGeom prst="rect">
            <a:avLst/>
          </a:prstGeom>
          <a:noFill/>
        </p:spPr>
        <p:txBody>
          <a:bodyPr wrap="square" anchor="t" lIns="0" rIns="0" tIns="0" bIns="0">
            <a:spAutoFit/>
          </a:bodyPr>
          <a:lstStyle/>
          <a:p>
            <a:pPr algn="l"/>
            <a:r>
              <a:rPr sz="1300" b="0" i="0">
                <a:solidFill>
                  <a:srgbClr val="14141C"/>
                </a:solidFill>
                <a:latin typeface="Geist"/>
              </a:rPr>
              <a:t>The gap is not mysterious</a:t>
            </a:r>
          </a:p>
        </p:txBody>
      </p:sp>
      <p:sp>
        <p:nvSpPr>
          <p:cNvPr id="12" name="Rectangle 11"/>
          <p:cNvSpPr/>
          <p:nvPr/>
        </p:nvSpPr>
        <p:spPr>
          <a:xfrm>
            <a:off x="7322515" y="1773936"/>
            <a:ext cx="91440" cy="9144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23683" y="1709928"/>
            <a:ext cx="4016044" cy="1234440"/>
          </a:xfrm>
          <a:prstGeom prst="rect">
            <a:avLst/>
          </a:prstGeom>
          <a:noFill/>
        </p:spPr>
        <p:txBody>
          <a:bodyPr wrap="square" anchor="t" lIns="0" rIns="0" tIns="0" bIns="0">
            <a:spAutoFit/>
          </a:bodyPr>
          <a:lstStyle/>
          <a:p>
            <a:pPr algn="l"/>
            <a:r>
              <a:rPr sz="1300" b="0" i="0">
                <a:solidFill>
                  <a:srgbClr val="14141C"/>
                </a:solidFill>
                <a:latin typeface="Geist"/>
              </a:rPr>
              <a:t>One class has thousands of training images and the rare conditions have only dozens. Whatever the model sees most, it gets best at. This is the same skew the literature describes for skin tone, along the axis DermaMNIST actually labels.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blind spot we cannot measure</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pic>
        <p:nvPicPr>
          <p:cNvPr id="7" name="Picture 6" descr="skin_tone_gap.png"/>
          <p:cNvPicPr>
            <a:picLocks noChangeAspect="1"/>
          </p:cNvPicPr>
          <p:nvPr/>
        </p:nvPicPr>
        <p:blipFill>
          <a:blip r:embed="rId2"/>
          <a:stretch>
            <a:fillRect/>
          </a:stretch>
        </p:blipFill>
        <p:spPr>
          <a:xfrm>
            <a:off x="457200" y="1762406"/>
            <a:ext cx="6298387" cy="3744666"/>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22515" y="1389888"/>
            <a:ext cx="91440" cy="9144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23683" y="1325880"/>
            <a:ext cx="4016044" cy="1627632"/>
          </a:xfrm>
          <a:prstGeom prst="rect">
            <a:avLst/>
          </a:prstGeom>
          <a:noFill/>
        </p:spPr>
        <p:txBody>
          <a:bodyPr wrap="square" anchor="t" lIns="0" rIns="0" tIns="0" bIns="0">
            <a:spAutoFit/>
          </a:bodyPr>
          <a:lstStyle/>
          <a:p>
            <a:pPr algn="l"/>
            <a:r>
              <a:rPr sz="1300" b="0" i="0">
                <a:solidFill>
                  <a:srgbClr val="14141C"/>
                </a:solidFill>
                <a:latin typeface="Geist"/>
              </a:rPr>
              <a:t>The gap the literature warns about most is along skin tone, and DermaMNIST ships no skin-tone labels. It records the lesion type and nothing about the patient. So we cannot check the real skin-tone gap here. We can demonstrate the risk of a blind spot, not measure it, and saying so is part of doing this honestly.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8A2BE2"/>
                </a:solidFill>
                <a:latin typeface="Geist Mono"/>
              </a:rPr>
              <a:t>Validation</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BEING HONEST</a:t>
            </a:r>
          </a:p>
        </p:txBody>
      </p:sp>
      <p:sp>
        <p:nvSpPr>
          <p:cNvPr id="7" name="Rectangle 6"/>
          <p:cNvSpPr/>
          <p:nvPr/>
        </p:nvSpPr>
        <p:spPr>
          <a:xfrm>
            <a:off x="777240" y="5120640"/>
            <a:ext cx="1828800" cy="1828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Good for whom?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Who gets left out</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sp>
        <p:nvSpPr>
          <p:cNvPr id="7" name="Rectangle 6"/>
          <p:cNvSpPr/>
          <p:nvPr/>
        </p:nvSpPr>
        <p:spPr>
          <a:xfrm>
            <a:off x="484632" y="2093976"/>
            <a:ext cx="868680" cy="82296"/>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350008"/>
            <a:ext cx="10149840" cy="1097280"/>
          </a:xfrm>
          <a:prstGeom prst="rect">
            <a:avLst/>
          </a:prstGeom>
          <a:noFill/>
        </p:spPr>
        <p:txBody>
          <a:bodyPr wrap="square" anchor="t" lIns="0" rIns="0" tIns="0" bIns="0">
            <a:spAutoFit/>
          </a:bodyPr>
          <a:lstStyle/>
          <a:p>
            <a:pPr algn="l"/>
            <a:r>
              <a:rPr sz="3000" b="1" i="0">
                <a:solidFill>
                  <a:srgbClr val="14141C"/>
                </a:solidFill>
                <a:latin typeface="Geist Mono"/>
              </a:rPr>
              <a:t>Worst where care is scarcest.</a:t>
            </a:r>
          </a:p>
        </p:txBody>
      </p:sp>
      <p:sp>
        <p:nvSpPr>
          <p:cNvPr id="9" name="TextBox 8"/>
          <p:cNvSpPr txBox="1"/>
          <p:nvPr/>
        </p:nvSpPr>
        <p:spPr>
          <a:xfrm>
            <a:off x="484632" y="3319272"/>
            <a:ext cx="8869680" cy="1737360"/>
          </a:xfrm>
          <a:prstGeom prst="rect">
            <a:avLst/>
          </a:prstGeom>
          <a:noFill/>
        </p:spPr>
        <p:txBody>
          <a:bodyPr wrap="square" anchor="t" lIns="0" rIns="0" tIns="0" bIns="0">
            <a:spAutoFit/>
          </a:bodyPr>
          <a:lstStyle/>
          <a:p>
            <a:pPr algn="l"/>
            <a:r>
              <a:rPr sz="1900" b="0" i="0">
                <a:solidFill>
                  <a:srgbClr val="14141C"/>
                </a:solidFill>
                <a:latin typeface="Geist"/>
              </a:rPr>
              <a:t>The people the pitch was meant to help most are the ones most likely missing from the data -- disproportionately in regions and skin types barely present in training sets. A tool that is worst where care is scarcest can widen the gap it was sold to close.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References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sp>
        <p:nvSpPr>
          <p:cNvPr id="7" name="Rectangle 6"/>
          <p:cNvSpPr/>
          <p:nvPr/>
        </p:nvSpPr>
        <p:spPr>
          <a:xfrm>
            <a:off x="457200" y="1161288"/>
            <a:ext cx="292608" cy="29260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152144"/>
            <a:ext cx="292608" cy="292608"/>
          </a:xfrm>
          <a:prstGeom prst="rect">
            <a:avLst/>
          </a:prstGeom>
          <a:noFill/>
        </p:spPr>
        <p:txBody>
          <a:bodyPr wrap="square" anchor="t" lIns="0" rIns="0" tIns="0" bIns="0">
            <a:spAutoFit/>
          </a:bodyPr>
          <a:lstStyle/>
          <a:p>
            <a:pPr algn="ctr"/>
            <a:r>
              <a:rPr sz="1500" b="1" i="0">
                <a:solidFill>
                  <a:srgbClr val="FFFFFF"/>
                </a:solidFill>
                <a:latin typeface="Geist Mono"/>
              </a:rPr>
              <a:t>1</a:t>
            </a:r>
          </a:p>
        </p:txBody>
      </p:sp>
      <p:sp>
        <p:nvSpPr>
          <p:cNvPr id="9" name="TextBox 8"/>
          <p:cNvSpPr txBox="1"/>
          <p:nvPr/>
        </p:nvSpPr>
        <p:spPr>
          <a:xfrm>
            <a:off x="877824" y="1143000"/>
            <a:ext cx="4928616" cy="310896"/>
          </a:xfrm>
          <a:prstGeom prst="rect">
            <a:avLst/>
          </a:prstGeom>
          <a:noFill/>
        </p:spPr>
        <p:txBody>
          <a:bodyPr wrap="square" anchor="t" lIns="0" rIns="0" tIns="0" bIns="0">
            <a:spAutoFit/>
          </a:bodyPr>
          <a:lstStyle/>
          <a:p>
            <a:pPr algn="l"/>
            <a:r>
              <a:rPr sz="1500" b="1" i="0">
                <a:solidFill>
                  <a:srgbClr val="14141C"/>
                </a:solidFill>
                <a:latin typeface="Geist Mono"/>
              </a:rPr>
              <a:t>Fitzpatrick 1988</a:t>
            </a:r>
          </a:p>
        </p:txBody>
      </p:sp>
      <p:sp>
        <p:nvSpPr>
          <p:cNvPr id="10" name="TextBox 9"/>
          <p:cNvSpPr txBox="1"/>
          <p:nvPr/>
        </p:nvSpPr>
        <p:spPr>
          <a:xfrm>
            <a:off x="877824" y="1472184"/>
            <a:ext cx="4928616" cy="777240"/>
          </a:xfrm>
          <a:prstGeom prst="rect">
            <a:avLst/>
          </a:prstGeom>
          <a:noFill/>
        </p:spPr>
        <p:txBody>
          <a:bodyPr wrap="square" anchor="t" lIns="0" rIns="0" tIns="0" bIns="0">
            <a:spAutoFit/>
          </a:bodyPr>
          <a:lstStyle/>
          <a:p>
            <a:pPr algn="l"/>
            <a:r>
              <a:rPr sz="1200" b="0" i="0">
                <a:solidFill>
                  <a:srgbClr val="555560"/>
                </a:solidFill>
                <a:latin typeface="Geist"/>
              </a:rPr>
              <a:t>The six-point skin-type scale (I-VI) dermatology AI now uses to describe who is in a dataset.</a:t>
            </a:r>
          </a:p>
        </p:txBody>
      </p:sp>
      <p:sp>
        <p:nvSpPr>
          <p:cNvPr id="11" name="Rectangle 10"/>
          <p:cNvSpPr/>
          <p:nvPr/>
        </p:nvSpPr>
        <p:spPr>
          <a:xfrm>
            <a:off x="457200" y="2350008"/>
            <a:ext cx="292608" cy="29260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340864"/>
            <a:ext cx="292608" cy="292608"/>
          </a:xfrm>
          <a:prstGeom prst="rect">
            <a:avLst/>
          </a:prstGeom>
          <a:noFill/>
        </p:spPr>
        <p:txBody>
          <a:bodyPr wrap="square" anchor="t" lIns="0" rIns="0" tIns="0" bIns="0">
            <a:spAutoFit/>
          </a:bodyPr>
          <a:lstStyle/>
          <a:p>
            <a:pPr algn="ctr"/>
            <a:r>
              <a:rPr sz="1500" b="1" i="0">
                <a:solidFill>
                  <a:srgbClr val="FFFFFF"/>
                </a:solidFill>
                <a:latin typeface="Geist Mono"/>
              </a:rPr>
              <a:t>2</a:t>
            </a:r>
          </a:p>
        </p:txBody>
      </p:sp>
      <p:sp>
        <p:nvSpPr>
          <p:cNvPr id="13" name="TextBox 12"/>
          <p:cNvSpPr txBox="1"/>
          <p:nvPr/>
        </p:nvSpPr>
        <p:spPr>
          <a:xfrm>
            <a:off x="877824" y="2331720"/>
            <a:ext cx="4928616" cy="310896"/>
          </a:xfrm>
          <a:prstGeom prst="rect">
            <a:avLst/>
          </a:prstGeom>
          <a:noFill/>
        </p:spPr>
        <p:txBody>
          <a:bodyPr wrap="square" anchor="t" lIns="0" rIns="0" tIns="0" bIns="0">
            <a:spAutoFit/>
          </a:bodyPr>
          <a:lstStyle/>
          <a:p>
            <a:pPr algn="l"/>
            <a:r>
              <a:rPr sz="1500" b="1" i="0">
                <a:solidFill>
                  <a:srgbClr val="14141C"/>
                </a:solidFill>
                <a:latin typeface="Geist Mono"/>
              </a:rPr>
              <a:t>Groh et al. 2021</a:t>
            </a:r>
          </a:p>
        </p:txBody>
      </p:sp>
      <p:sp>
        <p:nvSpPr>
          <p:cNvPr id="14" name="TextBox 13"/>
          <p:cNvSpPr txBox="1"/>
          <p:nvPr/>
        </p:nvSpPr>
        <p:spPr>
          <a:xfrm>
            <a:off x="877824" y="2660904"/>
            <a:ext cx="4928616" cy="777240"/>
          </a:xfrm>
          <a:prstGeom prst="rect">
            <a:avLst/>
          </a:prstGeom>
          <a:noFill/>
        </p:spPr>
        <p:txBody>
          <a:bodyPr wrap="square" anchor="t" lIns="0" rIns="0" tIns="0" bIns="0">
            <a:spAutoFit/>
          </a:bodyPr>
          <a:lstStyle/>
          <a:p>
            <a:pPr algn="l"/>
            <a:r>
              <a:rPr sz="1200" b="0" i="0">
                <a:solidFill>
                  <a:srgbClr val="555560"/>
                </a:solidFill>
                <a:latin typeface="Geist"/>
              </a:rPr>
              <a:t>Fitzpatrick 17k: a model is most accurate on the skin types it saw most during training.</a:t>
            </a:r>
          </a:p>
        </p:txBody>
      </p:sp>
      <p:sp>
        <p:nvSpPr>
          <p:cNvPr id="15" name="Rectangle 14"/>
          <p:cNvSpPr/>
          <p:nvPr/>
        </p:nvSpPr>
        <p:spPr>
          <a:xfrm>
            <a:off x="457200" y="3538728"/>
            <a:ext cx="292608" cy="29260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529584"/>
            <a:ext cx="292608" cy="292608"/>
          </a:xfrm>
          <a:prstGeom prst="rect">
            <a:avLst/>
          </a:prstGeom>
          <a:noFill/>
        </p:spPr>
        <p:txBody>
          <a:bodyPr wrap="square" anchor="t" lIns="0" rIns="0" tIns="0" bIns="0">
            <a:spAutoFit/>
          </a:bodyPr>
          <a:lstStyle/>
          <a:p>
            <a:pPr algn="ctr"/>
            <a:r>
              <a:rPr sz="1500" b="1" i="0">
                <a:solidFill>
                  <a:srgbClr val="FFFFFF"/>
                </a:solidFill>
                <a:latin typeface="Geist Mono"/>
              </a:rPr>
              <a:t>3</a:t>
            </a:r>
          </a:p>
        </p:txBody>
      </p:sp>
      <p:sp>
        <p:nvSpPr>
          <p:cNvPr id="17" name="TextBox 16"/>
          <p:cNvSpPr txBox="1"/>
          <p:nvPr/>
        </p:nvSpPr>
        <p:spPr>
          <a:xfrm>
            <a:off x="877824" y="3520440"/>
            <a:ext cx="4928616" cy="310896"/>
          </a:xfrm>
          <a:prstGeom prst="rect">
            <a:avLst/>
          </a:prstGeom>
          <a:noFill/>
        </p:spPr>
        <p:txBody>
          <a:bodyPr wrap="square" anchor="t" lIns="0" rIns="0" tIns="0" bIns="0">
            <a:spAutoFit/>
          </a:bodyPr>
          <a:lstStyle/>
          <a:p>
            <a:pPr algn="l"/>
            <a:r>
              <a:rPr sz="1500" b="1" i="0">
                <a:solidFill>
                  <a:srgbClr val="14141C"/>
                </a:solidFill>
                <a:latin typeface="Geist Mono"/>
              </a:rPr>
              <a:t>Daneshjou et al. 2022</a:t>
            </a:r>
          </a:p>
        </p:txBody>
      </p:sp>
      <p:sp>
        <p:nvSpPr>
          <p:cNvPr id="18" name="TextBox 17"/>
          <p:cNvSpPr txBox="1"/>
          <p:nvPr/>
        </p:nvSpPr>
        <p:spPr>
          <a:xfrm>
            <a:off x="877824" y="3849624"/>
            <a:ext cx="4928616" cy="777240"/>
          </a:xfrm>
          <a:prstGeom prst="rect">
            <a:avLst/>
          </a:prstGeom>
          <a:noFill/>
        </p:spPr>
        <p:txBody>
          <a:bodyPr wrap="square" anchor="t" lIns="0" rIns="0" tIns="0" bIns="0">
            <a:spAutoFit/>
          </a:bodyPr>
          <a:lstStyle/>
          <a:p>
            <a:pPr algn="l"/>
            <a:r>
              <a:rPr sz="1200" b="0" i="0">
                <a:solidFill>
                  <a:srgbClr val="555560"/>
                </a:solidFill>
                <a:latin typeface="Geist"/>
              </a:rPr>
              <a:t>Diverse Dermatology Images: state-of-the-art models drop sharply on dark skin tones.</a:t>
            </a:r>
          </a:p>
        </p:txBody>
      </p:sp>
      <p:sp>
        <p:nvSpPr>
          <p:cNvPr id="19" name="Rectangle 18"/>
          <p:cNvSpPr/>
          <p:nvPr/>
        </p:nvSpPr>
        <p:spPr>
          <a:xfrm>
            <a:off x="457200" y="4727448"/>
            <a:ext cx="292608" cy="29260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718304"/>
            <a:ext cx="292608" cy="292608"/>
          </a:xfrm>
          <a:prstGeom prst="rect">
            <a:avLst/>
          </a:prstGeom>
          <a:noFill/>
        </p:spPr>
        <p:txBody>
          <a:bodyPr wrap="square" anchor="t" lIns="0" rIns="0" tIns="0" bIns="0">
            <a:spAutoFit/>
          </a:bodyPr>
          <a:lstStyle/>
          <a:p>
            <a:pPr algn="ctr"/>
            <a:r>
              <a:rPr sz="1500" b="1" i="0">
                <a:solidFill>
                  <a:srgbClr val="FFFFFF"/>
                </a:solidFill>
                <a:latin typeface="Geist Mono"/>
              </a:rPr>
              <a:t>4</a:t>
            </a:r>
          </a:p>
        </p:txBody>
      </p:sp>
      <p:sp>
        <p:nvSpPr>
          <p:cNvPr id="21" name="TextBox 20"/>
          <p:cNvSpPr txBox="1"/>
          <p:nvPr/>
        </p:nvSpPr>
        <p:spPr>
          <a:xfrm>
            <a:off x="877824" y="4709160"/>
            <a:ext cx="4928616" cy="310896"/>
          </a:xfrm>
          <a:prstGeom prst="rect">
            <a:avLst/>
          </a:prstGeom>
          <a:noFill/>
        </p:spPr>
        <p:txBody>
          <a:bodyPr wrap="square" anchor="t" lIns="0" rIns="0" tIns="0" bIns="0">
            <a:spAutoFit/>
          </a:bodyPr>
          <a:lstStyle/>
          <a:p>
            <a:pPr algn="l"/>
            <a:r>
              <a:rPr sz="1500" b="1" i="0">
                <a:solidFill>
                  <a:srgbClr val="14141C"/>
                </a:solidFill>
                <a:latin typeface="Geist Mono"/>
              </a:rPr>
              <a:t>Obermeyer et al. 2019</a:t>
            </a:r>
          </a:p>
        </p:txBody>
      </p:sp>
      <p:sp>
        <p:nvSpPr>
          <p:cNvPr id="22" name="TextBox 21"/>
          <p:cNvSpPr txBox="1"/>
          <p:nvPr/>
        </p:nvSpPr>
        <p:spPr>
          <a:xfrm>
            <a:off x="877824" y="5038344"/>
            <a:ext cx="4928616" cy="777240"/>
          </a:xfrm>
          <a:prstGeom prst="rect">
            <a:avLst/>
          </a:prstGeom>
          <a:noFill/>
        </p:spPr>
        <p:txBody>
          <a:bodyPr wrap="square" anchor="t" lIns="0" rIns="0" tIns="0" bIns="0">
            <a:spAutoFit/>
          </a:bodyPr>
          <a:lstStyle/>
          <a:p>
            <a:pPr algn="l"/>
            <a:r>
              <a:rPr sz="1200" b="0" i="0">
                <a:solidFill>
                  <a:srgbClr val="555560"/>
                </a:solidFill>
                <a:latin typeface="Geist"/>
              </a:rPr>
              <a:t>A health algorithm underserved Black patients by predicting cost instead of illness.</a:t>
            </a:r>
          </a:p>
        </p:txBody>
      </p:sp>
      <p:sp>
        <p:nvSpPr>
          <p:cNvPr id="23" name="Rectangle 22"/>
          <p:cNvSpPr/>
          <p:nvPr/>
        </p:nvSpPr>
        <p:spPr>
          <a:xfrm>
            <a:off x="6355080" y="1161288"/>
            <a:ext cx="292608" cy="29260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5080" y="1152144"/>
            <a:ext cx="292608" cy="292608"/>
          </a:xfrm>
          <a:prstGeom prst="rect">
            <a:avLst/>
          </a:prstGeom>
          <a:noFill/>
        </p:spPr>
        <p:txBody>
          <a:bodyPr wrap="square" anchor="t" lIns="0" rIns="0" tIns="0" bIns="0">
            <a:spAutoFit/>
          </a:bodyPr>
          <a:lstStyle/>
          <a:p>
            <a:pPr algn="ctr"/>
            <a:r>
              <a:rPr sz="1500" b="1" i="0">
                <a:solidFill>
                  <a:srgbClr val="FFFFFF"/>
                </a:solidFill>
                <a:latin typeface="Geist Mono"/>
              </a:rPr>
              <a:t>5</a:t>
            </a:r>
          </a:p>
        </p:txBody>
      </p:sp>
      <p:sp>
        <p:nvSpPr>
          <p:cNvPr id="25" name="TextBox 24"/>
          <p:cNvSpPr txBox="1"/>
          <p:nvPr/>
        </p:nvSpPr>
        <p:spPr>
          <a:xfrm>
            <a:off x="6775704" y="1143000"/>
            <a:ext cx="4928616" cy="310896"/>
          </a:xfrm>
          <a:prstGeom prst="rect">
            <a:avLst/>
          </a:prstGeom>
          <a:noFill/>
        </p:spPr>
        <p:txBody>
          <a:bodyPr wrap="square" anchor="t" lIns="0" rIns="0" tIns="0" bIns="0">
            <a:spAutoFit/>
          </a:bodyPr>
          <a:lstStyle/>
          <a:p>
            <a:pPr algn="l"/>
            <a:r>
              <a:rPr sz="1500" b="1" i="0">
                <a:solidFill>
                  <a:srgbClr val="14141C"/>
                </a:solidFill>
                <a:latin typeface="Geist Mono"/>
              </a:rPr>
              <a:t>Wen et al. 2022</a:t>
            </a:r>
          </a:p>
        </p:txBody>
      </p:sp>
      <p:sp>
        <p:nvSpPr>
          <p:cNvPr id="26" name="TextBox 25"/>
          <p:cNvSpPr txBox="1"/>
          <p:nvPr/>
        </p:nvSpPr>
        <p:spPr>
          <a:xfrm>
            <a:off x="6775704" y="1472184"/>
            <a:ext cx="4928616" cy="777240"/>
          </a:xfrm>
          <a:prstGeom prst="rect">
            <a:avLst/>
          </a:prstGeom>
          <a:noFill/>
        </p:spPr>
        <p:txBody>
          <a:bodyPr wrap="square" anchor="t" lIns="0" rIns="0" tIns="0" bIns="0">
            <a:spAutoFit/>
          </a:bodyPr>
          <a:lstStyle/>
          <a:p>
            <a:pPr algn="l"/>
            <a:r>
              <a:rPr sz="1200" b="0" i="0">
                <a:solidFill>
                  <a:srgbClr val="555560"/>
                </a:solidFill>
                <a:latin typeface="Geist"/>
              </a:rPr>
              <a:t>Review of 21 public skin datasets (106,950 images): almost all are light-skinned.</a:t>
            </a:r>
          </a:p>
        </p:txBody>
      </p:sp>
      <p:sp>
        <p:nvSpPr>
          <p:cNvPr id="27" name="Rectangle 26"/>
          <p:cNvSpPr/>
          <p:nvPr/>
        </p:nvSpPr>
        <p:spPr>
          <a:xfrm>
            <a:off x="6355080" y="2350008"/>
            <a:ext cx="292608" cy="29260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5080" y="2340864"/>
            <a:ext cx="292608" cy="292608"/>
          </a:xfrm>
          <a:prstGeom prst="rect">
            <a:avLst/>
          </a:prstGeom>
          <a:noFill/>
        </p:spPr>
        <p:txBody>
          <a:bodyPr wrap="square" anchor="t" lIns="0" rIns="0" tIns="0" bIns="0">
            <a:spAutoFit/>
          </a:bodyPr>
          <a:lstStyle/>
          <a:p>
            <a:pPr algn="ctr"/>
            <a:r>
              <a:rPr sz="1500" b="1" i="0">
                <a:solidFill>
                  <a:srgbClr val="FFFFFF"/>
                </a:solidFill>
                <a:latin typeface="Geist Mono"/>
              </a:rPr>
              <a:t>6</a:t>
            </a:r>
          </a:p>
        </p:txBody>
      </p:sp>
      <p:sp>
        <p:nvSpPr>
          <p:cNvPr id="29" name="TextBox 28"/>
          <p:cNvSpPr txBox="1"/>
          <p:nvPr/>
        </p:nvSpPr>
        <p:spPr>
          <a:xfrm>
            <a:off x="6775704" y="2331720"/>
            <a:ext cx="4928616" cy="310896"/>
          </a:xfrm>
          <a:prstGeom prst="rect">
            <a:avLst/>
          </a:prstGeom>
          <a:noFill/>
        </p:spPr>
        <p:txBody>
          <a:bodyPr wrap="square" anchor="t" lIns="0" rIns="0" tIns="0" bIns="0">
            <a:spAutoFit/>
          </a:bodyPr>
          <a:lstStyle/>
          <a:p>
            <a:pPr algn="l"/>
            <a:r>
              <a:rPr sz="1500" b="1" i="0">
                <a:solidFill>
                  <a:srgbClr val="14141C"/>
                </a:solidFill>
                <a:latin typeface="Geist Mono"/>
              </a:rPr>
              <a:t>Adamson &amp; Smith 2018</a:t>
            </a:r>
          </a:p>
        </p:txBody>
      </p:sp>
      <p:sp>
        <p:nvSpPr>
          <p:cNvPr id="30" name="TextBox 29"/>
          <p:cNvSpPr txBox="1"/>
          <p:nvPr/>
        </p:nvSpPr>
        <p:spPr>
          <a:xfrm>
            <a:off x="6775704" y="2660904"/>
            <a:ext cx="4928616" cy="777240"/>
          </a:xfrm>
          <a:prstGeom prst="rect">
            <a:avLst/>
          </a:prstGeom>
          <a:noFill/>
        </p:spPr>
        <p:txBody>
          <a:bodyPr wrap="square" anchor="t" lIns="0" rIns="0" tIns="0" bIns="0">
            <a:spAutoFit/>
          </a:bodyPr>
          <a:lstStyle/>
          <a:p>
            <a:pPr algn="l"/>
            <a:r>
              <a:rPr sz="1200" b="0" i="0">
                <a:solidFill>
                  <a:srgbClr val="555560"/>
                </a:solidFill>
                <a:latin typeface="Geist"/>
              </a:rPr>
              <a:t>AI trained on fair-skinned archives can widen, not close, dermatology care gaps.</a:t>
            </a:r>
          </a:p>
        </p:txBody>
      </p:sp>
      <p:sp>
        <p:nvSpPr>
          <p:cNvPr id="31" name="Rectangle 30"/>
          <p:cNvSpPr/>
          <p:nvPr/>
        </p:nvSpPr>
        <p:spPr>
          <a:xfrm>
            <a:off x="6355080" y="3538728"/>
            <a:ext cx="292608" cy="29260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3529584"/>
            <a:ext cx="292608" cy="292608"/>
          </a:xfrm>
          <a:prstGeom prst="rect">
            <a:avLst/>
          </a:prstGeom>
          <a:noFill/>
        </p:spPr>
        <p:txBody>
          <a:bodyPr wrap="square" anchor="t" lIns="0" rIns="0" tIns="0" bIns="0">
            <a:spAutoFit/>
          </a:bodyPr>
          <a:lstStyle/>
          <a:p>
            <a:pPr algn="ctr"/>
            <a:r>
              <a:rPr sz="1500" b="1" i="0">
                <a:solidFill>
                  <a:srgbClr val="FFFFFF"/>
                </a:solidFill>
                <a:latin typeface="Geist Mono"/>
              </a:rPr>
              <a:t>7</a:t>
            </a:r>
          </a:p>
        </p:txBody>
      </p:sp>
      <p:sp>
        <p:nvSpPr>
          <p:cNvPr id="33" name="TextBox 32"/>
          <p:cNvSpPr txBox="1"/>
          <p:nvPr/>
        </p:nvSpPr>
        <p:spPr>
          <a:xfrm>
            <a:off x="6775704" y="3520440"/>
            <a:ext cx="4928616" cy="310896"/>
          </a:xfrm>
          <a:prstGeom prst="rect">
            <a:avLst/>
          </a:prstGeom>
          <a:noFill/>
        </p:spPr>
        <p:txBody>
          <a:bodyPr wrap="square" anchor="t" lIns="0" rIns="0" tIns="0" bIns="0">
            <a:spAutoFit/>
          </a:bodyPr>
          <a:lstStyle/>
          <a:p>
            <a:pPr algn="l"/>
            <a:r>
              <a:rPr sz="1500" b="1" i="0">
                <a:solidFill>
                  <a:srgbClr val="14141C"/>
                </a:solidFill>
                <a:latin typeface="Geist Mono"/>
              </a:rPr>
              <a:t>Buster et al. 2012</a:t>
            </a:r>
          </a:p>
        </p:txBody>
      </p:sp>
      <p:sp>
        <p:nvSpPr>
          <p:cNvPr id="34" name="TextBox 33"/>
          <p:cNvSpPr txBox="1"/>
          <p:nvPr/>
        </p:nvSpPr>
        <p:spPr>
          <a:xfrm>
            <a:off x="6775704" y="3849624"/>
            <a:ext cx="4928616" cy="777240"/>
          </a:xfrm>
          <a:prstGeom prst="rect">
            <a:avLst/>
          </a:prstGeom>
          <a:noFill/>
        </p:spPr>
        <p:txBody>
          <a:bodyPr wrap="square" anchor="t" lIns="0" rIns="0" tIns="0" bIns="0">
            <a:spAutoFit/>
          </a:bodyPr>
          <a:lstStyle/>
          <a:p>
            <a:pPr algn="l"/>
            <a:r>
              <a:rPr sz="1200" b="0" i="0">
                <a:solidFill>
                  <a:srgbClr val="555560"/>
                </a:solidFill>
                <a:latin typeface="Geist"/>
              </a:rPr>
              <a:t>Skin-disease outcomes are worse for underserved, low-access, minority patients.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417320"/>
            <a:ext cx="10058400" cy="1280160"/>
          </a:xfrm>
          <a:prstGeom prst="rect">
            <a:avLst/>
          </a:prstGeom>
          <a:noFill/>
        </p:spPr>
        <p:txBody>
          <a:bodyPr wrap="square" anchor="t" lIns="0" rIns="0" tIns="0" bIns="0">
            <a:spAutoFit/>
          </a:bodyPr>
          <a:lstStyle/>
          <a:p>
            <a:pPr algn="ctr"/>
            <a:r>
              <a:rPr sz="6000" b="1" i="0">
                <a:solidFill>
                  <a:srgbClr val="FF1493"/>
                </a:solidFill>
                <a:latin typeface="Geist Mono"/>
              </a:rPr>
              <a:t>Thank You</a:t>
            </a:r>
          </a:p>
        </p:txBody>
      </p:sp>
      <p:sp>
        <p:nvSpPr>
          <p:cNvPr id="6" name="TextBox 5"/>
          <p:cNvSpPr txBox="1"/>
          <p:nvPr/>
        </p:nvSpPr>
        <p:spPr>
          <a:xfrm>
            <a:off x="1188720" y="3246120"/>
            <a:ext cx="10058400" cy="640080"/>
          </a:xfrm>
          <a:prstGeom prst="rect">
            <a:avLst/>
          </a:prstGeom>
          <a:noFill/>
        </p:spPr>
        <p:txBody>
          <a:bodyPr wrap="square" anchor="t" lIns="0" rIns="0" tIns="0" bIns="0">
            <a:spAutoFit/>
          </a:bodyPr>
          <a:lstStyle/>
          <a:p>
            <a:pPr algn="ctr"/>
            <a:r>
              <a:rPr sz="3000" b="0" i="0">
                <a:solidFill>
                  <a:srgbClr val="40E0D0"/>
                </a:solidFill>
                <a:latin typeface="Noto Sans CJK TC"/>
              </a:rPr>
              <a:t>魏晉祺</a:t>
            </a:r>
          </a:p>
        </p:txBody>
      </p:sp>
      <p:sp>
        <p:nvSpPr>
          <p:cNvPr id="7" name="TextBox 6"/>
          <p:cNvSpPr txBox="1"/>
          <p:nvPr/>
        </p:nvSpPr>
        <p:spPr>
          <a:xfrm>
            <a:off x="1188720" y="3922776"/>
            <a:ext cx="10058400" cy="457200"/>
          </a:xfrm>
          <a:prstGeom prst="rect">
            <a:avLst/>
          </a:prstGeom>
          <a:noFill/>
        </p:spPr>
        <p:txBody>
          <a:bodyPr wrap="square" anchor="t" lIns="0" rIns="0" tIns="0" bIns="0">
            <a:spAutoFit/>
          </a:bodyPr>
          <a:lstStyle/>
          <a:p>
            <a:pPr algn="ctr"/>
            <a:r>
              <a:rPr sz="2000" b="1" i="0">
                <a:solidFill>
                  <a:srgbClr val="40E0D0"/>
                </a:solidFill>
                <a:latin typeface="Geist Mono"/>
              </a:rPr>
              <a:t>Jinchi Wei</a:t>
            </a:r>
          </a:p>
        </p:txBody>
      </p:sp>
      <p:sp>
        <p:nvSpPr>
          <p:cNvPr id="8" name="TextBox 7"/>
          <p:cNvSpPr txBox="1"/>
          <p:nvPr/>
        </p:nvSpPr>
        <p:spPr>
          <a:xfrm>
            <a:off x="1188720" y="4398264"/>
            <a:ext cx="10058400" cy="365760"/>
          </a:xfrm>
          <a:prstGeom prst="rect">
            <a:avLst/>
          </a:prstGeom>
          <a:noFill/>
        </p:spPr>
        <p:txBody>
          <a:bodyPr wrap="square" anchor="t" lIns="0" rIns="0" tIns="0" bIns="0">
            <a:spAutoFit/>
          </a:bodyPr>
          <a:lstStyle/>
          <a:p>
            <a:pPr algn="ctr"/>
            <a:r>
              <a:rPr sz="1300" b="0" i="0">
                <a:solidFill>
                  <a:srgbClr val="FFFFFF"/>
                </a:solidFill>
                <a:latin typeface="Geist"/>
              </a:rPr>
              <a:t>Outset</a:t>
            </a:r>
          </a:p>
        </p:txBody>
      </p:sp>
      <p:sp>
        <p:nvSpPr>
          <p:cNvPr id="9" name="TextBox 8"/>
          <p:cNvSpPr txBox="1"/>
          <p:nvPr/>
        </p:nvSpPr>
        <p:spPr>
          <a:xfrm>
            <a:off x="1188720" y="4837176"/>
            <a:ext cx="10058400" cy="365760"/>
          </a:xfrm>
          <a:prstGeom prst="rect">
            <a:avLst/>
          </a:prstGeom>
          <a:noFill/>
        </p:spPr>
        <p:txBody>
          <a:bodyPr wrap="square" anchor="t" lIns="0" rIns="0" tIns="0" bIns="0">
            <a:spAutoFit/>
          </a:bodyPr>
          <a:lstStyle/>
          <a:p>
            <a:pPr algn="ctr"/>
            <a:r>
              <a:rPr sz="1600" b="0" i="0">
                <a:solidFill>
                  <a:srgbClr val="F0C840"/>
                </a:solidFill>
                <a:latin typeface="Geist Mono"/>
              </a:rPr>
              <a:t>jinchikwei@gmail.com</a:t>
            </a:r>
          </a:p>
        </p:txBody>
      </p:sp>
      <p:pic>
        <p:nvPicPr>
          <p:cNvPr id="10" name="Picture 9" descr="meng.png"/>
          <p:cNvPicPr>
            <a:picLocks noChangeAspect="1"/>
          </p:cNvPicPr>
          <p:nvPr/>
        </p:nvPicPr>
        <p:blipFill>
          <a:blip r:embed="rId2"/>
          <a:stretch>
            <a:fillRect/>
          </a:stretch>
        </p:blipFill>
        <p:spPr>
          <a:xfrm>
            <a:off x="10086477" y="5486400"/>
            <a:ext cx="690906" cy="914400"/>
          </a:xfrm>
          <a:prstGeom prst="rect">
            <a:avLst/>
          </a:prstGeom>
        </p:spPr>
      </p:pic>
      <p:pic>
        <p:nvPicPr>
          <p:cNvPr id="11" name="Picture 10" descr="xiang.png"/>
          <p:cNvPicPr>
            <a:picLocks noChangeAspect="1"/>
          </p:cNvPicPr>
          <p:nvPr/>
        </p:nvPicPr>
        <p:blipFill>
          <a:blip r:embed="rId3"/>
          <a:stretch>
            <a:fillRect/>
          </a:stretch>
        </p:blipFill>
        <p:spPr>
          <a:xfrm>
            <a:off x="10978551" y="5486400"/>
            <a:ext cx="755944" cy="914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