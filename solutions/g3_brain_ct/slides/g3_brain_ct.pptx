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Head-CT triage AI, in one picture</a:t>
            </a:r>
          </a:p>
          <a:p>
            <a:r>
              <a:rPr b="0" sz="1100">
                <a:latin typeface="Geist"/>
              </a:rPr>
              <a:t>Open concrete. The single most real, deployed use of AI on brain CT is triage: a network scans the whole
stack and pushes probable bleeds to the top of the list so a radiologist reads the dangerous ones first,
instead of in arrival order. In a busy ER that saves minutes that matter for a stroke. Ground it in real
systems: Chilamkurthy 2018 (Lancet) trained on ~313,000 head CTs at AUC&gt;0.90; the RSNA 2019 challenge had
60+ neuroradiologists label 25,000+ exams; Seyam 2022 is a deployed tool at ~93% accuracy. Then the catch:
these tools are NOT equally good on every case. Transition: to even ask 'fair for whom', the data has to
record who each scan came from.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A dataset should tell you who is in it</a:t>
            </a:r>
          </a:p>
          <a:p>
            <a:r>
              <a:rPr b="0" sz="1100">
                <a:latin typeface="Geist"/>
              </a:rPr>
              <a:t>This is the pivot from 'cool tool' to 'the real lesson'. A fairness check is a comparison ACROSS groups, so
it needs the grouping columns to exist. The Datasheets for Datasets idea (Gebru 2021) proposes every dataset
ship a standard sheet answering who is in it, how it was labeled, and its limits. Reviews (Tripathi 2023)
find radiology datasets routinely leave those blank. Left figure: the six things a datasheet asks vs. the two
our brain-CT set actually has -- four demographic rows are empty. Transition: and empty rows mean unfillable
audit bars.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You can’t audit a bias you can’t see</a:t>
            </a:r>
          </a:p>
          <a:p>
            <a:r>
              <a:rPr b="0" sz="1100">
                <a:latin typeface="Geist"/>
              </a:rPr>
              <a:t>Make the abstract concrete with real findings. Seyyed-Kalantari 2021 (Nature Medicine): chest-X-ray AI gave
more false 'no finding' calls for female, Black, and low-income patients -- underdiagnosis that only showed
up BECAUSE those datasets recorded the groups. Yang 2024 (Nature Medicine): imaging AI often rides demographic
shortcuts, so fairness measured on one hospital does not transfer. The figure equates missing metadata with a
blind spot: one measurable bar, the rest drawn as empty dashed outlines labeled 'no data -- cannot measure'.
Transition: now our own build, on exactly such a dataset.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The task and the data</a:t>
            </a:r>
          </a:p>
          <a:p>
            <a:r>
              <a:rPr b="0" sz="1100">
                <a:latin typeface="Geist"/>
              </a:rPr>
              <a:t>State the problem and, deliberately, the absence. The task is a clean binary: normal vs. stroke on a 64x64
brain slice. What the model is GIVEN is only the image and the label. What is MISSING is every field a
fairness audit needs -- age, sex, race, scanner, site, time-since-injury. The pink 'Missing' card is the one
to linger on; it is the whole story of this project set up in advance. Transition: how we actually build the
detector.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The idea: reuse a pretrained network</a:t>
            </a:r>
          </a:p>
          <a:p>
            <a:r>
              <a:rPr b="0" sz="1100">
                <a:latin typeface="Geist"/>
              </a:rPr>
              <a:t>One transferable idea, echoed from Day 1: transfer learning. On a few hundred scans you cannot teach a network
to see from scratch, so you borrow a ResNet18 already trained on a million ImageNet photos, freeze the body
that learned generic edges and textures, and train only a small new 2-class head. The chip flow makes the
three moves concrete: pretrained backbone, freeze, new head. Emphasize the habit: when data is small, start
from something pretrained. Transition: does it work? Grade it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It catches most strokes — but cries wolf</a:t>
            </a:r>
          </a:p>
          <a:p>
            <a:r>
              <a:rPr b="0" sz="1100">
                <a:latin typeface="Geist"/>
              </a:rPr>
              <a:t>The honest-evaluation slide, and the metric lesson. On the held-out test set overall accuracy is ~0.71, but
that is the wrong headline for screening. Break it into the two error types: sensitivity ~0.84 means it
catches most real strokes (the error we most want to avoid), while specificity ~0.60 means it false-alarms on
many normal scans. The confusion matrix shows the same split as a picture. Point: for a triage safety-net you
would tune toward sensitivity on purpose -- crying wolf beats missing a bleed -- and a single accuracy number
would have hidden it. Transition: but is it right for the right reason?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Is it reading the brain, or cheating off the skull?</a:t>
            </a:r>
          </a:p>
          <a:p>
            <a:r>
              <a:rPr b="0" sz="1100">
                <a:latin typeface="Geist"/>
              </a:rPr>
              <a:t>Transparency audit. A model can be right for the wrong reason, so Grad-CAM overlays where the network actually
looked to make each call. Honest read of our figure: some heat is on brain tissue, but some sits on the skull
edge and the black border -- a shortcut. Tie it to Yang 2024: shortcut-learning is exactly why 'fair here'
does not generalize. The teaching move is to SAY this out loud; naming a weakness is a stronger talk than
hiding it. Transition: and it is brittle when the image gets messy.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Does it survive a messier scan?</a:t>
            </a:r>
          </a:p>
          <a:p>
            <a:r>
              <a:rPr b="0" sz="1100">
                <a:latin typeface="Geist"/>
              </a:rPr>
              <a:t>Robustness / monitoring audit. Training data is clean; deployed scanners are messy (motion, low dose, other
machines). We simulate that by adding increasing noise to the test images and watching accuracy -- it drops
quickly, so this toy model is brittle. The real-world lesson: a shipped model meets drift, so it needs
augmentation, more data, and live monitoring, not a one-time score. Transition: now the audit we cannot run
at all -- the point of the whole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The audit we literally cannot run</a:t>
            </a:r>
          </a:p>
          <a:p>
            <a:r>
              <a:rPr b="0" sz="1100">
                <a:latin typeface="Geist"/>
              </a:rPr>
              <a:t>The climax figure: a deliberately near-blank slide, a picture of metadata that does not exist. Draw the
distinction crisply: we CAN audit by class (normal vs. stroke) because the label is recorded, but the audit
that actually matters for fairness -- across age, sex, race, scanner -- cannot be run at all, because there is
nothing to group by. Not hard; impossible. Let the emptiness of the figure do the work. Transition: why that
silence is disqualifying, not a caveat.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Why that silence is disqualifying</a:t>
            </a:r>
          </a:p>
          <a:p>
            <a:r>
              <a:rPr b="0" sz="1100">
                <a:latin typeface="Geist"/>
              </a:rPr>
              <a:t>Land the thesis. Say it plainly: the model could be far worse for some group and we could not detect it. The
literature agrees on both halves -- datasheets/reviews (Gebru 2021, Tripathi 2023) say document who is in the
data; audits (Seyyed-Kalantari 2021, Yang 2024) show bias hides along demographic and scanner lines and is
only visible where those labels exist. So for anything that would touch a patient, an un-runnable fairness
audit is not a caveat you note at the end -- it is the finding. This is the sentence to end the talk on.
Transition: the sources behind all of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References</a:t>
            </a:r>
          </a:p>
          <a:p>
            <a:r>
              <a:rPr b="0" sz="1100">
                <a:latin typeface="Geist"/>
              </a:rPr>
              <a:t>The evidence base, grouped by role. Left: the real head-CT triage AI that motivates the task (Chilamkurthy
2018, Flanders/RSNA 2020, Seyam 2022). Middle: the datasheets/documentation argument (Gebru 2021, Tripathi
2023). Right: the fairness audits that only work when metadata exists (Seyyed-Kalantari 2021, Yang 2024).
Every claim in the deck traces to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A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0" cy="685800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0"/>
            <a:ext cx="228600" cy="6858000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2801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0E0D0"/>
                </a:solidFill>
                <a:latin typeface="Geist Mono"/>
              </a:rPr>
              <a:t>Outset · AI in Healthcare · Day 3 · Group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37360"/>
            <a:ext cx="1005840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Geist Mono"/>
              </a:rPr>
              <a:t>Stroke on a brain CT — and the fairness you can't measure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34340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E5E5EA"/>
                </a:solidFill>
                <a:latin typeface="Geist"/>
              </a:rPr>
              <a:t>A working stroke detector, and the audit this dataset makes impossible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51206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40E0D0"/>
                </a:solidFill>
                <a:latin typeface="Geist Mono"/>
              </a:rPr>
              <a:t>Jinchi Wei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55778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1493"/>
                </a:solidFill>
                <a:latin typeface="Geist Mono"/>
              </a:rPr>
              <a:t>Outset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6080759"/>
            <a:ext cx="3657600" cy="18288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6217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0C840"/>
                </a:solidFill>
                <a:latin typeface="Geist Mono"/>
              </a:rPr>
              <a:t>2026-07-08</a:t>
            </a:r>
          </a:p>
        </p:txBody>
      </p:sp>
      <p:pic>
        <p:nvPicPr>
          <p:cNvPr id="12" name="Picture 11" descr="ucsf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0379" y="5248656"/>
            <a:ext cx="1163329" cy="1152144"/>
          </a:xfrm>
          <a:prstGeom prst="rect">
            <a:avLst/>
          </a:prstGeom>
        </p:spPr>
      </p:pic>
      <p:pic>
        <p:nvPicPr>
          <p:cNvPr id="13" name="Picture 12" descr="cal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2308" y="5413248"/>
            <a:ext cx="1032187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A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40080"/>
            <a:ext cx="164592" cy="41148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0E0D0"/>
                </a:solidFill>
                <a:latin typeface="Geist Mono"/>
              </a:rPr>
              <a:t>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10972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Geist Mono"/>
              </a:rPr>
              <a:t>BACKGROUND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5120640"/>
            <a:ext cx="1828800" cy="18288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61264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0E0D0"/>
                </a:solidFill>
                <a:latin typeface="Geist Mono"/>
              </a:rPr>
              <a:t>Jinchi Wei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3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39" y="61264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1493"/>
                </a:solidFill>
                <a:latin typeface="Geist Mono"/>
              </a:rPr>
              <a:t>Outset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59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61264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Stroke on a brain CT — and the fairness you can't measure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Head-CT triage AI, in one picture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Stroke on a brain CT — and the fairness you can't measure  ·  2026-07-08</a:t>
            </a:r>
          </a:p>
        </p:txBody>
      </p:sp>
      <p:pic>
        <p:nvPicPr>
          <p:cNvPr id="7" name="Picture 6" descr="intro_triage_que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98222"/>
            <a:ext cx="6748272" cy="411875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525512" y="1234440"/>
            <a:ext cx="4178808" cy="4709159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25512" y="1234440"/>
            <a:ext cx="4178808" cy="54864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90104" y="1325880"/>
            <a:ext cx="384962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0E0D0"/>
                </a:solidFill>
                <a:latin typeface="Geist Mono"/>
              </a:rPr>
              <a:t>Triage, not diagnosis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0104" y="1874519"/>
            <a:ext cx="3849624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4141C"/>
                </a:solidFill>
                <a:latin typeface="Geist"/>
              </a:rPr>
              <a:t>In the ER a bleed is an emergency and minutes matter. Deployed head-CT AI -- Chilamkurthy 2018 on ~313,000 scans, the RSNA 2019 challenge, Seyam 2022 -- reorders the radiologist reading queue so likely bleeds are read first. Real tools clear ~0.90+ AUC, and still do worse on some bleed subtypes.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A dataset should tell you who is in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Stroke on a brain CT — and the fairness you can't measure  ·  2026-07-08</a:t>
            </a:r>
          </a:p>
        </p:txBody>
      </p:sp>
      <p:pic>
        <p:nvPicPr>
          <p:cNvPr id="7" name="Picture 6" descr="intro_datasheet_check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79968"/>
            <a:ext cx="6748272" cy="335526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525512" y="1234440"/>
            <a:ext cx="4178808" cy="4709159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25512" y="1234440"/>
            <a:ext cx="4178808" cy="54864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90104" y="1325880"/>
            <a:ext cx="384962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0E0D0"/>
                </a:solidFill>
                <a:latin typeface="Geist Mono"/>
              </a:rPr>
              <a:t>Who is in the data?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0104" y="1874519"/>
            <a:ext cx="3849624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4141C"/>
                </a:solidFill>
                <a:latin typeface="Geist"/>
              </a:rPr>
              <a:t>To test fairness you compare accuracy across groups -- age, sex, race, scanner. That only works if the dataset records who each scan came from. Datasheets for Datasets (Gebru 2021) says every dataset should ship that documentation; radiology-AI reviews (Tripathi 2023) show it often does not. Ours has only the image and a label.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You can’t audit a bias you can’t see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Stroke on a brain CT — and the fairness you can't measure  ·  2026-07-08</a:t>
            </a:r>
          </a:p>
        </p:txBody>
      </p:sp>
      <p:pic>
        <p:nvPicPr>
          <p:cNvPr id="7" name="Picture 6" descr="intro_unauditable_b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18914"/>
            <a:ext cx="6748272" cy="487737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525512" y="1234440"/>
            <a:ext cx="4178808" cy="4709159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25512" y="1234440"/>
            <a:ext cx="4178808" cy="54864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90104" y="1325880"/>
            <a:ext cx="384962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0E0D0"/>
                </a:solidFill>
                <a:latin typeface="Geist Mono"/>
              </a:rPr>
              <a:t>Blank bars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0104" y="1874519"/>
            <a:ext cx="3849624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4141C"/>
                </a:solidFill>
                <a:latin typeface="Geist"/>
              </a:rPr>
              <a:t>Real audits found imaging AI that missed disease more often in female, Black, and low-income patients (Seyyed-Kalantari 2021), and models that secretly lean on demographic shortcuts (Yang 2024). You can only SEE those failures if the data records the groups. When it does not, every per-group accuracy bar is a blank you cannot fill.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A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40080"/>
            <a:ext cx="164592" cy="411480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1493"/>
                </a:solidFill>
                <a:latin typeface="Geist Mono"/>
              </a:rPr>
              <a:t>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10972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Geist Mono"/>
              </a:rPr>
              <a:t>METHODS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5120640"/>
            <a:ext cx="1828800" cy="18288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61264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0E0D0"/>
                </a:solidFill>
                <a:latin typeface="Geist Mono"/>
              </a:rPr>
              <a:t>Jinchi Wei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3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39" y="61264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1493"/>
                </a:solidFill>
                <a:latin typeface="Geist Mono"/>
              </a:rPr>
              <a:t>Outset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59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61264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Stroke on a brain CT — and the fairness you can't measure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The task and the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Stroke on a brain CT — and the fairness you can't measure  ·  2026-07-08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3535680" cy="4434840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3535680" cy="54864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417320"/>
            <a:ext cx="32064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0E0D0"/>
                </a:solidFill>
                <a:latin typeface="Geist Mono"/>
              </a:rPr>
              <a:t>Task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965960"/>
            <a:ext cx="3206496" cy="370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4141C"/>
                </a:solidFill>
                <a:latin typeface="Geist"/>
              </a:rPr>
              <a:t>Classify one 64x64 brain CT slice as normal or stroke. A clean binary question.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12920" y="1325880"/>
            <a:ext cx="3535680" cy="4434840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12920" y="1325880"/>
            <a:ext cx="3535680" cy="54864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77512" y="1417320"/>
            <a:ext cx="32064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0C840"/>
                </a:solidFill>
                <a:latin typeface="Geist Mono"/>
              </a:rPr>
              <a:t>Given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7512" y="1965960"/>
            <a:ext cx="3206496" cy="370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4141C"/>
                </a:solidFill>
                <a:latin typeface="Geist"/>
              </a:rPr>
              <a:t>The CT image, and a normal / stroke label. That is the entire dataset.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68640" y="1325880"/>
            <a:ext cx="3535680" cy="4434840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68640" y="1325880"/>
            <a:ext cx="3535680" cy="54864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3232" y="1417320"/>
            <a:ext cx="32064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1493"/>
                </a:solidFill>
                <a:latin typeface="Geist Mono"/>
              </a:rPr>
              <a:t>Missing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3232" y="1965960"/>
            <a:ext cx="3206496" cy="370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4141C"/>
                </a:solidFill>
                <a:latin typeface="Geist"/>
              </a:rPr>
              <a:t>Age, sex, race, scanner, site, time-since-injury -- every field a fairness audit would need.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The idea: reuse a pretrained network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Stroke on a brain CT — and the fairness you can't measure  ·  2026-07-08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12471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4141C"/>
                </a:solidFill>
                <a:latin typeface="Geist"/>
              </a:rPr>
              <a:t>The same trick that won Day 1. Rather than teach a network to see from zero on a few hundred scans, we take a ResNet18 already trained on a million everyday photos, freeze what it learned about edges and texture, and train only a small new head to map those features to normal vs. stroke. Borrowed knowledge beats from-scratch when data is small.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743200"/>
            <a:ext cx="3413760" cy="960120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743200"/>
            <a:ext cx="3413760" cy="9144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999232"/>
            <a:ext cx="301142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4141C"/>
                </a:solidFill>
                <a:latin typeface="Geist Mono"/>
              </a:rPr>
              <a:t>Pretrained ResNet18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80688" y="2999232"/>
            <a:ext cx="320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555560"/>
                </a:solidFill>
                <a:latin typeface="Geist Mono"/>
              </a:rPr>
              <a:t>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73880" y="2743200"/>
            <a:ext cx="3413760" cy="960120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3880" y="2743200"/>
            <a:ext cx="3413760" cy="91440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5048" y="2999232"/>
            <a:ext cx="301142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4141C"/>
                </a:solidFill>
                <a:latin typeface="Geist Mono"/>
              </a:rPr>
              <a:t>Freeze the body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97368" y="2999232"/>
            <a:ext cx="320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555560"/>
                </a:solidFill>
                <a:latin typeface="Geist Mono"/>
              </a:rPr>
              <a:t>&gt;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90560" y="2743200"/>
            <a:ext cx="3413760" cy="960120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90560" y="2743200"/>
            <a:ext cx="3413760" cy="91440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91728" y="2999232"/>
            <a:ext cx="301142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4141C"/>
                </a:solidFill>
                <a:latin typeface="Geist Mono"/>
              </a:rPr>
              <a:t>Train a new 2-class head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A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40080"/>
            <a:ext cx="164592" cy="411480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0C840"/>
                </a:solidFill>
                <a:latin typeface="Geist Mono"/>
              </a:rP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10972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Geist Mono"/>
              </a:rPr>
              <a:t>RESULTS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5120640"/>
            <a:ext cx="1828800" cy="18288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61264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0E0D0"/>
                </a:solidFill>
                <a:latin typeface="Geist Mono"/>
              </a:rPr>
              <a:t>Jinchi Wei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3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39" y="61264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1493"/>
                </a:solidFill>
                <a:latin typeface="Geist Mono"/>
              </a:rPr>
              <a:t>Outset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59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61264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Stroke on a brain CT — and the fairness you can't measure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It catches most strokes — but cries wolf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Stroke on a brain CT — and the fairness you can't measure  ·  2026-07-08</a:t>
            </a:r>
          </a:p>
        </p:txBody>
      </p:sp>
      <p:pic>
        <p:nvPicPr>
          <p:cNvPr id="7" name="Picture 6" descr="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87347"/>
            <a:ext cx="5623560" cy="45405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46520" y="1188720"/>
            <a:ext cx="52578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600" b="1" i="0">
                <a:solidFill>
                  <a:srgbClr val="FF1493"/>
                </a:solidFill>
                <a:latin typeface="Geist Mono"/>
              </a:rPr>
              <a:t>0.84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286000"/>
            <a:ext cx="5257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4141C"/>
                </a:solidFill>
                <a:latin typeface="Geist"/>
              </a:rPr>
              <a:t>sensitivity -- of the real strokes, the share we CAUGHT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3017520"/>
            <a:ext cx="52578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560"/>
                </a:solidFill>
                <a:latin typeface="Geist"/>
              </a:rPr>
              <a:t>Accuracy is only ~0.71 and specificity ~0.60, so it false-alarms on many normal scans. For a safety-net triage tool, catching bleeds matters more than the false alarms -- and one accuracy number alone would have hidden that split.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Is it reading the brain, or cheating off the skull?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Stroke on a brain CT — and the fairness you can't measure  ·  2026-07-08</a:t>
            </a:r>
          </a:p>
        </p:txBody>
      </p:sp>
      <p:pic>
        <p:nvPicPr>
          <p:cNvPr id="7" name="Picture 6" descr="gradc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81208"/>
            <a:ext cx="6748272" cy="415278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525512" y="1234440"/>
            <a:ext cx="4178808" cy="4709159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25512" y="1234440"/>
            <a:ext cx="4178808" cy="54864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90104" y="1325880"/>
            <a:ext cx="384962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0C840"/>
                </a:solidFill>
                <a:latin typeface="Geist Mono"/>
              </a:rPr>
              <a:t>Right for the wrong reason?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0104" y="1874519"/>
            <a:ext cx="3849624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4141C"/>
                </a:solidFill>
                <a:latin typeface="Geist"/>
              </a:rPr>
              <a:t>Grad-CAM paints WHERE the network looked. Some heat lands on brain tissue, but some drifts to the skull edge and the image border -- a classic shortcut that works on this dataset and would break on a new scanner (Yang 2024). Worth saying out loud, not hiding.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Does it survive a messier scan?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Stroke on a brain CT — and the fairness you can't measure  ·  2026-07-08</a:t>
            </a:r>
          </a:p>
        </p:txBody>
      </p:sp>
      <p:pic>
        <p:nvPicPr>
          <p:cNvPr id="7" name="Picture 6" descr="noise_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11428"/>
            <a:ext cx="6523329" cy="3892343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00569" y="1234440"/>
            <a:ext cx="4403750" cy="4709159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00569" y="1234440"/>
            <a:ext cx="4403750" cy="54864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65161" y="1325880"/>
            <a:ext cx="407456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0C840"/>
                </a:solidFill>
                <a:latin typeface="Geist Mono"/>
              </a:rPr>
              <a:t>Brittle under noise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5161" y="1874519"/>
            <a:ext cx="4074566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4141C"/>
                </a:solidFill>
                <a:latin typeface="Geist"/>
              </a:rPr>
              <a:t>Training images are clean; a real ER scanner is noisier -- motion, low dose, different machines. Adding random noise to the test scans makes accuracy sag fast. A deployable tool would need augmentation, far more data, and live monitoring after it ships.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A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40080"/>
            <a:ext cx="164592" cy="411480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8A2BE2"/>
                </a:solidFill>
                <a:latin typeface="Geist Mono"/>
              </a:rPr>
              <a:t>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10972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Geist Mono"/>
              </a:rPr>
              <a:t>THE GAP THAT IS THE FINDING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5120640"/>
            <a:ext cx="1828800" cy="18288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61264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0E0D0"/>
                </a:solidFill>
                <a:latin typeface="Geist Mono"/>
              </a:rPr>
              <a:t>Jinchi Wei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3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39" y="61264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1493"/>
                </a:solidFill>
                <a:latin typeface="Geist Mono"/>
              </a:rPr>
              <a:t>Outset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59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61264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Stroke on a brain CT — and the fairness you can't measure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The audit we literally cannot run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Stroke on a brain CT — and the fairness you can't measure  ·  2026-07-08</a:t>
            </a:r>
          </a:p>
        </p:txBody>
      </p:sp>
      <p:pic>
        <p:nvPicPr>
          <p:cNvPr id="7" name="Picture 6" descr="missing_meta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39227"/>
            <a:ext cx="6523329" cy="40367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00569" y="1234440"/>
            <a:ext cx="4403750" cy="4709159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00569" y="1234440"/>
            <a:ext cx="4403750" cy="54864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65161" y="1325880"/>
            <a:ext cx="407456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8A2BE2"/>
                </a:solidFill>
                <a:latin typeface="Geist Mono"/>
              </a:rPr>
              <a:t>Nothing to group by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5161" y="1874519"/>
            <a:ext cx="4074566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4141C"/>
                </a:solidFill>
                <a:latin typeface="Geist"/>
              </a:rPr>
              <a:t>We CAN audit fairness by class, because the label exists. But the audit that matters -- does it work as well for older patients as younger, women as men, one scanner as another -- cannot run at all. The dataset never recorded age, sex, race, or scanner. There is literally nothing to group by.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Why that silence is disqualifying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Stroke on a brain CT — and the fairness you can't measure  ·  2026-07-08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06700"/>
            <a:ext cx="11247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8A2BE2"/>
                </a:solidFill>
                <a:latin typeface="Geist Mono"/>
              </a:rPr>
              <a:t>An un-runnable fairness audit is not a footnote.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761841"/>
            <a:ext cx="9418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 i="0">
                <a:solidFill>
                  <a:srgbClr val="14141C"/>
                </a:solidFill>
                <a:latin typeface="Geist"/>
              </a:rPr>
              <a:t>Our detector might be much worse for some group of patients, and we would have no way to know. Datasheets work and radiology-AI reviews say a dataset should document who is in it; real audits show hidden bias appears exactly along age, sex, race, and scanner lines -- and only where those labels exist. For a tool that would touch patients, that silence is the headline.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A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40080"/>
            <a:ext cx="164592" cy="41148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0E0D0"/>
                </a:solidFill>
                <a:latin typeface="Geist Mono"/>
              </a:rPr>
              <a:t>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10972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Geist Mono"/>
              </a:rPr>
              <a:t>REFERENCES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5120640"/>
            <a:ext cx="1828800" cy="18288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61264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0E0D0"/>
                </a:solidFill>
                <a:latin typeface="Geist Mono"/>
              </a:rPr>
              <a:t>Jinchi Wei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3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39" y="61264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1493"/>
                </a:solidFill>
                <a:latin typeface="Geist Mono"/>
              </a:rPr>
              <a:t>Outset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59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61264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Stroke on a brain CT — and the fairness you can't measure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References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Stroke on a brain CT — and the fairness you can't measure  ·  2026-07-08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3535680" cy="4434840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3535680" cy="54864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417320"/>
            <a:ext cx="32064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0E0D0"/>
                </a:solidFill>
                <a:latin typeface="Geist Mono"/>
              </a:rPr>
              <a:t>Head-CT triage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965960"/>
            <a:ext cx="3206496" cy="370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4141C"/>
                </a:solidFill>
                <a:latin typeface="Geist"/>
              </a:rPr>
              <a:t>Chilamkurthy 2018 (The Lancet); Flanders 2020 (Radiology: AI, RSNA challenge); Seyam 2022 (Radiology: AI).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12920" y="1325880"/>
            <a:ext cx="3535680" cy="4434840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12920" y="1325880"/>
            <a:ext cx="3535680" cy="54864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77512" y="1417320"/>
            <a:ext cx="32064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1493"/>
                </a:solidFill>
                <a:latin typeface="Geist Mono"/>
              </a:rPr>
              <a:t>Datasets &amp; documentation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7512" y="1965960"/>
            <a:ext cx="3206496" cy="370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4141C"/>
                </a:solidFill>
                <a:latin typeface="Geist"/>
              </a:rPr>
              <a:t>Gebru 2021 (Communications of the ACM, Datasheets for Datasets); Tripathi 2023 (J Am Coll Radiol).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68640" y="1325880"/>
            <a:ext cx="3535680" cy="4434840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68640" y="1325880"/>
            <a:ext cx="3535680" cy="54864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3232" y="1417320"/>
            <a:ext cx="32064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0C840"/>
                </a:solidFill>
                <a:latin typeface="Geist Mono"/>
              </a:rPr>
              <a:t>Fairness audits that need metadata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3232" y="1965960"/>
            <a:ext cx="3206496" cy="370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4141C"/>
                </a:solidFill>
                <a:latin typeface="Geist"/>
              </a:rPr>
              <a:t>Seyyed-Kalantari 2021 (Nature Medicine); Yang 2024 (Nature Medicine).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A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0" cy="685800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0"/>
            <a:ext cx="228600" cy="6858000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4173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000" b="1" i="0">
                <a:solidFill>
                  <a:srgbClr val="FF1493"/>
                </a:solidFill>
                <a:latin typeface="Geist Mono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24612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0" i="0">
                <a:solidFill>
                  <a:srgbClr val="40E0D0"/>
                </a:solidFill>
                <a:latin typeface="Noto Sans CJK TC"/>
              </a:rPr>
              <a:t>魏晉祺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92277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40E0D0"/>
                </a:solidFill>
                <a:latin typeface="Geist Mono"/>
              </a:rPr>
              <a:t>Jinchi 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398264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Geist"/>
              </a:rPr>
              <a:t>Outset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83717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 i="0">
                <a:solidFill>
                  <a:srgbClr val="F0C840"/>
                </a:solidFill>
                <a:latin typeface="Geist Mono"/>
              </a:rPr>
              <a:t>jinchikwei@gmail.com</a:t>
            </a:r>
          </a:p>
        </p:txBody>
      </p:sp>
      <p:pic>
        <p:nvPicPr>
          <p:cNvPr id="10" name="Picture 9" descr="me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6477" y="5486400"/>
            <a:ext cx="690906" cy="914400"/>
          </a:xfrm>
          <a:prstGeom prst="rect">
            <a:avLst/>
          </a:prstGeom>
        </p:spPr>
      </p:pic>
      <p:pic>
        <p:nvPicPr>
          <p:cNvPr id="11" name="Picture 10" descr="xia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8551" y="5486400"/>
            <a:ext cx="755944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