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Background</a:t>
            </a:r>
          </a:p>
          <a:p>
            <a:r>
              <a:rPr b="0" sz="1100">
                <a:latin typeface="Geist"/>
              </a:rPr>
              <a:t>We open with the clinical scene so the modeling lands later. Three ideas to plant: a dermatoscope sorts seven look-alike lesions, exactly one (melanoma) is deadly, and machines can already do this at dermatologist level. Transition: let's meet the spot under the lens.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spot that could be melanoma</a:t>
            </a:r>
          </a:p>
          <a:p>
            <a:r>
              <a:rPr b="0" sz="1100">
                <a:latin typeface="Geist"/>
              </a:rPr>
              <a:t>Open concrete and physical. A dermatologist puts a dermatoscope on a skin spot and asks one question: harmless, or melanoma? Point at the seven lesion types down the left -- these are the HAM10000 classes -- and note that only MELANOMA (in pink) is the deadly one; the arrow points to it under the lens. Do not mention machine learning yet. Transition: why does missing that one matter so much?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Why a miss is deadly</a:t>
            </a:r>
          </a:p>
          <a:p>
            <a:r>
              <a:rPr b="0" sz="1100">
                <a:latin typeface="Geist"/>
              </a:rPr>
              <a:t>The single idea that drives every later choice. The balance is tipped on purpose: a MISSED MELANOMA (heavy, pink) outweighs a FALSE ALARM (light, gold). Spell out the two error types in plain words -- false negative vs false positive -- and their real-world costs: a spreading cancer versus one extra visit. Because they are not equal, we will later tune the screen toward sensitivity even though it costs specificity. Transition: and this is not hypothetical -- machines already do this well.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Machines already match dermatologists</a:t>
            </a:r>
          </a:p>
          <a:p>
            <a:r>
              <a:rPr b="0" sz="1100">
                <a:latin typeface="Geist"/>
              </a:rPr>
              <a:t>The landmark that makes this project credible. Esteva 2017 trained one network on ~129,450 clinical images and it matched 21 board-certified dermatologists: on the sensitivity/specificity plane the CNN's turquoise curve sits above the dermatologists' cloud (grey dots) and their pink average. This is a redraw of their result, attributed. Our project is a small, honest version of the same idea. Transition: to build one, we need the right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data</a:t>
            </a:r>
          </a:p>
          <a:p>
            <a:r>
              <a:rPr b="0" sz="1100">
                <a:latin typeface="Geist"/>
              </a:rPr>
              <a:t>Now the raw material. Why HAM10000 is the right dataset -- real dermatoscopy, big enough, and it records age and sex so we can audit fairness -- and the imbalance that makes plain accuracy a trap. Transition: only about 1 in 9 spots is melanoma.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Why HAM10000</a:t>
            </a:r>
          </a:p>
          <a:p>
            <a:r>
              <a:rPr b="0" sz="1100">
                <a:latin typeface="Geist"/>
              </a:rPr>
              <a:t>Justify the dataset in three numbers. 10,015 REAL dermatoscopy images (enough to train on); 7 lesion types collapsed to the yes/no screening question; and only ~11% melanoma -- the imbalance that will bite us next slide -- plus recorded age and sex, which is what later lets us check fairness. The fairness point is the quiet reason this dataset beats a bare pile of images. Transition: that 11% is exactly why accuracy lies.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Accuracy is a trap; sensitivity is the job</a:t>
            </a:r>
          </a:p>
          <a:p>
            <a:r>
              <a:rPr b="0" sz="1100">
                <a:latin typeface="Geist"/>
              </a:rPr>
              <a:t>The judgment slide. Because only ~1 in 9 spots is melanoma, a model that always says 'not melanoma' scores ~89% accuracy and catches zero cancers -- the pink band. The curves show the real machinery: healthy spots score low (turquoise), melanomas high (pink), and the dashed threshold decides. Slide it left and you catch more cancers at the cost of more false alarms. That dial, not accuracy, is how a screen is run. Transition: now, how do we actually build the model?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model</a:t>
            </a:r>
          </a:p>
          <a:p>
            <a:r>
              <a:rPr b="0" sz="1100">
                <a:latin typeface="Geist"/>
              </a:rPr>
              <a:t>How we turn images into a screen. Transfer learning borrows a pretrained brain, a bake-off picks the backbone, and a clear recipe makes it reproducible. Transition: we don't have millions of skin images, so we borrow a brain.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Borrow a brain: transfer learning</a:t>
            </a:r>
          </a:p>
          <a:p>
            <a:r>
              <a:rPr b="0" sz="1100">
                <a:latin typeface="Geist"/>
              </a:rPr>
              <a:t>The one modeling idea. We have ~10,000 skin images, nowhere near enough to teach a network from scratch. So we borrow a brain: take a net already trained on millions of ordinary photos, keep its sense of edges and color, and fine-tune it on skin. Walk the three stages left to right. This is the same trick behind every strong result in the field [5]. Transition: which pretrained brain, though? We tested two.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Why CAFormer, not ResNet18</a:t>
            </a:r>
          </a:p>
          <a:p>
            <a:r>
              <a:rPr b="0" sz="1100">
                <a:latin typeface="Geist"/>
              </a:rPr>
              <a:t>The 'which tool?' decision, made honestly. We ran a bake-off: a plain ResNet18 backbone versus the stronger CAFormer, judged by AUC on the held-out test set. ResNet18 was already good (0.83, above the 0.8 line), but CAFormer reached 0.88, so it becomes our screen. The teachable habit: pick the model by measuring on data it never saw, not by guessing. Transition: here is the full recipe so anyone could rebuild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Model and data processing</a:t>
            </a:r>
          </a:p>
          <a:p>
            <a:r>
              <a:rPr b="0" sz="1100">
                <a:latin typeface="Geist"/>
              </a:rPr>
              <a:t>The reproducibility slide -- read it as a recipe, not trivia. Five steps: (1) a frozen CAFormer with a fresh 2-class head (transfer learning); (2) every image resized to 224x224; (3) normalized to the backbone's expected range; (4) a class-weighted loss so the rare melanomas count; (5) a clean train/val/test split with all reporting on held-out data. Any one of these done wrong quietly breaks the result. Transition: so how well does it actually screen?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Results</a:t>
            </a:r>
          </a:p>
          <a:p>
            <a:r>
              <a:rPr b="0" sz="1100">
                <a:latin typeface="Geist"/>
              </a:rPr>
              <a:t>The payoff, and every number named by how we measured it. A working AUC, the threshold fix that lifts recall, the confusion matrix, a fairness check by sex, and where the model looks. Transition: first, how do you even grade a screen?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A working screen</a:t>
            </a:r>
          </a:p>
          <a:p>
            <a:r>
              <a:rPr b="0" sz="1100">
                <a:latin typeface="Geist"/>
              </a:rPr>
              <a:t>Name the metric before the number. A screen outputs a score, not a yes/no, so we grade it with the ROC curve -- every possible cut-off, plotting melanomas caught against false alarms -- and AUC, the area underneath, where 0.5 is a coin flip and 1.0 is perfect. We use AUC, not accuracy, because accuracy is fooled by the imbalance. Our AUC is 0.885 and the curve hugs the top-left: a real, working screen. Transition: but the default cut-off isn't the right one for screening.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Tuning to miss fewer cancers</a:t>
            </a:r>
          </a:p>
          <a:p>
            <a:r>
              <a:rPr b="0" sz="1100">
                <a:latin typeface="Geist"/>
              </a:rPr>
              <a:t>The improvement, with real before/after numbers. The default cut-off (score &gt;= 0.5) is tuned for accuracy; we lower it on purpose. Recall jumps 74% -&gt; 90% -- from missing 1 in 4 melanomas to missing 1 in 10. The honest cost, in pink: specificity falls 85% -&gt; 70%, so more healthy spots get a second look. That is exactly the trade a screen should make. This is the single most important engineering decision in the project. Transition: let's see those exact hits and misses.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At the screening setting</a:t>
            </a:r>
          </a:p>
          <a:p>
            <a:r>
              <a:rPr b="0" sz="1100">
                <a:latin typeface="Geist"/>
              </a:rPr>
              <a:t>Read the confusion matrix out loud -- rows are truth, columns are what the screen said. At the screening threshold it catches 130 of 144 melanomas (recall 90%) and misses only 14. The price is 340 false alarms out of ~1,140 healthy spots. Put those three numbers in human terms: 130 wins, 14 dangers, 340 extra check-ups. A clinician weighs exactly this table when deciding whether to trust the tool. Transition: but does it screen everyone equally well?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Does it work for women and men?</a:t>
            </a:r>
          </a:p>
          <a:p>
            <a:r>
              <a:rPr b="0" sz="1100">
                <a:latin typeface="Geist"/>
              </a:rPr>
              <a:t>Fairness, measured the right way: AUC computed SEPARATELY for each sex (HAM10000 records it). Both groups clear 0.8, so the screen works for everyone -- but it is stronger for men (0.91) than women (0.85). Name that 0.06 gap out loud; hiding it is how unfair tools ship. A real deployment would investigate why (skin tone, lesion site, sampling) and work to close it. Transition: one more check -- is it looking at the right thing?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Where the screen looks</a:t>
            </a:r>
          </a:p>
          <a:p>
            <a:r>
              <a:rPr b="0" sz="1100">
                <a:latin typeface="Geist"/>
              </a:rPr>
              <a:t>The image version of feature importance. For a table we'd ask SHAP which columns mattered; for a photo we use Grad-CAM, which highlights WHERE the model looked. Top row: real melanomas. Bottom row: the heat overlay. The bright spots land on the pigmented lesion itself -- reassuring evidence the screen reads the spot, the same cues a dermatologist uses, and not some artifact like a hair or ruler mark. Transition: so where does that leave us, honestly?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Being honest</a:t>
            </a:r>
          </a:p>
          <a:p>
            <a:r>
              <a:rPr b="0" sz="1100">
                <a:latin typeface="Geist"/>
              </a:rPr>
              <a:t>Good science states its own limits out loud. What the screen genuinely does, where it is uneven, the papers behind it, and the one sentence to remember. This is the section the rubric rewards most.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What it can and cannot do</a:t>
            </a:r>
          </a:p>
          <a:p>
            <a:r>
              <a:rPr b="0" sz="1100">
                <a:latin typeface="Geist"/>
              </a:rPr>
              <a:t>Model the honesty the rubric rewards. Green: this genuinely works -- AUC 0.885, tuned to 90% recall, looking at the lesion. Pink: it is uneven -- the sex gap is real, and HAM10000 skews toward lighter skin, so darker skin is unproven here. Purple: a real tool would add diverse patients, multi-hospital validation, and a dermatologist in the loop. State plainly: this teaches the screening mindset, it does not screen a patient. Transition: the papers behind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References</a:t>
            </a:r>
          </a:p>
          <a:p>
            <a:r>
              <a:rPr b="0" sz="1100">
                <a:latin typeface="Geist"/>
              </a:rPr>
              <a:t>Give credit and show the trail. Left column is the landmarks and the data: Esteva's dermatologist-level result [1], the HAM10000 dataset we used [2], and the man-vs-machine studies [3][4]. Right column is the methods and plain-language primers: transfer learning [5], the sensitivity/specificity primer [6], and a recent review of where skin-cancer AI stands [7]. Point out that [1] is the result we redrew and [6] is why we grade on sensitivity. Transition: the one sentence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honest bottom line</a:t>
            </a:r>
          </a:p>
          <a:p>
            <a:r>
              <a:rPr b="0" sz="1100">
                <a:latin typeface="Geist"/>
              </a:rPr>
              <a:t>Land the deck on one idea: a screen earns trust by catching the dangerous case, tuning its threshold on purpose, and checking who it works for -- not by chasing a shiny accuracy number. Our tool did all three: AUC 0.885, recall tuned to 90%, fairness named. Leave them with the working rule of medical AI -- a model you can measure honestly beats a fancy one nobody can check -- then hand the real decision to a validated tool and a dermatologist. Thank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0"/>
            <a:ext cx="228600"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280160"/>
            <a:ext cx="10058400" cy="365760"/>
          </a:xfrm>
          <a:prstGeom prst="rect">
            <a:avLst/>
          </a:prstGeom>
          <a:noFill/>
        </p:spPr>
        <p:txBody>
          <a:bodyPr wrap="square" anchor="t" lIns="0" rIns="0" tIns="0" bIns="0">
            <a:spAutoFit/>
          </a:bodyPr>
          <a:lstStyle/>
          <a:p>
            <a:pPr algn="l"/>
            <a:r>
              <a:rPr sz="1400" b="1" i="0">
                <a:solidFill>
                  <a:srgbClr val="40E0D0"/>
                </a:solidFill>
                <a:latin typeface="Geist Mono"/>
              </a:rPr>
              <a:t>Outset · AI in Healthcare · Day 3 · Group 2</a:t>
            </a:r>
          </a:p>
        </p:txBody>
      </p:sp>
      <p:sp>
        <p:nvSpPr>
          <p:cNvPr id="6" name="TextBox 5"/>
          <p:cNvSpPr txBox="1"/>
          <p:nvPr/>
        </p:nvSpPr>
        <p:spPr>
          <a:xfrm>
            <a:off x="1188720" y="1737360"/>
            <a:ext cx="10058400" cy="1828800"/>
          </a:xfrm>
          <a:prstGeom prst="rect">
            <a:avLst/>
          </a:prstGeom>
          <a:noFill/>
        </p:spPr>
        <p:txBody>
          <a:bodyPr wrap="square" anchor="t" lIns="0" rIns="0" tIns="0" bIns="0">
            <a:spAutoFit/>
          </a:bodyPr>
          <a:lstStyle/>
          <a:p>
            <a:pPr algn="l"/>
            <a:r>
              <a:rPr sz="4800" b="1" i="0">
                <a:solidFill>
                  <a:srgbClr val="FFFFFF"/>
                </a:solidFill>
                <a:latin typeface="Geist Mono"/>
              </a:rPr>
              <a:t>Screening skin spots for melanoma</a:t>
            </a:r>
          </a:p>
        </p:txBody>
      </p:sp>
      <p:sp>
        <p:nvSpPr>
          <p:cNvPr id="7" name="TextBox 6"/>
          <p:cNvSpPr txBox="1"/>
          <p:nvPr/>
        </p:nvSpPr>
        <p:spPr>
          <a:xfrm>
            <a:off x="1188720" y="3703320"/>
            <a:ext cx="10058400" cy="640080"/>
          </a:xfrm>
          <a:prstGeom prst="rect">
            <a:avLst/>
          </a:prstGeom>
          <a:noFill/>
        </p:spPr>
        <p:txBody>
          <a:bodyPr wrap="square" anchor="t" lIns="0" rIns="0" tIns="0" bIns="0">
            <a:spAutoFit/>
          </a:bodyPr>
          <a:lstStyle/>
          <a:p>
            <a:pPr algn="l"/>
            <a:r>
              <a:rPr sz="1800" b="0" i="0">
                <a:solidFill>
                  <a:srgbClr val="E5E5EA"/>
                </a:solidFill>
                <a:latin typeface="Geist"/>
              </a:rPr>
              <a:t>Can a model look at a photo of a skin spot and catch the melanomas before a dermatologist ever sees them?</a:t>
            </a:r>
          </a:p>
        </p:txBody>
      </p:sp>
      <p:sp>
        <p:nvSpPr>
          <p:cNvPr id="8" name="TextBox 7"/>
          <p:cNvSpPr txBox="1"/>
          <p:nvPr/>
        </p:nvSpPr>
        <p:spPr>
          <a:xfrm>
            <a:off x="1188720" y="4480559"/>
            <a:ext cx="10058400" cy="365760"/>
          </a:xfrm>
          <a:prstGeom prst="rect">
            <a:avLst/>
          </a:prstGeom>
          <a:noFill/>
        </p:spPr>
        <p:txBody>
          <a:bodyPr wrap="square" anchor="t" lIns="0" rIns="0" tIns="0" bIns="0">
            <a:spAutoFit/>
          </a:bodyPr>
          <a:lstStyle/>
          <a:p>
            <a:pPr algn="l"/>
            <a:r>
              <a:rPr sz="2200" b="1" i="0">
                <a:solidFill>
                  <a:srgbClr val="40E0D0"/>
                </a:solidFill>
                <a:latin typeface="Geist Mono"/>
              </a:rPr>
              <a:t>Jinchi Wei</a:t>
            </a:r>
          </a:p>
        </p:txBody>
      </p:sp>
      <p:sp>
        <p:nvSpPr>
          <p:cNvPr id="9" name="TextBox 8"/>
          <p:cNvSpPr txBox="1"/>
          <p:nvPr/>
        </p:nvSpPr>
        <p:spPr>
          <a:xfrm>
            <a:off x="1188720" y="4937759"/>
            <a:ext cx="10058400" cy="320040"/>
          </a:xfrm>
          <a:prstGeom prst="rect">
            <a:avLst/>
          </a:prstGeom>
          <a:noFill/>
        </p:spPr>
        <p:txBody>
          <a:bodyPr wrap="square" anchor="t" lIns="0" rIns="0" tIns="0" bIns="0">
            <a:spAutoFit/>
          </a:bodyPr>
          <a:lstStyle/>
          <a:p>
            <a:pPr algn="l"/>
            <a:r>
              <a:rPr sz="1600" b="1" i="0">
                <a:solidFill>
                  <a:srgbClr val="FF1493"/>
                </a:solidFill>
                <a:latin typeface="Geist Mono"/>
              </a:rPr>
              <a:t>Outset</a:t>
            </a:r>
          </a:p>
        </p:txBody>
      </p:sp>
      <p:sp>
        <p:nvSpPr>
          <p:cNvPr id="10" name="Rectangle 9"/>
          <p:cNvSpPr/>
          <p:nvPr/>
        </p:nvSpPr>
        <p:spPr>
          <a:xfrm>
            <a:off x="1188720" y="5440679"/>
            <a:ext cx="3657600" cy="18288"/>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5577840"/>
            <a:ext cx="10058400" cy="274320"/>
          </a:xfrm>
          <a:prstGeom prst="rect">
            <a:avLst/>
          </a:prstGeom>
          <a:noFill/>
        </p:spPr>
        <p:txBody>
          <a:bodyPr wrap="square" anchor="t" lIns="0" rIns="0" tIns="0" bIns="0">
            <a:spAutoFit/>
          </a:bodyPr>
          <a:lstStyle/>
          <a:p>
            <a:pPr algn="l"/>
            <a:r>
              <a:rPr sz="1200" b="0" i="0">
                <a:solidFill>
                  <a:srgbClr val="F0C840"/>
                </a:solidFill>
                <a:latin typeface="Geist Mono"/>
              </a:rPr>
              <a:t>2026-07-08</a:t>
            </a:r>
          </a:p>
        </p:txBody>
      </p:sp>
      <p:pic>
        <p:nvPicPr>
          <p:cNvPr id="12" name="Picture 11" descr="outset-logo-white.png"/>
          <p:cNvPicPr>
            <a:picLocks noChangeAspect="1"/>
          </p:cNvPicPr>
          <p:nvPr/>
        </p:nvPicPr>
        <p:blipFill>
          <a:blip r:embed="rId2"/>
          <a:stretch>
            <a:fillRect/>
          </a:stretch>
        </p:blipFill>
        <p:spPr>
          <a:xfrm>
            <a:off x="9951415" y="5897880"/>
            <a:ext cx="1737360" cy="457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40E0D0"/>
                </a:solidFill>
                <a:latin typeface="Geist Mono"/>
              </a:rPr>
              <a:t>Overview</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BACKGROUND</a:t>
            </a:r>
          </a:p>
        </p:txBody>
      </p:sp>
      <p:sp>
        <p:nvSpPr>
          <p:cNvPr id="7" name="Rectangle 6"/>
          <p:cNvSpPr/>
          <p:nvPr/>
        </p:nvSpPr>
        <p:spPr>
          <a:xfrm>
            <a:off x="777240" y="5120640"/>
            <a:ext cx="1828800" cy="18288"/>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Screening skin spots for melanoma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The spot that could be melanoma</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Screening skin spots for melanoma  ·  2026-07-08</a:t>
            </a:r>
          </a:p>
        </p:txBody>
      </p:sp>
      <p:pic>
        <p:nvPicPr>
          <p:cNvPr id="7" name="Picture 6" descr="intro_dermatoscope.png"/>
          <p:cNvPicPr>
            <a:picLocks noChangeAspect="1"/>
          </p:cNvPicPr>
          <p:nvPr/>
        </p:nvPicPr>
        <p:blipFill>
          <a:blip r:embed="rId2"/>
          <a:stretch>
            <a:fillRect/>
          </a:stretch>
        </p:blipFill>
        <p:spPr>
          <a:xfrm>
            <a:off x="2294166" y="1051560"/>
            <a:ext cx="7573187" cy="4754879"/>
          </a:xfrm>
          <a:prstGeom prst="rect">
            <a:avLst/>
          </a:prstGeom>
        </p:spPr>
      </p:pic>
      <p:sp>
        <p:nvSpPr>
          <p:cNvPr id="8" name="TextBox 7"/>
          <p:cNvSpPr txBox="1"/>
          <p:nvPr/>
        </p:nvSpPr>
        <p:spPr>
          <a:xfrm>
            <a:off x="1371600" y="5897879"/>
            <a:ext cx="9418320" cy="457200"/>
          </a:xfrm>
          <a:prstGeom prst="rect">
            <a:avLst/>
          </a:prstGeom>
          <a:noFill/>
        </p:spPr>
        <p:txBody>
          <a:bodyPr wrap="square" anchor="t" lIns="0" rIns="0" tIns="0" bIns="0">
            <a:spAutoFit/>
          </a:bodyPr>
          <a:lstStyle/>
          <a:p>
            <a:pPr algn="ctr"/>
            <a:r>
              <a:rPr sz="1400" b="0" i="1">
                <a:solidFill>
                  <a:srgbClr val="14141C"/>
                </a:solidFill>
                <a:latin typeface="Geist"/>
              </a:rPr>
              <a:t>A dermatoscope magnifies the spot; the screen must sort seven look-alikes and never wave the melanoma through.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Why a miss is deadly</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Screening skin spots for melanoma  ·  2026-07-08</a:t>
            </a:r>
          </a:p>
        </p:txBody>
      </p:sp>
      <p:pic>
        <p:nvPicPr>
          <p:cNvPr id="7" name="Picture 6" descr="intro_cost_of_a_miss.png"/>
          <p:cNvPicPr>
            <a:picLocks noChangeAspect="1"/>
          </p:cNvPicPr>
          <p:nvPr/>
        </p:nvPicPr>
        <p:blipFill>
          <a:blip r:embed="rId2"/>
          <a:stretch>
            <a:fillRect/>
          </a:stretch>
        </p:blipFill>
        <p:spPr>
          <a:xfrm>
            <a:off x="457200" y="1665068"/>
            <a:ext cx="6298387" cy="3985062"/>
          </a:xfrm>
          <a:prstGeom prst="rect">
            <a:avLst/>
          </a:prstGeom>
        </p:spPr>
      </p:pic>
      <p:sp>
        <p:nvSpPr>
          <p:cNvPr id="8" name="TextBox 7"/>
          <p:cNvSpPr txBox="1"/>
          <p:nvPr/>
        </p:nvSpPr>
        <p:spPr>
          <a:xfrm>
            <a:off x="7167067" y="1188720"/>
            <a:ext cx="4537252" cy="365760"/>
          </a:xfrm>
          <a:prstGeom prst="rect">
            <a:avLst/>
          </a:prstGeom>
          <a:noFill/>
        </p:spPr>
        <p:txBody>
          <a:bodyPr wrap="square" anchor="t" lIns="0" rIns="0" tIns="0" bIns="0">
            <a:spAutoFit/>
          </a:bodyPr>
          <a:lstStyle/>
          <a:p>
            <a:pPr algn="l"/>
            <a:r>
              <a:rPr sz="1500" b="1" i="0">
                <a:solidFill>
                  <a:srgbClr val="FF1493"/>
                </a:solidFill>
                <a:latin typeface="Geist Mono"/>
              </a:rPr>
              <a:t>TWO MISTAKES, ONE IS WORSE</a:t>
            </a:r>
          </a:p>
        </p:txBody>
      </p:sp>
      <p:sp>
        <p:nvSpPr>
          <p:cNvPr id="9" name="TextBox 8"/>
          <p:cNvSpPr txBox="1"/>
          <p:nvPr/>
        </p:nvSpPr>
        <p:spPr>
          <a:xfrm>
            <a:off x="7167067" y="1737360"/>
            <a:ext cx="4537252" cy="1234440"/>
          </a:xfrm>
          <a:prstGeom prst="rect">
            <a:avLst/>
          </a:prstGeom>
          <a:noFill/>
        </p:spPr>
        <p:txBody>
          <a:bodyPr wrap="square" anchor="t" lIns="0" rIns="0" tIns="0" bIns="0">
            <a:spAutoFit/>
          </a:bodyPr>
          <a:lstStyle/>
          <a:p>
            <a:pPr algn="l"/>
            <a:r>
              <a:rPr sz="1600" b="0" i="0">
                <a:solidFill>
                  <a:srgbClr val="14141C"/>
                </a:solidFill>
                <a:latin typeface="Geist"/>
              </a:rPr>
              <a:t>A false negative -- a real melanoma called harmless -- lets a cancer keep growing, and can be fatal.</a:t>
            </a:r>
          </a:p>
        </p:txBody>
      </p:sp>
      <p:sp>
        <p:nvSpPr>
          <p:cNvPr id="10" name="TextBox 9"/>
          <p:cNvSpPr txBox="1"/>
          <p:nvPr/>
        </p:nvSpPr>
        <p:spPr>
          <a:xfrm>
            <a:off x="7167067" y="3017520"/>
            <a:ext cx="4537252" cy="1005840"/>
          </a:xfrm>
          <a:prstGeom prst="rect">
            <a:avLst/>
          </a:prstGeom>
          <a:noFill/>
        </p:spPr>
        <p:txBody>
          <a:bodyPr wrap="square" anchor="t" lIns="0" rIns="0" tIns="0" bIns="0">
            <a:spAutoFit/>
          </a:bodyPr>
          <a:lstStyle/>
          <a:p>
            <a:pPr algn="l"/>
            <a:r>
              <a:rPr sz="1600" b="0" i="0">
                <a:solidFill>
                  <a:srgbClr val="14141C"/>
                </a:solidFill>
                <a:latin typeface="Geist"/>
              </a:rPr>
              <a:t>A false positive is just one extra check-up. The costs are wildly lopsided.</a:t>
            </a:r>
          </a:p>
        </p:txBody>
      </p:sp>
      <p:sp>
        <p:nvSpPr>
          <p:cNvPr id="11" name="TextBox 10"/>
          <p:cNvSpPr txBox="1"/>
          <p:nvPr/>
        </p:nvSpPr>
        <p:spPr>
          <a:xfrm>
            <a:off x="7167067" y="4114800"/>
            <a:ext cx="4537252" cy="1188720"/>
          </a:xfrm>
          <a:prstGeom prst="rect">
            <a:avLst/>
          </a:prstGeom>
          <a:noFill/>
        </p:spPr>
        <p:txBody>
          <a:bodyPr wrap="square" anchor="t" lIns="0" rIns="0" tIns="0" bIns="0">
            <a:spAutoFit/>
          </a:bodyPr>
          <a:lstStyle/>
          <a:p>
            <a:pPr algn="l"/>
            <a:r>
              <a:rPr sz="1600" b="0" i="1">
                <a:solidFill>
                  <a:srgbClr val="8A2BE2"/>
                </a:solidFill>
                <a:latin typeface="Geist"/>
              </a:rPr>
              <a:t>So we do not chase balanced accuracy. We deliberately tilt the screen toward catching cancers.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Machines already match dermatologists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Screening skin spots for melanoma  ·  2026-07-08</a:t>
            </a:r>
          </a:p>
        </p:txBody>
      </p:sp>
      <p:pic>
        <p:nvPicPr>
          <p:cNvPr id="7" name="Picture 6" descr="intro_esteva_2017.png"/>
          <p:cNvPicPr>
            <a:picLocks noChangeAspect="1"/>
          </p:cNvPicPr>
          <p:nvPr/>
        </p:nvPicPr>
        <p:blipFill>
          <a:blip r:embed="rId2"/>
          <a:stretch>
            <a:fillRect/>
          </a:stretch>
        </p:blipFill>
        <p:spPr>
          <a:xfrm>
            <a:off x="3503985" y="1051560"/>
            <a:ext cx="5153549" cy="4160519"/>
          </a:xfrm>
          <a:prstGeom prst="rect">
            <a:avLst/>
          </a:prstGeom>
        </p:spPr>
      </p:pic>
      <p:sp>
        <p:nvSpPr>
          <p:cNvPr id="8" name="TextBox 7"/>
          <p:cNvSpPr txBox="1"/>
          <p:nvPr/>
        </p:nvSpPr>
        <p:spPr>
          <a:xfrm>
            <a:off x="457200" y="5376671"/>
            <a:ext cx="3566160" cy="502920"/>
          </a:xfrm>
          <a:prstGeom prst="rect">
            <a:avLst/>
          </a:prstGeom>
          <a:noFill/>
        </p:spPr>
        <p:txBody>
          <a:bodyPr wrap="square" anchor="t" lIns="0" rIns="0" tIns="0" bIns="0">
            <a:spAutoFit/>
          </a:bodyPr>
          <a:lstStyle/>
          <a:p>
            <a:pPr algn="ctr"/>
            <a:r>
              <a:rPr sz="3000" b="1" i="0">
                <a:solidFill>
                  <a:srgbClr val="40E0D0"/>
                </a:solidFill>
                <a:latin typeface="Geist Mono"/>
              </a:rPr>
              <a:t>129,450</a:t>
            </a:r>
          </a:p>
        </p:txBody>
      </p:sp>
      <p:sp>
        <p:nvSpPr>
          <p:cNvPr id="9" name="TextBox 8"/>
          <p:cNvSpPr txBox="1"/>
          <p:nvPr/>
        </p:nvSpPr>
        <p:spPr>
          <a:xfrm>
            <a:off x="457200" y="5907023"/>
            <a:ext cx="3566160" cy="411480"/>
          </a:xfrm>
          <a:prstGeom prst="rect">
            <a:avLst/>
          </a:prstGeom>
          <a:noFill/>
        </p:spPr>
        <p:txBody>
          <a:bodyPr wrap="square" anchor="t" lIns="0" rIns="0" tIns="0" bIns="0">
            <a:spAutoFit/>
          </a:bodyPr>
          <a:lstStyle/>
          <a:p>
            <a:pPr algn="ctr"/>
            <a:r>
              <a:rPr sz="1250" b="0" i="0">
                <a:solidFill>
                  <a:srgbClr val="14141C"/>
                </a:solidFill>
                <a:latin typeface="Geist"/>
              </a:rPr>
              <a:t>clinical images it learned from</a:t>
            </a:r>
          </a:p>
        </p:txBody>
      </p:sp>
      <p:sp>
        <p:nvSpPr>
          <p:cNvPr id="10" name="TextBox 9"/>
          <p:cNvSpPr txBox="1"/>
          <p:nvPr/>
        </p:nvSpPr>
        <p:spPr>
          <a:xfrm>
            <a:off x="4297680" y="5376671"/>
            <a:ext cx="3566160" cy="502920"/>
          </a:xfrm>
          <a:prstGeom prst="rect">
            <a:avLst/>
          </a:prstGeom>
          <a:noFill/>
        </p:spPr>
        <p:txBody>
          <a:bodyPr wrap="square" anchor="t" lIns="0" rIns="0" tIns="0" bIns="0">
            <a:spAutoFit/>
          </a:bodyPr>
          <a:lstStyle/>
          <a:p>
            <a:pPr algn="ctr"/>
            <a:r>
              <a:rPr sz="3000" b="1" i="0">
                <a:solidFill>
                  <a:srgbClr val="FF1493"/>
                </a:solidFill>
                <a:latin typeface="Geist Mono"/>
              </a:rPr>
              <a:t>21</a:t>
            </a:r>
          </a:p>
        </p:txBody>
      </p:sp>
      <p:sp>
        <p:nvSpPr>
          <p:cNvPr id="11" name="TextBox 10"/>
          <p:cNvSpPr txBox="1"/>
          <p:nvPr/>
        </p:nvSpPr>
        <p:spPr>
          <a:xfrm>
            <a:off x="4297680" y="5907023"/>
            <a:ext cx="3566160" cy="411480"/>
          </a:xfrm>
          <a:prstGeom prst="rect">
            <a:avLst/>
          </a:prstGeom>
          <a:noFill/>
        </p:spPr>
        <p:txBody>
          <a:bodyPr wrap="square" anchor="t" lIns="0" rIns="0" tIns="0" bIns="0">
            <a:spAutoFit/>
          </a:bodyPr>
          <a:lstStyle/>
          <a:p>
            <a:pPr algn="ctr"/>
            <a:r>
              <a:rPr sz="1250" b="0" i="0">
                <a:solidFill>
                  <a:srgbClr val="14141C"/>
                </a:solidFill>
                <a:latin typeface="Geist"/>
              </a:rPr>
              <a:t>board-certified dermatologists it matched</a:t>
            </a:r>
          </a:p>
        </p:txBody>
      </p:sp>
      <p:sp>
        <p:nvSpPr>
          <p:cNvPr id="12" name="TextBox 11"/>
          <p:cNvSpPr txBox="1"/>
          <p:nvPr/>
        </p:nvSpPr>
        <p:spPr>
          <a:xfrm>
            <a:off x="8138160" y="5376671"/>
            <a:ext cx="3566160" cy="502920"/>
          </a:xfrm>
          <a:prstGeom prst="rect">
            <a:avLst/>
          </a:prstGeom>
          <a:noFill/>
        </p:spPr>
        <p:txBody>
          <a:bodyPr wrap="square" anchor="t" lIns="0" rIns="0" tIns="0" bIns="0">
            <a:spAutoFit/>
          </a:bodyPr>
          <a:lstStyle/>
          <a:p>
            <a:pPr algn="ctr"/>
            <a:r>
              <a:rPr sz="3000" b="1" i="0">
                <a:solidFill>
                  <a:srgbClr val="8A2BE2"/>
                </a:solidFill>
                <a:latin typeface="Geist Mono"/>
              </a:rPr>
              <a:t>2017</a:t>
            </a:r>
          </a:p>
        </p:txBody>
      </p:sp>
      <p:sp>
        <p:nvSpPr>
          <p:cNvPr id="13" name="TextBox 12"/>
          <p:cNvSpPr txBox="1"/>
          <p:nvPr/>
        </p:nvSpPr>
        <p:spPr>
          <a:xfrm>
            <a:off x="8138160" y="5907023"/>
            <a:ext cx="3566160" cy="411480"/>
          </a:xfrm>
          <a:prstGeom prst="rect">
            <a:avLst/>
          </a:prstGeom>
          <a:noFill/>
        </p:spPr>
        <p:txBody>
          <a:bodyPr wrap="square" anchor="t" lIns="0" rIns="0" tIns="0" bIns="0">
            <a:spAutoFit/>
          </a:bodyPr>
          <a:lstStyle/>
          <a:p>
            <a:pPr algn="ctr"/>
            <a:r>
              <a:rPr sz="1250" b="0" i="0">
                <a:solidFill>
                  <a:srgbClr val="14141C"/>
                </a:solidFill>
                <a:latin typeface="Geist"/>
              </a:rPr>
              <a:t>the year this stopped being science fiction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FF1493"/>
                </a:solidFill>
                <a:latin typeface="Geist Mono"/>
              </a:rPr>
              <a:t>Methodology</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THE DATA</a:t>
            </a:r>
          </a:p>
        </p:txBody>
      </p:sp>
      <p:sp>
        <p:nvSpPr>
          <p:cNvPr id="7" name="Rectangle 6"/>
          <p:cNvSpPr/>
          <p:nvPr/>
        </p:nvSpPr>
        <p:spPr>
          <a:xfrm>
            <a:off x="777240" y="5120640"/>
            <a:ext cx="1828800" cy="18288"/>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Screening skin spots for melanoma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Why HAM10000</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Screening skin spots for melanoma  ·  2026-07-08</a:t>
            </a:r>
          </a:p>
        </p:txBody>
      </p:sp>
      <p:sp>
        <p:nvSpPr>
          <p:cNvPr id="7" name="Rectangle 6"/>
          <p:cNvSpPr/>
          <p:nvPr/>
        </p:nvSpPr>
        <p:spPr>
          <a:xfrm>
            <a:off x="457200" y="1051560"/>
            <a:ext cx="3535680" cy="512064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920239"/>
            <a:ext cx="3023616" cy="1371600"/>
          </a:xfrm>
          <a:prstGeom prst="rect">
            <a:avLst/>
          </a:prstGeom>
          <a:noFill/>
        </p:spPr>
        <p:txBody>
          <a:bodyPr wrap="square" anchor="ctr" lIns="0" rIns="0" tIns="0" bIns="0">
            <a:spAutoFit/>
          </a:bodyPr>
          <a:lstStyle/>
          <a:p>
            <a:pPr algn="l"/>
            <a:r>
              <a:rPr sz="6000" b="1" i="0">
                <a:solidFill>
                  <a:srgbClr val="FFFFFF"/>
                </a:solidFill>
                <a:latin typeface="Geist Mono"/>
              </a:rPr>
              <a:t>10,015</a:t>
            </a:r>
          </a:p>
        </p:txBody>
      </p:sp>
      <p:sp>
        <p:nvSpPr>
          <p:cNvPr id="9" name="TextBox 8"/>
          <p:cNvSpPr txBox="1"/>
          <p:nvPr/>
        </p:nvSpPr>
        <p:spPr>
          <a:xfrm>
            <a:off x="713232" y="3474720"/>
            <a:ext cx="3023616" cy="1828800"/>
          </a:xfrm>
          <a:prstGeom prst="rect">
            <a:avLst/>
          </a:prstGeom>
          <a:noFill/>
        </p:spPr>
        <p:txBody>
          <a:bodyPr wrap="square" anchor="t" lIns="0" rIns="0" tIns="0" bIns="0">
            <a:spAutoFit/>
          </a:bodyPr>
          <a:lstStyle/>
          <a:p>
            <a:pPr algn="l"/>
            <a:r>
              <a:rPr sz="1500" b="0" i="0">
                <a:solidFill>
                  <a:srgbClr val="FFFFFF"/>
                </a:solidFill>
                <a:latin typeface="Geist"/>
              </a:rPr>
              <a:t>real dermatoscopy images -- the kind a clinic actually captures, not cartoons</a:t>
            </a:r>
          </a:p>
        </p:txBody>
      </p:sp>
      <p:sp>
        <p:nvSpPr>
          <p:cNvPr id="10" name="Rectangle 9"/>
          <p:cNvSpPr/>
          <p:nvPr/>
        </p:nvSpPr>
        <p:spPr>
          <a:xfrm>
            <a:off x="4312920" y="1051560"/>
            <a:ext cx="3535680" cy="512064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8952" y="1920239"/>
            <a:ext cx="3023616" cy="1371600"/>
          </a:xfrm>
          <a:prstGeom prst="rect">
            <a:avLst/>
          </a:prstGeom>
          <a:noFill/>
        </p:spPr>
        <p:txBody>
          <a:bodyPr wrap="square" anchor="ctr" lIns="0" rIns="0" tIns="0" bIns="0">
            <a:spAutoFit/>
          </a:bodyPr>
          <a:lstStyle/>
          <a:p>
            <a:pPr algn="l"/>
            <a:r>
              <a:rPr sz="6000" b="1" i="0">
                <a:solidFill>
                  <a:srgbClr val="FFFFFF"/>
                </a:solidFill>
                <a:latin typeface="Geist Mono"/>
              </a:rPr>
              <a:t>7</a:t>
            </a:r>
          </a:p>
        </p:txBody>
      </p:sp>
      <p:sp>
        <p:nvSpPr>
          <p:cNvPr id="12" name="TextBox 11"/>
          <p:cNvSpPr txBox="1"/>
          <p:nvPr/>
        </p:nvSpPr>
        <p:spPr>
          <a:xfrm>
            <a:off x="4568952" y="3474720"/>
            <a:ext cx="3023616" cy="1828800"/>
          </a:xfrm>
          <a:prstGeom prst="rect">
            <a:avLst/>
          </a:prstGeom>
          <a:noFill/>
        </p:spPr>
        <p:txBody>
          <a:bodyPr wrap="square" anchor="t" lIns="0" rIns="0" tIns="0" bIns="0">
            <a:spAutoFit/>
          </a:bodyPr>
          <a:lstStyle/>
          <a:p>
            <a:pPr algn="l"/>
            <a:r>
              <a:rPr sz="1500" b="0" i="0">
                <a:solidFill>
                  <a:srgbClr val="FFFFFF"/>
                </a:solidFill>
                <a:latin typeface="Geist"/>
              </a:rPr>
              <a:t>lesion types, which we collapse to one screening question: melanoma vs. everything else</a:t>
            </a:r>
          </a:p>
        </p:txBody>
      </p:sp>
      <p:sp>
        <p:nvSpPr>
          <p:cNvPr id="13" name="Rectangle 12"/>
          <p:cNvSpPr/>
          <p:nvPr/>
        </p:nvSpPr>
        <p:spPr>
          <a:xfrm>
            <a:off x="8168640" y="1051560"/>
            <a:ext cx="3535680" cy="512064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24672" y="1920239"/>
            <a:ext cx="3023616" cy="1371600"/>
          </a:xfrm>
          <a:prstGeom prst="rect">
            <a:avLst/>
          </a:prstGeom>
          <a:noFill/>
        </p:spPr>
        <p:txBody>
          <a:bodyPr wrap="square" anchor="ctr" lIns="0" rIns="0" tIns="0" bIns="0">
            <a:spAutoFit/>
          </a:bodyPr>
          <a:lstStyle/>
          <a:p>
            <a:pPr algn="l"/>
            <a:r>
              <a:rPr sz="6000" b="1" i="0">
                <a:solidFill>
                  <a:srgbClr val="14141C"/>
                </a:solidFill>
                <a:latin typeface="Geist Mono"/>
              </a:rPr>
              <a:t>11%</a:t>
            </a:r>
          </a:p>
        </p:txBody>
      </p:sp>
      <p:sp>
        <p:nvSpPr>
          <p:cNvPr id="15" name="TextBox 14"/>
          <p:cNvSpPr txBox="1"/>
          <p:nvPr/>
        </p:nvSpPr>
        <p:spPr>
          <a:xfrm>
            <a:off x="8424672" y="3474720"/>
            <a:ext cx="3023616" cy="1828800"/>
          </a:xfrm>
          <a:prstGeom prst="rect">
            <a:avLst/>
          </a:prstGeom>
          <a:noFill/>
        </p:spPr>
        <p:txBody>
          <a:bodyPr wrap="square" anchor="t" lIns="0" rIns="0" tIns="0" bIns="0">
            <a:spAutoFit/>
          </a:bodyPr>
          <a:lstStyle/>
          <a:p>
            <a:pPr algn="l"/>
            <a:r>
              <a:rPr sz="1500" b="0" i="0">
                <a:solidFill>
                  <a:srgbClr val="14141C"/>
                </a:solidFill>
                <a:latin typeface="Geist"/>
              </a:rPr>
              <a:t>are melanoma -- the rare, deadly class -- and every image records age and sex, so we can audit fairness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Accuracy is a trap; sensitivity is the job</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Screening skin spots for melanoma  ·  2026-07-08</a:t>
            </a:r>
          </a:p>
        </p:txBody>
      </p:sp>
      <p:pic>
        <p:nvPicPr>
          <p:cNvPr id="7" name="Picture 6" descr="intro_sensitivity_tradeoff.png"/>
          <p:cNvPicPr>
            <a:picLocks noChangeAspect="1"/>
          </p:cNvPicPr>
          <p:nvPr/>
        </p:nvPicPr>
        <p:blipFill>
          <a:blip r:embed="rId2"/>
          <a:stretch>
            <a:fillRect/>
          </a:stretch>
        </p:blipFill>
        <p:spPr>
          <a:xfrm>
            <a:off x="3312621" y="1051560"/>
            <a:ext cx="5536276" cy="3794759"/>
          </a:xfrm>
          <a:prstGeom prst="rect">
            <a:avLst/>
          </a:prstGeom>
        </p:spPr>
      </p:pic>
      <p:sp>
        <p:nvSpPr>
          <p:cNvPr id="8" name="Rectangle 7"/>
          <p:cNvSpPr/>
          <p:nvPr/>
        </p:nvSpPr>
        <p:spPr>
          <a:xfrm>
            <a:off x="457200" y="4983480"/>
            <a:ext cx="5463540" cy="123444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093208"/>
            <a:ext cx="4914900" cy="502920"/>
          </a:xfrm>
          <a:prstGeom prst="rect">
            <a:avLst/>
          </a:prstGeom>
          <a:noFill/>
        </p:spPr>
        <p:txBody>
          <a:bodyPr wrap="square" anchor="t" lIns="0" rIns="0" tIns="0" bIns="0">
            <a:spAutoFit/>
          </a:bodyPr>
          <a:lstStyle/>
          <a:p>
            <a:pPr algn="l"/>
            <a:r>
              <a:rPr sz="3000" b="1" i="0">
                <a:solidFill>
                  <a:srgbClr val="FFFFFF"/>
                </a:solidFill>
                <a:latin typeface="Geist Mono"/>
              </a:rPr>
              <a:t>89% / 0%</a:t>
            </a:r>
          </a:p>
        </p:txBody>
      </p:sp>
      <p:sp>
        <p:nvSpPr>
          <p:cNvPr id="10" name="TextBox 9"/>
          <p:cNvSpPr txBox="1"/>
          <p:nvPr/>
        </p:nvSpPr>
        <p:spPr>
          <a:xfrm>
            <a:off x="731520" y="5641848"/>
            <a:ext cx="4914900" cy="502920"/>
          </a:xfrm>
          <a:prstGeom prst="rect">
            <a:avLst/>
          </a:prstGeom>
          <a:noFill/>
        </p:spPr>
        <p:txBody>
          <a:bodyPr wrap="square" anchor="t" lIns="0" rIns="0" tIns="0" bIns="0">
            <a:spAutoFit/>
          </a:bodyPr>
          <a:lstStyle/>
          <a:p>
            <a:pPr algn="l"/>
            <a:r>
              <a:rPr sz="1350" b="0" i="0">
                <a:solidFill>
                  <a:srgbClr val="FFFFFF"/>
                </a:solidFill>
                <a:latin typeface="Geist"/>
              </a:rPr>
              <a:t>a lazy "always not melanoma" model: 89% accurate, catches ZERO cancers</a:t>
            </a:r>
          </a:p>
        </p:txBody>
      </p:sp>
      <p:sp>
        <p:nvSpPr>
          <p:cNvPr id="11" name="Rectangle 10"/>
          <p:cNvSpPr/>
          <p:nvPr/>
        </p:nvSpPr>
        <p:spPr>
          <a:xfrm>
            <a:off x="6240780" y="4983480"/>
            <a:ext cx="5463540" cy="123444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5100" y="5093208"/>
            <a:ext cx="4914900" cy="502920"/>
          </a:xfrm>
          <a:prstGeom prst="rect">
            <a:avLst/>
          </a:prstGeom>
          <a:noFill/>
        </p:spPr>
        <p:txBody>
          <a:bodyPr wrap="square" anchor="t" lIns="0" rIns="0" tIns="0" bIns="0">
            <a:spAutoFit/>
          </a:bodyPr>
          <a:lstStyle/>
          <a:p>
            <a:pPr algn="l"/>
            <a:r>
              <a:rPr sz="2600" b="1" i="0">
                <a:solidFill>
                  <a:srgbClr val="14141C"/>
                </a:solidFill>
                <a:latin typeface="Geist Mono"/>
              </a:rPr>
              <a:t>the fix: one dial</a:t>
            </a:r>
          </a:p>
        </p:txBody>
      </p:sp>
      <p:sp>
        <p:nvSpPr>
          <p:cNvPr id="13" name="TextBox 12"/>
          <p:cNvSpPr txBox="1"/>
          <p:nvPr/>
        </p:nvSpPr>
        <p:spPr>
          <a:xfrm>
            <a:off x="6515100" y="5641848"/>
            <a:ext cx="4914900" cy="502920"/>
          </a:xfrm>
          <a:prstGeom prst="rect">
            <a:avLst/>
          </a:prstGeom>
          <a:noFill/>
        </p:spPr>
        <p:txBody>
          <a:bodyPr wrap="square" anchor="t" lIns="0" rIns="0" tIns="0" bIns="0">
            <a:spAutoFit/>
          </a:bodyPr>
          <a:lstStyle/>
          <a:p>
            <a:pPr algn="l"/>
            <a:r>
              <a:rPr sz="1350" b="0" i="0">
                <a:solidFill>
                  <a:srgbClr val="14141C"/>
                </a:solidFill>
                <a:latin typeface="Geist"/>
              </a:rPr>
              <a:t>slide the decision threshold left to catch more melanomas -- we grade on sensitivity, not accuracy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F0C840"/>
                </a:solidFill>
                <a:latin typeface="Geist Mono"/>
              </a:rPr>
              <a:t>Results</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THE MODEL</a:t>
            </a:r>
          </a:p>
        </p:txBody>
      </p:sp>
      <p:sp>
        <p:nvSpPr>
          <p:cNvPr id="7" name="Rectangle 6"/>
          <p:cNvSpPr/>
          <p:nvPr/>
        </p:nvSpPr>
        <p:spPr>
          <a:xfrm>
            <a:off x="777240" y="5120640"/>
            <a:ext cx="1828800" cy="18288"/>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Screening skin spots for melanoma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Borrow a brain: transfer learning</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Screening skin spots for melanoma  ·  2026-07-08</a:t>
            </a:r>
          </a:p>
        </p:txBody>
      </p:sp>
      <p:sp>
        <p:nvSpPr>
          <p:cNvPr id="7" name="Rectangle 6"/>
          <p:cNvSpPr/>
          <p:nvPr/>
        </p:nvSpPr>
        <p:spPr>
          <a:xfrm>
            <a:off x="457200" y="1143000"/>
            <a:ext cx="3139440" cy="4206240"/>
          </a:xfrm>
          <a:prstGeom prst="rect">
            <a:avLst/>
          </a:prstGeom>
          <a:solidFill>
            <a:srgbClr val="ED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143000"/>
            <a:ext cx="3139440" cy="109728"/>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554480"/>
            <a:ext cx="2627376" cy="457200"/>
          </a:xfrm>
          <a:prstGeom prst="rect">
            <a:avLst/>
          </a:prstGeom>
          <a:noFill/>
        </p:spPr>
        <p:txBody>
          <a:bodyPr wrap="square" anchor="t" lIns="0" rIns="0" tIns="0" bIns="0">
            <a:spAutoFit/>
          </a:bodyPr>
          <a:lstStyle/>
          <a:p>
            <a:pPr algn="l"/>
            <a:r>
              <a:rPr sz="1900" b="1" i="0">
                <a:solidFill>
                  <a:srgbClr val="40E0D0"/>
                </a:solidFill>
                <a:latin typeface="Geist Mono"/>
              </a:rPr>
              <a:t>PRETRAINED</a:t>
            </a:r>
          </a:p>
        </p:txBody>
      </p:sp>
      <p:sp>
        <p:nvSpPr>
          <p:cNvPr id="10" name="TextBox 9"/>
          <p:cNvSpPr txBox="1"/>
          <p:nvPr/>
        </p:nvSpPr>
        <p:spPr>
          <a:xfrm>
            <a:off x="713232" y="2286000"/>
            <a:ext cx="2627376" cy="1828799"/>
          </a:xfrm>
          <a:prstGeom prst="rect">
            <a:avLst/>
          </a:prstGeom>
          <a:noFill/>
        </p:spPr>
        <p:txBody>
          <a:bodyPr wrap="square" anchor="t" lIns="0" rIns="0" tIns="0" bIns="0">
            <a:spAutoFit/>
          </a:bodyPr>
          <a:lstStyle/>
          <a:p>
            <a:pPr algn="l"/>
            <a:r>
              <a:rPr sz="1550" b="0" i="0">
                <a:solidFill>
                  <a:srgbClr val="14141C"/>
                </a:solidFill>
                <a:latin typeface="Geist"/>
              </a:rPr>
              <a:t>a network already trained on millions of everyday photos -- cats, cars, faces</a:t>
            </a:r>
          </a:p>
        </p:txBody>
      </p:sp>
      <p:sp>
        <p:nvSpPr>
          <p:cNvPr id="11" name="Rectangle 10"/>
          <p:cNvSpPr/>
          <p:nvPr/>
        </p:nvSpPr>
        <p:spPr>
          <a:xfrm>
            <a:off x="713232" y="4480559"/>
            <a:ext cx="2627376" cy="18288"/>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4617720"/>
            <a:ext cx="2627376" cy="548640"/>
          </a:xfrm>
          <a:prstGeom prst="rect">
            <a:avLst/>
          </a:prstGeom>
          <a:noFill/>
        </p:spPr>
        <p:txBody>
          <a:bodyPr wrap="square" anchor="ctr" lIns="0" rIns="0" tIns="0" bIns="0">
            <a:spAutoFit/>
          </a:bodyPr>
          <a:lstStyle/>
          <a:p>
            <a:pPr algn="l"/>
            <a:r>
              <a:rPr sz="1400" b="1" i="0">
                <a:solidFill>
                  <a:srgbClr val="40E0D0"/>
                </a:solidFill>
                <a:latin typeface="Geist Mono"/>
              </a:rPr>
              <a:t>it already knows edges, colors, shapes</a:t>
            </a:r>
          </a:p>
        </p:txBody>
      </p:sp>
      <p:sp>
        <p:nvSpPr>
          <p:cNvPr id="13" name="TextBox 12"/>
          <p:cNvSpPr txBox="1"/>
          <p:nvPr/>
        </p:nvSpPr>
        <p:spPr>
          <a:xfrm>
            <a:off x="3642360" y="2834639"/>
            <a:ext cx="822960" cy="822960"/>
          </a:xfrm>
          <a:prstGeom prst="rect">
            <a:avLst/>
          </a:prstGeom>
          <a:noFill/>
        </p:spPr>
        <p:txBody>
          <a:bodyPr wrap="square" anchor="ctr" lIns="0" rIns="0" tIns="0" bIns="0">
            <a:spAutoFit/>
          </a:bodyPr>
          <a:lstStyle/>
          <a:p>
            <a:pPr algn="ctr"/>
            <a:r>
              <a:rPr sz="4000" b="1" i="0">
                <a:solidFill>
                  <a:srgbClr val="14141C"/>
                </a:solidFill>
                <a:latin typeface="Geist Mono"/>
              </a:rPr>
              <a:t>→</a:t>
            </a:r>
          </a:p>
        </p:txBody>
      </p:sp>
      <p:sp>
        <p:nvSpPr>
          <p:cNvPr id="14" name="Rectangle 13"/>
          <p:cNvSpPr/>
          <p:nvPr/>
        </p:nvSpPr>
        <p:spPr>
          <a:xfrm>
            <a:off x="4511040" y="1143000"/>
            <a:ext cx="3139440" cy="4206240"/>
          </a:xfrm>
          <a:prstGeom prst="rect">
            <a:avLst/>
          </a:prstGeom>
          <a:solidFill>
            <a:srgbClr val="ED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11040" y="1143000"/>
            <a:ext cx="3139440" cy="109728"/>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67072" y="1554480"/>
            <a:ext cx="2627376" cy="457200"/>
          </a:xfrm>
          <a:prstGeom prst="rect">
            <a:avLst/>
          </a:prstGeom>
          <a:noFill/>
        </p:spPr>
        <p:txBody>
          <a:bodyPr wrap="square" anchor="t" lIns="0" rIns="0" tIns="0" bIns="0">
            <a:spAutoFit/>
          </a:bodyPr>
          <a:lstStyle/>
          <a:p>
            <a:pPr algn="l"/>
            <a:r>
              <a:rPr sz="1900" b="1" i="0">
                <a:solidFill>
                  <a:srgbClr val="FF1493"/>
                </a:solidFill>
                <a:latin typeface="Geist Mono"/>
              </a:rPr>
              <a:t>FINE-TUNE</a:t>
            </a:r>
          </a:p>
        </p:txBody>
      </p:sp>
      <p:sp>
        <p:nvSpPr>
          <p:cNvPr id="17" name="TextBox 16"/>
          <p:cNvSpPr txBox="1"/>
          <p:nvPr/>
        </p:nvSpPr>
        <p:spPr>
          <a:xfrm>
            <a:off x="4767072" y="2286000"/>
            <a:ext cx="2627376" cy="1828799"/>
          </a:xfrm>
          <a:prstGeom prst="rect">
            <a:avLst/>
          </a:prstGeom>
          <a:noFill/>
        </p:spPr>
        <p:txBody>
          <a:bodyPr wrap="square" anchor="t" lIns="0" rIns="0" tIns="0" bIns="0">
            <a:spAutoFit/>
          </a:bodyPr>
          <a:lstStyle/>
          <a:p>
            <a:pPr algn="l"/>
            <a:r>
              <a:rPr sz="1550" b="0" i="0">
                <a:solidFill>
                  <a:srgbClr val="14141C"/>
                </a:solidFill>
                <a:latin typeface="Geist"/>
              </a:rPr>
              <a:t>reuse those edge and color features, then train on ~10,000 HAM10000 skin images</a:t>
            </a:r>
          </a:p>
        </p:txBody>
      </p:sp>
      <p:sp>
        <p:nvSpPr>
          <p:cNvPr id="18" name="Rectangle 17"/>
          <p:cNvSpPr/>
          <p:nvPr/>
        </p:nvSpPr>
        <p:spPr>
          <a:xfrm>
            <a:off x="4767072" y="4480559"/>
            <a:ext cx="2627376" cy="18288"/>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67072" y="4617720"/>
            <a:ext cx="2627376" cy="548640"/>
          </a:xfrm>
          <a:prstGeom prst="rect">
            <a:avLst/>
          </a:prstGeom>
          <a:noFill/>
        </p:spPr>
        <p:txBody>
          <a:bodyPr wrap="square" anchor="ctr" lIns="0" rIns="0" tIns="0" bIns="0">
            <a:spAutoFit/>
          </a:bodyPr>
          <a:lstStyle/>
          <a:p>
            <a:pPr algn="l"/>
            <a:r>
              <a:rPr sz="1400" b="1" i="0">
                <a:solidFill>
                  <a:srgbClr val="FF1493"/>
                </a:solidFill>
                <a:latin typeface="Geist Mono"/>
              </a:rPr>
              <a:t>it learns melanoma color and border</a:t>
            </a:r>
          </a:p>
        </p:txBody>
      </p:sp>
      <p:sp>
        <p:nvSpPr>
          <p:cNvPr id="20" name="TextBox 19"/>
          <p:cNvSpPr txBox="1"/>
          <p:nvPr/>
        </p:nvSpPr>
        <p:spPr>
          <a:xfrm>
            <a:off x="7696200" y="2834639"/>
            <a:ext cx="822960" cy="822960"/>
          </a:xfrm>
          <a:prstGeom prst="rect">
            <a:avLst/>
          </a:prstGeom>
          <a:noFill/>
        </p:spPr>
        <p:txBody>
          <a:bodyPr wrap="square" anchor="ctr" lIns="0" rIns="0" tIns="0" bIns="0">
            <a:spAutoFit/>
          </a:bodyPr>
          <a:lstStyle/>
          <a:p>
            <a:pPr algn="ctr"/>
            <a:r>
              <a:rPr sz="4000" b="1" i="0">
                <a:solidFill>
                  <a:srgbClr val="14141C"/>
                </a:solidFill>
                <a:latin typeface="Geist Mono"/>
              </a:rPr>
              <a:t>→</a:t>
            </a:r>
          </a:p>
        </p:txBody>
      </p:sp>
      <p:sp>
        <p:nvSpPr>
          <p:cNvPr id="21" name="Rectangle 20"/>
          <p:cNvSpPr/>
          <p:nvPr/>
        </p:nvSpPr>
        <p:spPr>
          <a:xfrm>
            <a:off x="8564880" y="1143000"/>
            <a:ext cx="3139440" cy="4206240"/>
          </a:xfrm>
          <a:prstGeom prst="rect">
            <a:avLst/>
          </a:prstGeom>
          <a:solidFill>
            <a:srgbClr val="ED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64880" y="1143000"/>
            <a:ext cx="3139440" cy="109728"/>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20912" y="1554480"/>
            <a:ext cx="2627376" cy="457200"/>
          </a:xfrm>
          <a:prstGeom prst="rect">
            <a:avLst/>
          </a:prstGeom>
          <a:noFill/>
        </p:spPr>
        <p:txBody>
          <a:bodyPr wrap="square" anchor="t" lIns="0" rIns="0" tIns="0" bIns="0">
            <a:spAutoFit/>
          </a:bodyPr>
          <a:lstStyle/>
          <a:p>
            <a:pPr algn="l"/>
            <a:r>
              <a:rPr sz="1900" b="1" i="0">
                <a:solidFill>
                  <a:srgbClr val="8A2BE2"/>
                </a:solidFill>
                <a:latin typeface="Geist Mono"/>
              </a:rPr>
              <a:t>SCREEN</a:t>
            </a:r>
          </a:p>
        </p:txBody>
      </p:sp>
      <p:sp>
        <p:nvSpPr>
          <p:cNvPr id="24" name="TextBox 23"/>
          <p:cNvSpPr txBox="1"/>
          <p:nvPr/>
        </p:nvSpPr>
        <p:spPr>
          <a:xfrm>
            <a:off x="8820912" y="2286000"/>
            <a:ext cx="2627376" cy="1828799"/>
          </a:xfrm>
          <a:prstGeom prst="rect">
            <a:avLst/>
          </a:prstGeom>
          <a:noFill/>
        </p:spPr>
        <p:txBody>
          <a:bodyPr wrap="square" anchor="t" lIns="0" rIns="0" tIns="0" bIns="0">
            <a:spAutoFit/>
          </a:bodyPr>
          <a:lstStyle/>
          <a:p>
            <a:pPr algn="l"/>
            <a:r>
              <a:rPr sz="1550" b="0" i="0">
                <a:solidFill>
                  <a:srgbClr val="14141C"/>
                </a:solidFill>
                <a:latin typeface="Geist"/>
              </a:rPr>
              <a:t>ask the fine-tuned network for one call on a new skin spot</a:t>
            </a:r>
          </a:p>
        </p:txBody>
      </p:sp>
      <p:sp>
        <p:nvSpPr>
          <p:cNvPr id="25" name="Rectangle 24"/>
          <p:cNvSpPr/>
          <p:nvPr/>
        </p:nvSpPr>
        <p:spPr>
          <a:xfrm>
            <a:off x="8820912" y="4480559"/>
            <a:ext cx="2627376" cy="18288"/>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20912" y="4617720"/>
            <a:ext cx="2627376" cy="548640"/>
          </a:xfrm>
          <a:prstGeom prst="rect">
            <a:avLst/>
          </a:prstGeom>
          <a:noFill/>
        </p:spPr>
        <p:txBody>
          <a:bodyPr wrap="square" anchor="ctr" lIns="0" rIns="0" tIns="0" bIns="0">
            <a:spAutoFit/>
          </a:bodyPr>
          <a:lstStyle/>
          <a:p>
            <a:pPr algn="l"/>
            <a:r>
              <a:rPr sz="1400" b="1" i="0">
                <a:solidFill>
                  <a:srgbClr val="8A2BE2"/>
                </a:solidFill>
                <a:latin typeface="Geist Mono"/>
              </a:rPr>
              <a:t>one probability, 0 to 1</a:t>
            </a:r>
          </a:p>
        </p:txBody>
      </p:sp>
      <p:sp>
        <p:nvSpPr>
          <p:cNvPr id="27" name="TextBox 26"/>
          <p:cNvSpPr txBox="1"/>
          <p:nvPr/>
        </p:nvSpPr>
        <p:spPr>
          <a:xfrm>
            <a:off x="457200" y="5513831"/>
            <a:ext cx="11247120" cy="502920"/>
          </a:xfrm>
          <a:prstGeom prst="rect">
            <a:avLst/>
          </a:prstGeom>
          <a:noFill/>
        </p:spPr>
        <p:txBody>
          <a:bodyPr wrap="square" anchor="t" lIns="0" rIns="0" tIns="0" bIns="0">
            <a:spAutoFit/>
          </a:bodyPr>
          <a:lstStyle/>
          <a:p>
            <a:pPr algn="ctr"/>
            <a:r>
              <a:rPr sz="1500" b="0" i="1">
                <a:solidFill>
                  <a:srgbClr val="8A2BE2"/>
                </a:solidFill>
                <a:latin typeface="Geist"/>
              </a:rPr>
              <a:t>The reused knowledge is why a model can learn skin cancer from thousands, not millions, of photos.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Why CAFormer, not ResNet18</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Screening skin spots for melanoma  ·  2026-07-08</a:t>
            </a:r>
          </a:p>
        </p:txBody>
      </p:sp>
      <p:pic>
        <p:nvPicPr>
          <p:cNvPr id="7" name="Picture 6" descr="backbone_choice.png"/>
          <p:cNvPicPr>
            <a:picLocks noChangeAspect="1"/>
          </p:cNvPicPr>
          <p:nvPr/>
        </p:nvPicPr>
        <p:blipFill>
          <a:blip r:embed="rId2"/>
          <a:stretch>
            <a:fillRect/>
          </a:stretch>
        </p:blipFill>
        <p:spPr>
          <a:xfrm>
            <a:off x="457200" y="1377140"/>
            <a:ext cx="6185916" cy="4560918"/>
          </a:xfrm>
          <a:prstGeom prst="rect">
            <a:avLst/>
          </a:prstGeom>
        </p:spPr>
      </p:pic>
      <p:sp>
        <p:nvSpPr>
          <p:cNvPr id="8" name="Rectangle 7"/>
          <p:cNvSpPr/>
          <p:nvPr/>
        </p:nvSpPr>
        <p:spPr>
          <a:xfrm>
            <a:off x="7054596" y="1143000"/>
            <a:ext cx="4649724" cy="4937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054596" y="1143000"/>
            <a:ext cx="4649724" cy="9144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0628" y="1417320"/>
            <a:ext cx="4137660" cy="365760"/>
          </a:xfrm>
          <a:prstGeom prst="rect">
            <a:avLst/>
          </a:prstGeom>
          <a:noFill/>
        </p:spPr>
        <p:txBody>
          <a:bodyPr wrap="square" anchor="t" lIns="0" rIns="0" tIns="0" bIns="0">
            <a:spAutoFit/>
          </a:bodyPr>
          <a:lstStyle/>
          <a:p>
            <a:pPr algn="l"/>
            <a:r>
              <a:rPr sz="1400" b="1" i="0">
                <a:solidFill>
                  <a:srgbClr val="40E0D0"/>
                </a:solidFill>
                <a:latin typeface="Geist Mono"/>
              </a:rPr>
              <a:t>WE TESTED, WE DID NOT GUESS</a:t>
            </a:r>
          </a:p>
        </p:txBody>
      </p:sp>
      <p:sp>
        <p:nvSpPr>
          <p:cNvPr id="11" name="TextBox 10"/>
          <p:cNvSpPr txBox="1"/>
          <p:nvPr/>
        </p:nvSpPr>
        <p:spPr>
          <a:xfrm>
            <a:off x="7310628" y="1920240"/>
            <a:ext cx="4137660" cy="822960"/>
          </a:xfrm>
          <a:prstGeom prst="rect">
            <a:avLst/>
          </a:prstGeom>
          <a:noFill/>
        </p:spPr>
        <p:txBody>
          <a:bodyPr wrap="square" anchor="t" lIns="0" rIns="0" tIns="0" bIns="0">
            <a:spAutoFit/>
          </a:bodyPr>
          <a:lstStyle/>
          <a:p>
            <a:pPr algn="l"/>
            <a:r>
              <a:rPr sz="5200" b="1" i="0">
                <a:solidFill>
                  <a:srgbClr val="14141C"/>
                </a:solidFill>
                <a:latin typeface="Geist Mono"/>
              </a:rPr>
              <a:t>0.88</a:t>
            </a:r>
          </a:p>
        </p:txBody>
      </p:sp>
      <p:sp>
        <p:nvSpPr>
          <p:cNvPr id="12" name="TextBox 11"/>
          <p:cNvSpPr txBox="1"/>
          <p:nvPr/>
        </p:nvSpPr>
        <p:spPr>
          <a:xfrm>
            <a:off x="7310628" y="2834640"/>
            <a:ext cx="4137660" cy="1097280"/>
          </a:xfrm>
          <a:prstGeom prst="rect">
            <a:avLst/>
          </a:prstGeom>
          <a:noFill/>
        </p:spPr>
        <p:txBody>
          <a:bodyPr wrap="square" anchor="t" lIns="0" rIns="0" tIns="0" bIns="0">
            <a:spAutoFit/>
          </a:bodyPr>
          <a:lstStyle/>
          <a:p>
            <a:pPr algn="l"/>
            <a:r>
              <a:rPr sz="1500" b="0" i="0">
                <a:solidFill>
                  <a:srgbClr val="14141C"/>
                </a:solidFill>
                <a:latin typeface="Geist"/>
              </a:rPr>
              <a:t>CAFormer AUC -- vs 0.83 for a plain ResNet18. Both clear 0.8, but the stronger backbone wins.</a:t>
            </a:r>
          </a:p>
        </p:txBody>
      </p:sp>
      <p:sp>
        <p:nvSpPr>
          <p:cNvPr id="13" name="TextBox 12"/>
          <p:cNvSpPr txBox="1"/>
          <p:nvPr/>
        </p:nvSpPr>
        <p:spPr>
          <a:xfrm>
            <a:off x="7310628" y="4023360"/>
            <a:ext cx="4137660" cy="914400"/>
          </a:xfrm>
          <a:prstGeom prst="rect">
            <a:avLst/>
          </a:prstGeom>
          <a:noFill/>
        </p:spPr>
        <p:txBody>
          <a:bodyPr wrap="square" anchor="t" lIns="0" rIns="0" tIns="0" bIns="0">
            <a:spAutoFit/>
          </a:bodyPr>
          <a:lstStyle/>
          <a:p>
            <a:pPr algn="l"/>
            <a:r>
              <a:rPr sz="1500" b="0" i="1">
                <a:solidFill>
                  <a:srgbClr val="14141C"/>
                </a:solidFill>
                <a:latin typeface="Geist"/>
              </a:rPr>
              <a:t>The winner is chosen on held-out data, never on a hunch.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Model and data processing</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Screening skin spots for melanoma  ·  2026-07-08</a:t>
            </a:r>
          </a:p>
        </p:txBody>
      </p:sp>
      <p:sp>
        <p:nvSpPr>
          <p:cNvPr id="7" name="Rectangle 6"/>
          <p:cNvSpPr/>
          <p:nvPr/>
        </p:nvSpPr>
        <p:spPr>
          <a:xfrm>
            <a:off x="457200" y="1051560"/>
            <a:ext cx="822960" cy="859535"/>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51560"/>
            <a:ext cx="822960" cy="859535"/>
          </a:xfrm>
          <a:prstGeom prst="rect">
            <a:avLst/>
          </a:prstGeom>
          <a:noFill/>
        </p:spPr>
        <p:txBody>
          <a:bodyPr wrap="square" anchor="ctr" lIns="0" rIns="0" tIns="0" bIns="0">
            <a:spAutoFit/>
          </a:bodyPr>
          <a:lstStyle/>
          <a:p>
            <a:pPr algn="ctr"/>
            <a:r>
              <a:rPr sz="2600" b="1" i="0">
                <a:solidFill>
                  <a:srgbClr val="14141C"/>
                </a:solidFill>
                <a:latin typeface="Geist Mono"/>
              </a:rPr>
              <a:t>1</a:t>
            </a:r>
          </a:p>
        </p:txBody>
      </p:sp>
      <p:sp>
        <p:nvSpPr>
          <p:cNvPr id="9" name="TextBox 8"/>
          <p:cNvSpPr txBox="1"/>
          <p:nvPr/>
        </p:nvSpPr>
        <p:spPr>
          <a:xfrm>
            <a:off x="1508760" y="1051560"/>
            <a:ext cx="2377440" cy="859535"/>
          </a:xfrm>
          <a:prstGeom prst="rect">
            <a:avLst/>
          </a:prstGeom>
          <a:noFill/>
        </p:spPr>
        <p:txBody>
          <a:bodyPr wrap="square" anchor="ctr" lIns="0" rIns="0" tIns="0" bIns="0">
            <a:spAutoFit/>
          </a:bodyPr>
          <a:lstStyle/>
          <a:p>
            <a:pPr algn="l"/>
            <a:r>
              <a:rPr sz="1700" b="1" i="0">
                <a:solidFill>
                  <a:srgbClr val="40E0D0"/>
                </a:solidFill>
                <a:latin typeface="Geist Mono"/>
              </a:rPr>
              <a:t>MODEL</a:t>
            </a:r>
          </a:p>
        </p:txBody>
      </p:sp>
      <p:sp>
        <p:nvSpPr>
          <p:cNvPr id="10" name="TextBox 9"/>
          <p:cNvSpPr txBox="1"/>
          <p:nvPr/>
        </p:nvSpPr>
        <p:spPr>
          <a:xfrm>
            <a:off x="4023360" y="1051560"/>
            <a:ext cx="7680960" cy="859535"/>
          </a:xfrm>
          <a:prstGeom prst="rect">
            <a:avLst/>
          </a:prstGeom>
          <a:noFill/>
        </p:spPr>
        <p:txBody>
          <a:bodyPr wrap="square" anchor="ctr" lIns="0" rIns="0" tIns="0" bIns="0">
            <a:spAutoFit/>
          </a:bodyPr>
          <a:lstStyle/>
          <a:p>
            <a:pPr algn="l"/>
            <a:r>
              <a:rPr sz="1500" b="0" i="0">
                <a:solidFill>
                  <a:srgbClr val="14141C"/>
                </a:solidFill>
                <a:latin typeface="Geist"/>
              </a:rPr>
              <a:t>caformer_s18, pretrained, backbone FROZEN, a fresh 2-class head trained on top</a:t>
            </a:r>
          </a:p>
        </p:txBody>
      </p:sp>
      <p:sp>
        <p:nvSpPr>
          <p:cNvPr id="11" name="Rectangle 10"/>
          <p:cNvSpPr/>
          <p:nvPr/>
        </p:nvSpPr>
        <p:spPr>
          <a:xfrm>
            <a:off x="457200" y="2139696"/>
            <a:ext cx="822960" cy="859535"/>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139696"/>
            <a:ext cx="822960" cy="859535"/>
          </a:xfrm>
          <a:prstGeom prst="rect">
            <a:avLst/>
          </a:prstGeom>
          <a:noFill/>
        </p:spPr>
        <p:txBody>
          <a:bodyPr wrap="square" anchor="ctr" lIns="0" rIns="0" tIns="0" bIns="0">
            <a:spAutoFit/>
          </a:bodyPr>
          <a:lstStyle/>
          <a:p>
            <a:pPr algn="ctr"/>
            <a:r>
              <a:rPr sz="2600" b="1" i="0">
                <a:solidFill>
                  <a:srgbClr val="FFFFFF"/>
                </a:solidFill>
                <a:latin typeface="Geist Mono"/>
              </a:rPr>
              <a:t>2</a:t>
            </a:r>
          </a:p>
        </p:txBody>
      </p:sp>
      <p:sp>
        <p:nvSpPr>
          <p:cNvPr id="13" name="TextBox 12"/>
          <p:cNvSpPr txBox="1"/>
          <p:nvPr/>
        </p:nvSpPr>
        <p:spPr>
          <a:xfrm>
            <a:off x="1508760" y="2139696"/>
            <a:ext cx="2377440" cy="859535"/>
          </a:xfrm>
          <a:prstGeom prst="rect">
            <a:avLst/>
          </a:prstGeom>
          <a:noFill/>
        </p:spPr>
        <p:txBody>
          <a:bodyPr wrap="square" anchor="ctr" lIns="0" rIns="0" tIns="0" bIns="0">
            <a:spAutoFit/>
          </a:bodyPr>
          <a:lstStyle/>
          <a:p>
            <a:pPr algn="l"/>
            <a:r>
              <a:rPr sz="1700" b="1" i="0">
                <a:solidFill>
                  <a:srgbClr val="FF1493"/>
                </a:solidFill>
                <a:latin typeface="Geist Mono"/>
              </a:rPr>
              <a:t>RESIZE</a:t>
            </a:r>
          </a:p>
        </p:txBody>
      </p:sp>
      <p:sp>
        <p:nvSpPr>
          <p:cNvPr id="14" name="TextBox 13"/>
          <p:cNvSpPr txBox="1"/>
          <p:nvPr/>
        </p:nvSpPr>
        <p:spPr>
          <a:xfrm>
            <a:off x="4023360" y="2139696"/>
            <a:ext cx="7680960" cy="859535"/>
          </a:xfrm>
          <a:prstGeom prst="rect">
            <a:avLst/>
          </a:prstGeom>
          <a:noFill/>
        </p:spPr>
        <p:txBody>
          <a:bodyPr wrap="square" anchor="ctr" lIns="0" rIns="0" tIns="0" bIns="0">
            <a:spAutoFit/>
          </a:bodyPr>
          <a:lstStyle/>
          <a:p>
            <a:pPr algn="l"/>
            <a:r>
              <a:rPr sz="1500" b="0" i="0">
                <a:solidFill>
                  <a:srgbClr val="14141C"/>
                </a:solidFill>
                <a:latin typeface="Geist"/>
              </a:rPr>
              <a:t>every image decoded to color and resized to 224x224 pixels</a:t>
            </a:r>
          </a:p>
        </p:txBody>
      </p:sp>
      <p:sp>
        <p:nvSpPr>
          <p:cNvPr id="15" name="Rectangle 14"/>
          <p:cNvSpPr/>
          <p:nvPr/>
        </p:nvSpPr>
        <p:spPr>
          <a:xfrm>
            <a:off x="457200" y="3227832"/>
            <a:ext cx="822960" cy="859535"/>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227832"/>
            <a:ext cx="822960" cy="859535"/>
          </a:xfrm>
          <a:prstGeom prst="rect">
            <a:avLst/>
          </a:prstGeom>
          <a:noFill/>
        </p:spPr>
        <p:txBody>
          <a:bodyPr wrap="square" anchor="ctr" lIns="0" rIns="0" tIns="0" bIns="0">
            <a:spAutoFit/>
          </a:bodyPr>
          <a:lstStyle/>
          <a:p>
            <a:pPr algn="ctr"/>
            <a:r>
              <a:rPr sz="2600" b="1" i="0">
                <a:solidFill>
                  <a:srgbClr val="14141C"/>
                </a:solidFill>
                <a:latin typeface="Geist Mono"/>
              </a:rPr>
              <a:t>3</a:t>
            </a:r>
          </a:p>
        </p:txBody>
      </p:sp>
      <p:sp>
        <p:nvSpPr>
          <p:cNvPr id="17" name="TextBox 16"/>
          <p:cNvSpPr txBox="1"/>
          <p:nvPr/>
        </p:nvSpPr>
        <p:spPr>
          <a:xfrm>
            <a:off x="1508760" y="3227832"/>
            <a:ext cx="2377440" cy="859535"/>
          </a:xfrm>
          <a:prstGeom prst="rect">
            <a:avLst/>
          </a:prstGeom>
          <a:noFill/>
        </p:spPr>
        <p:txBody>
          <a:bodyPr wrap="square" anchor="ctr" lIns="0" rIns="0" tIns="0" bIns="0">
            <a:spAutoFit/>
          </a:bodyPr>
          <a:lstStyle/>
          <a:p>
            <a:pPr algn="l"/>
            <a:r>
              <a:rPr sz="1700" b="1" i="0">
                <a:solidFill>
                  <a:srgbClr val="F0C840"/>
                </a:solidFill>
                <a:latin typeface="Geist Mono"/>
              </a:rPr>
              <a:t>NORMALIZE</a:t>
            </a:r>
          </a:p>
        </p:txBody>
      </p:sp>
      <p:sp>
        <p:nvSpPr>
          <p:cNvPr id="18" name="TextBox 17"/>
          <p:cNvSpPr txBox="1"/>
          <p:nvPr/>
        </p:nvSpPr>
        <p:spPr>
          <a:xfrm>
            <a:off x="4023360" y="3227832"/>
            <a:ext cx="7680960" cy="859535"/>
          </a:xfrm>
          <a:prstGeom prst="rect">
            <a:avLst/>
          </a:prstGeom>
          <a:noFill/>
        </p:spPr>
        <p:txBody>
          <a:bodyPr wrap="square" anchor="ctr" lIns="0" rIns="0" tIns="0" bIns="0">
            <a:spAutoFit/>
          </a:bodyPr>
          <a:lstStyle/>
          <a:p>
            <a:pPr algn="l"/>
            <a:r>
              <a:rPr sz="1500" b="0" i="0">
                <a:solidFill>
                  <a:srgbClr val="14141C"/>
                </a:solidFill>
                <a:latin typeface="Geist"/>
              </a:rPr>
              <a:t>pixels rescaled to a fixed mean/scale, the range the backbone was trained on</a:t>
            </a:r>
          </a:p>
        </p:txBody>
      </p:sp>
      <p:sp>
        <p:nvSpPr>
          <p:cNvPr id="19" name="Rectangle 18"/>
          <p:cNvSpPr/>
          <p:nvPr/>
        </p:nvSpPr>
        <p:spPr>
          <a:xfrm>
            <a:off x="457200" y="4315968"/>
            <a:ext cx="822960" cy="859535"/>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315968"/>
            <a:ext cx="822960" cy="859535"/>
          </a:xfrm>
          <a:prstGeom prst="rect">
            <a:avLst/>
          </a:prstGeom>
          <a:noFill/>
        </p:spPr>
        <p:txBody>
          <a:bodyPr wrap="square" anchor="ctr" lIns="0" rIns="0" tIns="0" bIns="0">
            <a:spAutoFit/>
          </a:bodyPr>
          <a:lstStyle/>
          <a:p>
            <a:pPr algn="ctr"/>
            <a:r>
              <a:rPr sz="2600" b="1" i="0">
                <a:solidFill>
                  <a:srgbClr val="FFFFFF"/>
                </a:solidFill>
                <a:latin typeface="Geist Mono"/>
              </a:rPr>
              <a:t>4</a:t>
            </a:r>
          </a:p>
        </p:txBody>
      </p:sp>
      <p:sp>
        <p:nvSpPr>
          <p:cNvPr id="21" name="TextBox 20"/>
          <p:cNvSpPr txBox="1"/>
          <p:nvPr/>
        </p:nvSpPr>
        <p:spPr>
          <a:xfrm>
            <a:off x="1508760" y="4315968"/>
            <a:ext cx="2377440" cy="859535"/>
          </a:xfrm>
          <a:prstGeom prst="rect">
            <a:avLst/>
          </a:prstGeom>
          <a:noFill/>
        </p:spPr>
        <p:txBody>
          <a:bodyPr wrap="square" anchor="ctr" lIns="0" rIns="0" tIns="0" bIns="0">
            <a:spAutoFit/>
          </a:bodyPr>
          <a:lstStyle/>
          <a:p>
            <a:pPr algn="l"/>
            <a:r>
              <a:rPr sz="1700" b="1" i="0">
                <a:solidFill>
                  <a:srgbClr val="8A2BE2"/>
                </a:solidFill>
                <a:latin typeface="Geist Mono"/>
              </a:rPr>
              <a:t>CLASS-WEIGHT</a:t>
            </a:r>
          </a:p>
        </p:txBody>
      </p:sp>
      <p:sp>
        <p:nvSpPr>
          <p:cNvPr id="22" name="TextBox 21"/>
          <p:cNvSpPr txBox="1"/>
          <p:nvPr/>
        </p:nvSpPr>
        <p:spPr>
          <a:xfrm>
            <a:off x="4023360" y="4315968"/>
            <a:ext cx="7680960" cy="859535"/>
          </a:xfrm>
          <a:prstGeom prst="rect">
            <a:avLst/>
          </a:prstGeom>
          <a:noFill/>
        </p:spPr>
        <p:txBody>
          <a:bodyPr wrap="square" anchor="ctr" lIns="0" rIns="0" tIns="0" bIns="0">
            <a:spAutoFit/>
          </a:bodyPr>
          <a:lstStyle/>
          <a:p>
            <a:pPr algn="l"/>
            <a:r>
              <a:rPr sz="1500" b="0" i="0">
                <a:solidFill>
                  <a:srgbClr val="14141C"/>
                </a:solidFill>
                <a:latin typeface="Geist"/>
              </a:rPr>
              <a:t>the loss up-weights the rare melanomas, so the model cannot ignore them</a:t>
            </a:r>
          </a:p>
        </p:txBody>
      </p:sp>
      <p:sp>
        <p:nvSpPr>
          <p:cNvPr id="23" name="Rectangle 22"/>
          <p:cNvSpPr/>
          <p:nvPr/>
        </p:nvSpPr>
        <p:spPr>
          <a:xfrm>
            <a:off x="457200" y="5404104"/>
            <a:ext cx="822960" cy="859535"/>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5404104"/>
            <a:ext cx="822960" cy="859535"/>
          </a:xfrm>
          <a:prstGeom prst="rect">
            <a:avLst/>
          </a:prstGeom>
          <a:noFill/>
        </p:spPr>
        <p:txBody>
          <a:bodyPr wrap="square" anchor="ctr" lIns="0" rIns="0" tIns="0" bIns="0">
            <a:spAutoFit/>
          </a:bodyPr>
          <a:lstStyle/>
          <a:p>
            <a:pPr algn="ctr"/>
            <a:r>
              <a:rPr sz="2600" b="1" i="0">
                <a:solidFill>
                  <a:srgbClr val="14141C"/>
                </a:solidFill>
                <a:latin typeface="Geist Mono"/>
              </a:rPr>
              <a:t>5</a:t>
            </a:r>
          </a:p>
        </p:txBody>
      </p:sp>
      <p:sp>
        <p:nvSpPr>
          <p:cNvPr id="25" name="TextBox 24"/>
          <p:cNvSpPr txBox="1"/>
          <p:nvPr/>
        </p:nvSpPr>
        <p:spPr>
          <a:xfrm>
            <a:off x="1508760" y="5404104"/>
            <a:ext cx="2377440" cy="859535"/>
          </a:xfrm>
          <a:prstGeom prst="rect">
            <a:avLst/>
          </a:prstGeom>
          <a:noFill/>
        </p:spPr>
        <p:txBody>
          <a:bodyPr wrap="square" anchor="ctr" lIns="0" rIns="0" tIns="0" bIns="0">
            <a:spAutoFit/>
          </a:bodyPr>
          <a:lstStyle/>
          <a:p>
            <a:pPr algn="l"/>
            <a:r>
              <a:rPr sz="1700" b="1" i="0">
                <a:solidFill>
                  <a:srgbClr val="40E0D0"/>
                </a:solidFill>
                <a:latin typeface="Geist Mono"/>
              </a:rPr>
              <a:t>SPLIT</a:t>
            </a:r>
          </a:p>
        </p:txBody>
      </p:sp>
      <p:sp>
        <p:nvSpPr>
          <p:cNvPr id="26" name="TextBox 25"/>
          <p:cNvSpPr txBox="1"/>
          <p:nvPr/>
        </p:nvSpPr>
        <p:spPr>
          <a:xfrm>
            <a:off x="4023360" y="5404104"/>
            <a:ext cx="7680960" cy="859535"/>
          </a:xfrm>
          <a:prstGeom prst="rect">
            <a:avLst/>
          </a:prstGeom>
          <a:noFill/>
        </p:spPr>
        <p:txBody>
          <a:bodyPr wrap="square" anchor="ctr" lIns="0" rIns="0" tIns="0" bIns="0">
            <a:spAutoFit/>
          </a:bodyPr>
          <a:lstStyle/>
          <a:p>
            <a:pPr algn="l"/>
            <a:r>
              <a:rPr sz="1500" b="0" i="0">
                <a:solidFill>
                  <a:srgbClr val="14141C"/>
                </a:solidFill>
                <a:latin typeface="Geist"/>
              </a:rPr>
              <a:t>separate train / val / test; every number we report is on the held-out test set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8A2BE2"/>
                </a:solidFill>
                <a:latin typeface="Geist Mono"/>
              </a:rPr>
              <a:t>Validation</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RESULTS</a:t>
            </a:r>
          </a:p>
        </p:txBody>
      </p:sp>
      <p:sp>
        <p:nvSpPr>
          <p:cNvPr id="7" name="Rectangle 6"/>
          <p:cNvSpPr/>
          <p:nvPr/>
        </p:nvSpPr>
        <p:spPr>
          <a:xfrm>
            <a:off x="777240" y="5120640"/>
            <a:ext cx="1828800" cy="18288"/>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Screening skin spots for melanoma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A working screen</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Screening skin spots for melanoma  ·  2026-07-08</a:t>
            </a:r>
          </a:p>
        </p:txBody>
      </p:sp>
      <p:pic>
        <p:nvPicPr>
          <p:cNvPr id="7" name="Picture 6" descr="roc.png"/>
          <p:cNvPicPr>
            <a:picLocks noChangeAspect="1"/>
          </p:cNvPicPr>
          <p:nvPr/>
        </p:nvPicPr>
        <p:blipFill>
          <a:blip r:embed="rId2"/>
          <a:stretch>
            <a:fillRect/>
          </a:stretch>
        </p:blipFill>
        <p:spPr>
          <a:xfrm>
            <a:off x="709107" y="1051560"/>
            <a:ext cx="5344688" cy="5212079"/>
          </a:xfrm>
          <a:prstGeom prst="rect">
            <a:avLst/>
          </a:prstGeom>
        </p:spPr>
      </p:pic>
      <p:sp>
        <p:nvSpPr>
          <p:cNvPr id="8" name="TextBox 7"/>
          <p:cNvSpPr txBox="1"/>
          <p:nvPr/>
        </p:nvSpPr>
        <p:spPr>
          <a:xfrm>
            <a:off x="6762902" y="1234440"/>
            <a:ext cx="4941417" cy="1188720"/>
          </a:xfrm>
          <a:prstGeom prst="rect">
            <a:avLst/>
          </a:prstGeom>
          <a:noFill/>
        </p:spPr>
        <p:txBody>
          <a:bodyPr wrap="square" anchor="t" lIns="0" rIns="0" tIns="0" bIns="0">
            <a:spAutoFit/>
          </a:bodyPr>
          <a:lstStyle/>
          <a:p>
            <a:pPr algn="l"/>
            <a:r>
              <a:rPr sz="8400" b="1" i="0">
                <a:solidFill>
                  <a:srgbClr val="F0C840"/>
                </a:solidFill>
                <a:latin typeface="Geist Mono"/>
              </a:rPr>
              <a:t>0.885</a:t>
            </a:r>
          </a:p>
        </p:txBody>
      </p:sp>
      <p:sp>
        <p:nvSpPr>
          <p:cNvPr id="9" name="TextBox 8"/>
          <p:cNvSpPr txBox="1"/>
          <p:nvPr/>
        </p:nvSpPr>
        <p:spPr>
          <a:xfrm>
            <a:off x="6762902" y="2468880"/>
            <a:ext cx="4941417" cy="457200"/>
          </a:xfrm>
          <a:prstGeom prst="rect">
            <a:avLst/>
          </a:prstGeom>
          <a:noFill/>
        </p:spPr>
        <p:txBody>
          <a:bodyPr wrap="square" anchor="t" lIns="0" rIns="0" tIns="0" bIns="0">
            <a:spAutoFit/>
          </a:bodyPr>
          <a:lstStyle/>
          <a:p>
            <a:pPr algn="l"/>
            <a:r>
              <a:rPr sz="1700" b="1" i="0">
                <a:solidFill>
                  <a:srgbClr val="14141C"/>
                </a:solidFill>
                <a:latin typeface="Geist Mono"/>
              </a:rPr>
              <a:t>AUC -- the area under the ROC curve</a:t>
            </a:r>
          </a:p>
        </p:txBody>
      </p:sp>
      <p:sp>
        <p:nvSpPr>
          <p:cNvPr id="10" name="TextBox 9"/>
          <p:cNvSpPr txBox="1"/>
          <p:nvPr/>
        </p:nvSpPr>
        <p:spPr>
          <a:xfrm>
            <a:off x="6762902" y="3063240"/>
            <a:ext cx="4941417" cy="1280160"/>
          </a:xfrm>
          <a:prstGeom prst="rect">
            <a:avLst/>
          </a:prstGeom>
          <a:noFill/>
        </p:spPr>
        <p:txBody>
          <a:bodyPr wrap="square" anchor="t" lIns="0" rIns="0" tIns="0" bIns="0">
            <a:spAutoFit/>
          </a:bodyPr>
          <a:lstStyle/>
          <a:p>
            <a:pPr algn="l"/>
            <a:r>
              <a:rPr sz="1500" b="0" i="0">
                <a:solidFill>
                  <a:srgbClr val="14141C"/>
                </a:solidFill>
                <a:latin typeface="Geist"/>
              </a:rPr>
              <a:t>The ROC curve sweeps every cut-off and plots melanomas caught against false alarms. AUC is the area underneath.</a:t>
            </a:r>
          </a:p>
        </p:txBody>
      </p:sp>
      <p:sp>
        <p:nvSpPr>
          <p:cNvPr id="11" name="TextBox 10"/>
          <p:cNvSpPr txBox="1"/>
          <p:nvPr/>
        </p:nvSpPr>
        <p:spPr>
          <a:xfrm>
            <a:off x="6762902" y="4434840"/>
            <a:ext cx="4941417" cy="457200"/>
          </a:xfrm>
          <a:prstGeom prst="rect">
            <a:avLst/>
          </a:prstGeom>
          <a:noFill/>
        </p:spPr>
        <p:txBody>
          <a:bodyPr wrap="square" anchor="t" lIns="0" rIns="0" tIns="0" bIns="0">
            <a:spAutoFit/>
          </a:bodyPr>
          <a:lstStyle/>
          <a:p>
            <a:pPr algn="l"/>
            <a:r>
              <a:rPr sz="1500" b="1" i="0">
                <a:solidFill>
                  <a:srgbClr val="8A2BE2"/>
                </a:solidFill>
                <a:latin typeface="Geist Mono"/>
              </a:rPr>
              <a:t>0.5 = a coin flip     1.0 = perfect</a:t>
            </a:r>
          </a:p>
        </p:txBody>
      </p:sp>
      <p:sp>
        <p:nvSpPr>
          <p:cNvPr id="12" name="TextBox 11"/>
          <p:cNvSpPr txBox="1"/>
          <p:nvPr/>
        </p:nvSpPr>
        <p:spPr>
          <a:xfrm>
            <a:off x="6762902" y="4937760"/>
            <a:ext cx="4941417" cy="548640"/>
          </a:xfrm>
          <a:prstGeom prst="rect">
            <a:avLst/>
          </a:prstGeom>
          <a:noFill/>
        </p:spPr>
        <p:txBody>
          <a:bodyPr wrap="square" anchor="t" lIns="0" rIns="0" tIns="0" bIns="0">
            <a:spAutoFit/>
          </a:bodyPr>
          <a:lstStyle/>
          <a:p>
            <a:pPr algn="l"/>
            <a:r>
              <a:rPr sz="1500" b="0" i="1">
                <a:solidFill>
                  <a:srgbClr val="14141C"/>
                </a:solidFill>
                <a:latin typeface="Geist"/>
              </a:rPr>
              <a:t>The curve hugs the top-left corner -- a genuinely working screen.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Tuning to miss fewer cancers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Screening skin spots for melanoma  ·  2026-07-08</a:t>
            </a:r>
          </a:p>
        </p:txBody>
      </p:sp>
      <p:pic>
        <p:nvPicPr>
          <p:cNvPr id="7" name="Picture 6" descr="recall_tuning.png"/>
          <p:cNvPicPr>
            <a:picLocks noChangeAspect="1"/>
          </p:cNvPicPr>
          <p:nvPr/>
        </p:nvPicPr>
        <p:blipFill>
          <a:blip r:embed="rId2"/>
          <a:stretch>
            <a:fillRect/>
          </a:stretch>
        </p:blipFill>
        <p:spPr>
          <a:xfrm>
            <a:off x="457200" y="1154102"/>
            <a:ext cx="6748272" cy="5006994"/>
          </a:xfrm>
          <a:prstGeom prst="rect">
            <a:avLst/>
          </a:prstGeom>
        </p:spPr>
      </p:pic>
      <p:sp>
        <p:nvSpPr>
          <p:cNvPr id="8" name="Rectangle 7"/>
          <p:cNvSpPr/>
          <p:nvPr/>
        </p:nvSpPr>
        <p:spPr>
          <a:xfrm>
            <a:off x="7571231" y="1188720"/>
            <a:ext cx="4133088" cy="16002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99831" y="1371600"/>
            <a:ext cx="3675888" cy="640080"/>
          </a:xfrm>
          <a:prstGeom prst="rect">
            <a:avLst/>
          </a:prstGeom>
          <a:noFill/>
        </p:spPr>
        <p:txBody>
          <a:bodyPr wrap="square" anchor="t" lIns="0" rIns="0" tIns="0" bIns="0">
            <a:spAutoFit/>
          </a:bodyPr>
          <a:lstStyle/>
          <a:p>
            <a:pPr algn="l"/>
            <a:r>
              <a:rPr sz="3200" b="1" i="0">
                <a:solidFill>
                  <a:srgbClr val="14141C"/>
                </a:solidFill>
                <a:latin typeface="Geist Mono"/>
              </a:rPr>
              <a:t>74% → 90%</a:t>
            </a:r>
          </a:p>
        </p:txBody>
      </p:sp>
      <p:sp>
        <p:nvSpPr>
          <p:cNvPr id="10" name="TextBox 9"/>
          <p:cNvSpPr txBox="1"/>
          <p:nvPr/>
        </p:nvSpPr>
        <p:spPr>
          <a:xfrm>
            <a:off x="7799831" y="2103120"/>
            <a:ext cx="3675888" cy="548640"/>
          </a:xfrm>
          <a:prstGeom prst="rect">
            <a:avLst/>
          </a:prstGeom>
          <a:noFill/>
        </p:spPr>
        <p:txBody>
          <a:bodyPr wrap="square" anchor="t" lIns="0" rIns="0" tIns="0" bIns="0">
            <a:spAutoFit/>
          </a:bodyPr>
          <a:lstStyle/>
          <a:p>
            <a:pPr algn="l"/>
            <a:r>
              <a:rPr sz="1400" b="0" i="0">
                <a:solidFill>
                  <a:srgbClr val="14141C"/>
                </a:solidFill>
                <a:latin typeface="Geist"/>
              </a:rPr>
              <a:t>melanomas caught (recall), after we lower the threshold</a:t>
            </a:r>
          </a:p>
        </p:txBody>
      </p:sp>
      <p:sp>
        <p:nvSpPr>
          <p:cNvPr id="11" name="TextBox 10"/>
          <p:cNvSpPr txBox="1"/>
          <p:nvPr/>
        </p:nvSpPr>
        <p:spPr>
          <a:xfrm>
            <a:off x="7571231" y="3108960"/>
            <a:ext cx="4133088" cy="365760"/>
          </a:xfrm>
          <a:prstGeom prst="rect">
            <a:avLst/>
          </a:prstGeom>
          <a:noFill/>
        </p:spPr>
        <p:txBody>
          <a:bodyPr wrap="square" anchor="t" lIns="0" rIns="0" tIns="0" bIns="0">
            <a:spAutoFit/>
          </a:bodyPr>
          <a:lstStyle/>
          <a:p>
            <a:pPr algn="l"/>
            <a:r>
              <a:rPr sz="1400" b="1" i="0">
                <a:solidFill>
                  <a:srgbClr val="FF1493"/>
                </a:solidFill>
                <a:latin typeface="Geist Mono"/>
              </a:rPr>
              <a:t>THE COST WE ACCEPT</a:t>
            </a:r>
          </a:p>
        </p:txBody>
      </p:sp>
      <p:sp>
        <p:nvSpPr>
          <p:cNvPr id="12" name="TextBox 11"/>
          <p:cNvSpPr txBox="1"/>
          <p:nvPr/>
        </p:nvSpPr>
        <p:spPr>
          <a:xfrm>
            <a:off x="7571231" y="3566160"/>
            <a:ext cx="4133088" cy="1828800"/>
          </a:xfrm>
          <a:prstGeom prst="rect">
            <a:avLst/>
          </a:prstGeom>
          <a:noFill/>
        </p:spPr>
        <p:txBody>
          <a:bodyPr wrap="square" anchor="t" lIns="0" rIns="0" tIns="0" bIns="0">
            <a:spAutoFit/>
          </a:bodyPr>
          <a:lstStyle/>
          <a:p>
            <a:pPr algn="l"/>
            <a:r>
              <a:rPr sz="1500" b="0" i="0">
                <a:solidFill>
                  <a:srgbClr val="14141C"/>
                </a:solidFill>
                <a:latin typeface="Geist"/>
              </a:rPr>
              <a:t>Specificity slips 85% → 70%: more healthy spots get a second look. For a screen, that is the right trade -- a few extra check-ups to avoid a missed cancer.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At the screening setting</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Screening skin spots for melanoma  ·  2026-07-08</a:t>
            </a:r>
          </a:p>
        </p:txBody>
      </p:sp>
      <p:pic>
        <p:nvPicPr>
          <p:cNvPr id="7" name="Picture 6" descr="confusion.png"/>
          <p:cNvPicPr>
            <a:picLocks noChangeAspect="1"/>
          </p:cNvPicPr>
          <p:nvPr/>
        </p:nvPicPr>
        <p:blipFill>
          <a:blip r:embed="rId2"/>
          <a:stretch>
            <a:fillRect/>
          </a:stretch>
        </p:blipFill>
        <p:spPr>
          <a:xfrm>
            <a:off x="457200" y="1380944"/>
            <a:ext cx="5623560" cy="4553310"/>
          </a:xfrm>
          <a:prstGeom prst="rect">
            <a:avLst/>
          </a:prstGeom>
        </p:spPr>
      </p:pic>
      <p:sp>
        <p:nvSpPr>
          <p:cNvPr id="8" name="Rectangle 7"/>
          <p:cNvSpPr/>
          <p:nvPr/>
        </p:nvSpPr>
        <p:spPr>
          <a:xfrm>
            <a:off x="6446520" y="1188720"/>
            <a:ext cx="128016" cy="123444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20840" y="1188720"/>
            <a:ext cx="1554480" cy="1234440"/>
          </a:xfrm>
          <a:prstGeom prst="rect">
            <a:avLst/>
          </a:prstGeom>
          <a:noFill/>
        </p:spPr>
        <p:txBody>
          <a:bodyPr wrap="square" anchor="ctr" lIns="0" rIns="0" tIns="0" bIns="0">
            <a:spAutoFit/>
          </a:bodyPr>
          <a:lstStyle/>
          <a:p>
            <a:pPr algn="l"/>
            <a:r>
              <a:rPr sz="4000" b="1" i="0">
                <a:solidFill>
                  <a:srgbClr val="40E0D0"/>
                </a:solidFill>
                <a:latin typeface="Geist Mono"/>
              </a:rPr>
              <a:t>130</a:t>
            </a:r>
          </a:p>
        </p:txBody>
      </p:sp>
      <p:sp>
        <p:nvSpPr>
          <p:cNvPr id="10" name="TextBox 9"/>
          <p:cNvSpPr txBox="1"/>
          <p:nvPr/>
        </p:nvSpPr>
        <p:spPr>
          <a:xfrm>
            <a:off x="8366760" y="1188720"/>
            <a:ext cx="3337560" cy="1234440"/>
          </a:xfrm>
          <a:prstGeom prst="rect">
            <a:avLst/>
          </a:prstGeom>
          <a:noFill/>
        </p:spPr>
        <p:txBody>
          <a:bodyPr wrap="square" anchor="ctr" lIns="0" rIns="0" tIns="0" bIns="0">
            <a:spAutoFit/>
          </a:bodyPr>
          <a:lstStyle/>
          <a:p>
            <a:pPr algn="l"/>
            <a:r>
              <a:rPr sz="1500" b="0" i="0">
                <a:solidFill>
                  <a:srgbClr val="14141C"/>
                </a:solidFill>
                <a:latin typeface="Geist"/>
              </a:rPr>
              <a:t>melanomas CAUGHT -- the wins</a:t>
            </a:r>
          </a:p>
        </p:txBody>
      </p:sp>
      <p:sp>
        <p:nvSpPr>
          <p:cNvPr id="11" name="Rectangle 10"/>
          <p:cNvSpPr/>
          <p:nvPr/>
        </p:nvSpPr>
        <p:spPr>
          <a:xfrm>
            <a:off x="6446520" y="2560320"/>
            <a:ext cx="128016" cy="123444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0840" y="2560320"/>
            <a:ext cx="1554480" cy="1234440"/>
          </a:xfrm>
          <a:prstGeom prst="rect">
            <a:avLst/>
          </a:prstGeom>
          <a:noFill/>
        </p:spPr>
        <p:txBody>
          <a:bodyPr wrap="square" anchor="ctr" lIns="0" rIns="0" tIns="0" bIns="0">
            <a:spAutoFit/>
          </a:bodyPr>
          <a:lstStyle/>
          <a:p>
            <a:pPr algn="l"/>
            <a:r>
              <a:rPr sz="4000" b="1" i="0">
                <a:solidFill>
                  <a:srgbClr val="FF1493"/>
                </a:solidFill>
                <a:latin typeface="Geist Mono"/>
              </a:rPr>
              <a:t>14</a:t>
            </a:r>
          </a:p>
        </p:txBody>
      </p:sp>
      <p:sp>
        <p:nvSpPr>
          <p:cNvPr id="13" name="TextBox 12"/>
          <p:cNvSpPr txBox="1"/>
          <p:nvPr/>
        </p:nvSpPr>
        <p:spPr>
          <a:xfrm>
            <a:off x="8366760" y="2560320"/>
            <a:ext cx="3337560" cy="1234440"/>
          </a:xfrm>
          <a:prstGeom prst="rect">
            <a:avLst/>
          </a:prstGeom>
          <a:noFill/>
        </p:spPr>
        <p:txBody>
          <a:bodyPr wrap="square" anchor="ctr" lIns="0" rIns="0" tIns="0" bIns="0">
            <a:spAutoFit/>
          </a:bodyPr>
          <a:lstStyle/>
          <a:p>
            <a:pPr algn="l"/>
            <a:r>
              <a:rPr sz="1500" b="0" i="0">
                <a:solidFill>
                  <a:srgbClr val="14141C"/>
                </a:solidFill>
                <a:latin typeface="Geist"/>
              </a:rPr>
              <a:t>melanomas MISSED -- each one a real danger</a:t>
            </a:r>
          </a:p>
        </p:txBody>
      </p:sp>
      <p:sp>
        <p:nvSpPr>
          <p:cNvPr id="14" name="Rectangle 13"/>
          <p:cNvSpPr/>
          <p:nvPr/>
        </p:nvSpPr>
        <p:spPr>
          <a:xfrm>
            <a:off x="6446520" y="3931920"/>
            <a:ext cx="128016" cy="123444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20840" y="3931920"/>
            <a:ext cx="1554480" cy="1234440"/>
          </a:xfrm>
          <a:prstGeom prst="rect">
            <a:avLst/>
          </a:prstGeom>
          <a:noFill/>
        </p:spPr>
        <p:txBody>
          <a:bodyPr wrap="square" anchor="ctr" lIns="0" rIns="0" tIns="0" bIns="0">
            <a:spAutoFit/>
          </a:bodyPr>
          <a:lstStyle/>
          <a:p>
            <a:pPr algn="l"/>
            <a:r>
              <a:rPr sz="4000" b="1" i="0">
                <a:solidFill>
                  <a:srgbClr val="F0C840"/>
                </a:solidFill>
                <a:latin typeface="Geist Mono"/>
              </a:rPr>
              <a:t>340</a:t>
            </a:r>
          </a:p>
        </p:txBody>
      </p:sp>
      <p:sp>
        <p:nvSpPr>
          <p:cNvPr id="16" name="TextBox 15"/>
          <p:cNvSpPr txBox="1"/>
          <p:nvPr/>
        </p:nvSpPr>
        <p:spPr>
          <a:xfrm>
            <a:off x="8366760" y="3931920"/>
            <a:ext cx="3337560" cy="1234440"/>
          </a:xfrm>
          <a:prstGeom prst="rect">
            <a:avLst/>
          </a:prstGeom>
          <a:noFill/>
        </p:spPr>
        <p:txBody>
          <a:bodyPr wrap="square" anchor="ctr" lIns="0" rIns="0" tIns="0" bIns="0">
            <a:spAutoFit/>
          </a:bodyPr>
          <a:lstStyle/>
          <a:p>
            <a:pPr algn="l"/>
            <a:r>
              <a:rPr sz="1500" b="0" i="0">
                <a:solidFill>
                  <a:srgbClr val="14141C"/>
                </a:solidFill>
                <a:latin typeface="Geist"/>
              </a:rPr>
              <a:t>false alarms -- each just an extra check-up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Does it work for women and men?</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Screening skin spots for melanoma  ·  2026-07-08</a:t>
            </a:r>
          </a:p>
        </p:txBody>
      </p:sp>
      <p:pic>
        <p:nvPicPr>
          <p:cNvPr id="7" name="Picture 6" descr="fairness_by_sex.png"/>
          <p:cNvPicPr>
            <a:picLocks noChangeAspect="1"/>
          </p:cNvPicPr>
          <p:nvPr/>
        </p:nvPicPr>
        <p:blipFill>
          <a:blip r:embed="rId2"/>
          <a:stretch>
            <a:fillRect/>
          </a:stretch>
        </p:blipFill>
        <p:spPr>
          <a:xfrm>
            <a:off x="457200" y="1408674"/>
            <a:ext cx="6073444" cy="4497850"/>
          </a:xfrm>
          <a:prstGeom prst="rect">
            <a:avLst/>
          </a:prstGeom>
        </p:spPr>
      </p:pic>
      <p:sp>
        <p:nvSpPr>
          <p:cNvPr id="8" name="Rectangle 7"/>
          <p:cNvSpPr/>
          <p:nvPr/>
        </p:nvSpPr>
        <p:spPr>
          <a:xfrm>
            <a:off x="6942124" y="1143000"/>
            <a:ext cx="4762195" cy="13716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98156" y="1234440"/>
            <a:ext cx="4250131" cy="777240"/>
          </a:xfrm>
          <a:prstGeom prst="rect">
            <a:avLst/>
          </a:prstGeom>
          <a:noFill/>
        </p:spPr>
        <p:txBody>
          <a:bodyPr wrap="square" anchor="ctr" lIns="0" rIns="0" tIns="0" bIns="0">
            <a:spAutoFit/>
          </a:bodyPr>
          <a:lstStyle/>
          <a:p>
            <a:pPr algn="l"/>
            <a:r>
              <a:rPr sz="3800" b="1" i="0">
                <a:solidFill>
                  <a:srgbClr val="14141C"/>
                </a:solidFill>
                <a:latin typeface="Geist Mono"/>
              </a:rPr>
              <a:t>0.91</a:t>
            </a:r>
          </a:p>
        </p:txBody>
      </p:sp>
      <p:sp>
        <p:nvSpPr>
          <p:cNvPr id="10" name="TextBox 9"/>
          <p:cNvSpPr txBox="1"/>
          <p:nvPr/>
        </p:nvSpPr>
        <p:spPr>
          <a:xfrm>
            <a:off x="7198156" y="1965960"/>
            <a:ext cx="4250131" cy="457200"/>
          </a:xfrm>
          <a:prstGeom prst="rect">
            <a:avLst/>
          </a:prstGeom>
          <a:noFill/>
        </p:spPr>
        <p:txBody>
          <a:bodyPr wrap="square" anchor="t" lIns="0" rIns="0" tIns="0" bIns="0">
            <a:spAutoFit/>
          </a:bodyPr>
          <a:lstStyle/>
          <a:p>
            <a:pPr algn="l"/>
            <a:r>
              <a:rPr sz="1400" b="0" i="0">
                <a:solidFill>
                  <a:srgbClr val="14141C"/>
                </a:solidFill>
                <a:latin typeface="Geist"/>
              </a:rPr>
              <a:t>AUC for men</a:t>
            </a:r>
          </a:p>
        </p:txBody>
      </p:sp>
      <p:sp>
        <p:nvSpPr>
          <p:cNvPr id="11" name="Rectangle 10"/>
          <p:cNvSpPr/>
          <p:nvPr/>
        </p:nvSpPr>
        <p:spPr>
          <a:xfrm>
            <a:off x="6942124" y="2651760"/>
            <a:ext cx="4762195" cy="13716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98156" y="2743200"/>
            <a:ext cx="4250131" cy="777240"/>
          </a:xfrm>
          <a:prstGeom prst="rect">
            <a:avLst/>
          </a:prstGeom>
          <a:noFill/>
        </p:spPr>
        <p:txBody>
          <a:bodyPr wrap="square" anchor="ctr" lIns="0" rIns="0" tIns="0" bIns="0">
            <a:spAutoFit/>
          </a:bodyPr>
          <a:lstStyle/>
          <a:p>
            <a:pPr algn="l"/>
            <a:r>
              <a:rPr sz="3800" b="1" i="0">
                <a:solidFill>
                  <a:srgbClr val="FFFFFF"/>
                </a:solidFill>
                <a:latin typeface="Geist Mono"/>
              </a:rPr>
              <a:t>0.85</a:t>
            </a:r>
          </a:p>
        </p:txBody>
      </p:sp>
      <p:sp>
        <p:nvSpPr>
          <p:cNvPr id="13" name="TextBox 12"/>
          <p:cNvSpPr txBox="1"/>
          <p:nvPr/>
        </p:nvSpPr>
        <p:spPr>
          <a:xfrm>
            <a:off x="7198156" y="3474720"/>
            <a:ext cx="4250131" cy="457200"/>
          </a:xfrm>
          <a:prstGeom prst="rect">
            <a:avLst/>
          </a:prstGeom>
          <a:noFill/>
        </p:spPr>
        <p:txBody>
          <a:bodyPr wrap="square" anchor="t" lIns="0" rIns="0" tIns="0" bIns="0">
            <a:spAutoFit/>
          </a:bodyPr>
          <a:lstStyle/>
          <a:p>
            <a:pPr algn="l"/>
            <a:r>
              <a:rPr sz="1400" b="0" i="0">
                <a:solidFill>
                  <a:srgbClr val="FFFFFF"/>
                </a:solidFill>
                <a:latin typeface="Geist"/>
              </a:rPr>
              <a:t>AUC for women</a:t>
            </a:r>
          </a:p>
        </p:txBody>
      </p:sp>
      <p:sp>
        <p:nvSpPr>
          <p:cNvPr id="14" name="TextBox 13"/>
          <p:cNvSpPr txBox="1"/>
          <p:nvPr/>
        </p:nvSpPr>
        <p:spPr>
          <a:xfrm>
            <a:off x="6942124" y="4251960"/>
            <a:ext cx="4762195" cy="1097280"/>
          </a:xfrm>
          <a:prstGeom prst="rect">
            <a:avLst/>
          </a:prstGeom>
          <a:noFill/>
        </p:spPr>
        <p:txBody>
          <a:bodyPr wrap="square" anchor="t" lIns="0" rIns="0" tIns="0" bIns="0">
            <a:spAutoFit/>
          </a:bodyPr>
          <a:lstStyle/>
          <a:p>
            <a:pPr algn="l"/>
            <a:r>
              <a:rPr sz="1500" b="0" i="1">
                <a:solidFill>
                  <a:srgbClr val="14141C"/>
                </a:solidFill>
                <a:latin typeface="Geist"/>
              </a:rPr>
              <a:t>Mind the 0.06 gap. Both clear 0.8, but a screen you trust means naming where it is weaker -- and working to close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Where the screen looks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Screening skin spots for melanoma  ·  2026-07-08</a:t>
            </a:r>
          </a:p>
        </p:txBody>
      </p:sp>
      <p:pic>
        <p:nvPicPr>
          <p:cNvPr id="7" name="Picture 6" descr="gradcam.png"/>
          <p:cNvPicPr>
            <a:picLocks noChangeAspect="1"/>
          </p:cNvPicPr>
          <p:nvPr/>
        </p:nvPicPr>
        <p:blipFill>
          <a:blip r:embed="rId2"/>
          <a:stretch>
            <a:fillRect/>
          </a:stretch>
        </p:blipFill>
        <p:spPr>
          <a:xfrm>
            <a:off x="2523640" y="1051560"/>
            <a:ext cx="7114238" cy="4297679"/>
          </a:xfrm>
          <a:prstGeom prst="rect">
            <a:avLst/>
          </a:prstGeom>
        </p:spPr>
      </p:pic>
      <p:sp>
        <p:nvSpPr>
          <p:cNvPr id="8" name="Rectangle 7"/>
          <p:cNvSpPr/>
          <p:nvPr/>
        </p:nvSpPr>
        <p:spPr>
          <a:xfrm>
            <a:off x="457200" y="5458968"/>
            <a:ext cx="11247120" cy="713232"/>
          </a:xfrm>
          <a:prstGeom prst="rect">
            <a:avLst/>
          </a:prstGeom>
          <a:solidFill>
            <a:srgbClr val="ED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550407"/>
            <a:ext cx="10698480" cy="548640"/>
          </a:xfrm>
          <a:prstGeom prst="rect">
            <a:avLst/>
          </a:prstGeom>
          <a:noFill/>
        </p:spPr>
        <p:txBody>
          <a:bodyPr wrap="square" anchor="ctr" lIns="0" rIns="0" tIns="0" bIns="0">
            <a:spAutoFit/>
          </a:bodyPr>
          <a:lstStyle/>
          <a:p>
            <a:pPr algn="l"/>
            <a:r>
              <a:rPr sz="1450" b="0" i="0">
                <a:solidFill>
                  <a:srgbClr val="14141C"/>
                </a:solidFill>
                <a:latin typeface="Geist"/>
              </a:rPr>
              <a:t>Grad-CAM = feature importance for an image: the bright areas sit ON the pigmented lesion -- the same cues a dermatologist reads, not a hair, a ruler, or the frame corner.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40E0D0"/>
                </a:solidFill>
                <a:latin typeface="Geist Mono"/>
              </a:rPr>
              <a:t>Overview</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BEING HONEST</a:t>
            </a:r>
          </a:p>
        </p:txBody>
      </p:sp>
      <p:sp>
        <p:nvSpPr>
          <p:cNvPr id="7" name="Rectangle 6"/>
          <p:cNvSpPr/>
          <p:nvPr/>
        </p:nvSpPr>
        <p:spPr>
          <a:xfrm>
            <a:off x="777240" y="5120640"/>
            <a:ext cx="1828800" cy="18288"/>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Screening skin spots for melanoma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What it can and cannot do</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Screening skin spots for melanoma  ·  2026-07-08</a:t>
            </a:r>
          </a:p>
        </p:txBody>
      </p:sp>
      <p:sp>
        <p:nvSpPr>
          <p:cNvPr id="7" name="Rectangle 6"/>
          <p:cNvSpPr/>
          <p:nvPr/>
        </p:nvSpPr>
        <p:spPr>
          <a:xfrm>
            <a:off x="502920" y="1106424"/>
            <a:ext cx="3535680" cy="51206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3535680" cy="5120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51560"/>
            <a:ext cx="3535680" cy="9144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600200"/>
            <a:ext cx="3023616" cy="457200"/>
          </a:xfrm>
          <a:prstGeom prst="rect">
            <a:avLst/>
          </a:prstGeom>
          <a:noFill/>
        </p:spPr>
        <p:txBody>
          <a:bodyPr wrap="square" anchor="t" lIns="0" rIns="0" tIns="0" bIns="0">
            <a:spAutoFit/>
          </a:bodyPr>
          <a:lstStyle/>
          <a:p>
            <a:pPr algn="l"/>
            <a:r>
              <a:rPr sz="1700" b="1" i="0">
                <a:solidFill>
                  <a:srgbClr val="40E0D0"/>
                </a:solidFill>
                <a:latin typeface="Geist Mono"/>
              </a:rPr>
              <a:t>IT WORKS</a:t>
            </a:r>
          </a:p>
        </p:txBody>
      </p:sp>
      <p:sp>
        <p:nvSpPr>
          <p:cNvPr id="11" name="TextBox 10"/>
          <p:cNvSpPr txBox="1"/>
          <p:nvPr/>
        </p:nvSpPr>
        <p:spPr>
          <a:xfrm>
            <a:off x="713232" y="2286000"/>
            <a:ext cx="3023616" cy="3017520"/>
          </a:xfrm>
          <a:prstGeom prst="rect">
            <a:avLst/>
          </a:prstGeom>
          <a:noFill/>
        </p:spPr>
        <p:txBody>
          <a:bodyPr wrap="square" anchor="t" lIns="0" rIns="0" tIns="0" bIns="0">
            <a:spAutoFit/>
          </a:bodyPr>
          <a:lstStyle/>
          <a:p>
            <a:pPr algn="l"/>
            <a:r>
              <a:rPr sz="1600" b="0" i="0">
                <a:solidFill>
                  <a:srgbClr val="14141C"/>
                </a:solidFill>
                <a:latin typeface="Geist"/>
              </a:rPr>
              <a:t>A real melanoma screen on real dermatoscopy: AUC 0.885, tuned to catch 90% of melanomas, and it looks at the lesion for the right reasons.</a:t>
            </a:r>
          </a:p>
        </p:txBody>
      </p:sp>
      <p:sp>
        <p:nvSpPr>
          <p:cNvPr id="12" name="Rectangle 11"/>
          <p:cNvSpPr/>
          <p:nvPr/>
        </p:nvSpPr>
        <p:spPr>
          <a:xfrm>
            <a:off x="457200" y="5212080"/>
            <a:ext cx="353568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5349240"/>
            <a:ext cx="3023616" cy="548640"/>
          </a:xfrm>
          <a:prstGeom prst="rect">
            <a:avLst/>
          </a:prstGeom>
          <a:noFill/>
        </p:spPr>
        <p:txBody>
          <a:bodyPr wrap="square" anchor="ctr" lIns="0" rIns="0" tIns="0" bIns="0">
            <a:spAutoFit/>
          </a:bodyPr>
          <a:lstStyle/>
          <a:p>
            <a:pPr algn="l"/>
            <a:r>
              <a:rPr sz="1500" b="1" i="0">
                <a:solidFill>
                  <a:srgbClr val="40E0D0"/>
                </a:solidFill>
                <a:latin typeface="Geist Mono"/>
              </a:rPr>
              <a:t>AUC 0.885 · recall 90%</a:t>
            </a:r>
          </a:p>
        </p:txBody>
      </p:sp>
      <p:sp>
        <p:nvSpPr>
          <p:cNvPr id="14" name="Rectangle 13"/>
          <p:cNvSpPr/>
          <p:nvPr/>
        </p:nvSpPr>
        <p:spPr>
          <a:xfrm>
            <a:off x="4358640" y="1106424"/>
            <a:ext cx="3535680" cy="51206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2920" y="1051560"/>
            <a:ext cx="3535680" cy="5120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12920" y="1051560"/>
            <a:ext cx="3535680" cy="9144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68952" y="1600200"/>
            <a:ext cx="3023616" cy="457200"/>
          </a:xfrm>
          <a:prstGeom prst="rect">
            <a:avLst/>
          </a:prstGeom>
          <a:noFill/>
        </p:spPr>
        <p:txBody>
          <a:bodyPr wrap="square" anchor="t" lIns="0" rIns="0" tIns="0" bIns="0">
            <a:spAutoFit/>
          </a:bodyPr>
          <a:lstStyle/>
          <a:p>
            <a:pPr algn="l"/>
            <a:r>
              <a:rPr sz="1700" b="1" i="0">
                <a:solidFill>
                  <a:srgbClr val="FF1493"/>
                </a:solidFill>
                <a:latin typeface="Geist Mono"/>
              </a:rPr>
              <a:t>BUT IT IS UNEVEN</a:t>
            </a:r>
          </a:p>
        </p:txBody>
      </p:sp>
      <p:sp>
        <p:nvSpPr>
          <p:cNvPr id="18" name="TextBox 17"/>
          <p:cNvSpPr txBox="1"/>
          <p:nvPr/>
        </p:nvSpPr>
        <p:spPr>
          <a:xfrm>
            <a:off x="4568952" y="2286000"/>
            <a:ext cx="3023616" cy="3017520"/>
          </a:xfrm>
          <a:prstGeom prst="rect">
            <a:avLst/>
          </a:prstGeom>
          <a:noFill/>
        </p:spPr>
        <p:txBody>
          <a:bodyPr wrap="square" anchor="t" lIns="0" rIns="0" tIns="0" bIns="0">
            <a:spAutoFit/>
          </a:bodyPr>
          <a:lstStyle/>
          <a:p>
            <a:pPr algn="l"/>
            <a:r>
              <a:rPr sz="1600" b="0" i="0">
                <a:solidFill>
                  <a:srgbClr val="14141C"/>
                </a:solidFill>
                <a:latin typeface="Geist"/>
              </a:rPr>
              <a:t>A real gap by sex (0.85 vs 0.91), and HAM10000 skews toward lighter skin -- so performance on darker skin is unproven here.</a:t>
            </a:r>
          </a:p>
        </p:txBody>
      </p:sp>
      <p:sp>
        <p:nvSpPr>
          <p:cNvPr id="19" name="Rectangle 18"/>
          <p:cNvSpPr/>
          <p:nvPr/>
        </p:nvSpPr>
        <p:spPr>
          <a:xfrm>
            <a:off x="4312920" y="5212080"/>
            <a:ext cx="353568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68952" y="5349240"/>
            <a:ext cx="3023616" cy="548640"/>
          </a:xfrm>
          <a:prstGeom prst="rect">
            <a:avLst/>
          </a:prstGeom>
          <a:noFill/>
        </p:spPr>
        <p:txBody>
          <a:bodyPr wrap="square" anchor="ctr" lIns="0" rIns="0" tIns="0" bIns="0">
            <a:spAutoFit/>
          </a:bodyPr>
          <a:lstStyle/>
          <a:p>
            <a:pPr algn="l"/>
            <a:r>
              <a:rPr sz="1500" b="1" i="0">
                <a:solidFill>
                  <a:srgbClr val="FF1493"/>
                </a:solidFill>
                <a:latin typeface="Geist Mono"/>
              </a:rPr>
              <a:t>a real 0.06 gap by sex</a:t>
            </a:r>
          </a:p>
        </p:txBody>
      </p:sp>
      <p:sp>
        <p:nvSpPr>
          <p:cNvPr id="21" name="Rectangle 20"/>
          <p:cNvSpPr/>
          <p:nvPr/>
        </p:nvSpPr>
        <p:spPr>
          <a:xfrm>
            <a:off x="8214360" y="1106424"/>
            <a:ext cx="3535680" cy="51206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68640" y="1051560"/>
            <a:ext cx="3535680" cy="5120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68640" y="1051560"/>
            <a:ext cx="3535680" cy="9144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24672" y="1600200"/>
            <a:ext cx="3023616" cy="457200"/>
          </a:xfrm>
          <a:prstGeom prst="rect">
            <a:avLst/>
          </a:prstGeom>
          <a:noFill/>
        </p:spPr>
        <p:txBody>
          <a:bodyPr wrap="square" anchor="t" lIns="0" rIns="0" tIns="0" bIns="0">
            <a:spAutoFit/>
          </a:bodyPr>
          <a:lstStyle/>
          <a:p>
            <a:pPr algn="l"/>
            <a:r>
              <a:rPr sz="1700" b="1" i="0">
                <a:solidFill>
                  <a:srgbClr val="8A2BE2"/>
                </a:solidFill>
                <a:latin typeface="Geist Mono"/>
              </a:rPr>
              <a:t>A REAL TOOL</a:t>
            </a:r>
          </a:p>
        </p:txBody>
      </p:sp>
      <p:sp>
        <p:nvSpPr>
          <p:cNvPr id="25" name="TextBox 24"/>
          <p:cNvSpPr txBox="1"/>
          <p:nvPr/>
        </p:nvSpPr>
        <p:spPr>
          <a:xfrm>
            <a:off x="8424672" y="2286000"/>
            <a:ext cx="3023616" cy="3017520"/>
          </a:xfrm>
          <a:prstGeom prst="rect">
            <a:avLst/>
          </a:prstGeom>
          <a:noFill/>
        </p:spPr>
        <p:txBody>
          <a:bodyPr wrap="square" anchor="t" lIns="0" rIns="0" tIns="0" bIns="0">
            <a:spAutoFit/>
          </a:bodyPr>
          <a:lstStyle/>
          <a:p>
            <a:pPr algn="l"/>
            <a:r>
              <a:rPr sz="1600" b="0" i="0">
                <a:solidFill>
                  <a:srgbClr val="14141C"/>
                </a:solidFill>
                <a:latin typeface="Geist"/>
              </a:rPr>
              <a:t>Would train on more diverse patients, be validated across many hospitals, and keep a dermatologist in the loop before touching a patient.</a:t>
            </a:r>
          </a:p>
        </p:txBody>
      </p:sp>
      <p:sp>
        <p:nvSpPr>
          <p:cNvPr id="26" name="Rectangle 25"/>
          <p:cNvSpPr/>
          <p:nvPr/>
        </p:nvSpPr>
        <p:spPr>
          <a:xfrm>
            <a:off x="8168640" y="5212080"/>
            <a:ext cx="353568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24672" y="5349240"/>
            <a:ext cx="3023616" cy="548640"/>
          </a:xfrm>
          <a:prstGeom prst="rect">
            <a:avLst/>
          </a:prstGeom>
          <a:noFill/>
        </p:spPr>
        <p:txBody>
          <a:bodyPr wrap="square" anchor="ctr" lIns="0" rIns="0" tIns="0" bIns="0">
            <a:spAutoFit/>
          </a:bodyPr>
          <a:lstStyle/>
          <a:p>
            <a:pPr algn="l"/>
            <a:r>
              <a:rPr sz="1500" b="1" i="0">
                <a:solidFill>
                  <a:srgbClr val="8A2BE2"/>
                </a:solidFill>
                <a:latin typeface="Geist Mono"/>
              </a:rPr>
              <a:t>not ready for a patient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References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Screening skin spots for melanoma  ·  2026-07-08</a:t>
            </a:r>
          </a:p>
        </p:txBody>
      </p:sp>
      <p:sp>
        <p:nvSpPr>
          <p:cNvPr id="7" name="TextBox 6"/>
          <p:cNvSpPr txBox="1"/>
          <p:nvPr/>
        </p:nvSpPr>
        <p:spPr>
          <a:xfrm>
            <a:off x="457200" y="1097280"/>
            <a:ext cx="5349240" cy="365760"/>
          </a:xfrm>
          <a:prstGeom prst="rect">
            <a:avLst/>
          </a:prstGeom>
          <a:noFill/>
        </p:spPr>
        <p:txBody>
          <a:bodyPr wrap="square" anchor="t" lIns="0" rIns="0" tIns="0" bIns="0">
            <a:spAutoFit/>
          </a:bodyPr>
          <a:lstStyle/>
          <a:p>
            <a:pPr algn="l"/>
            <a:r>
              <a:rPr sz="1600" b="1" i="0">
                <a:solidFill>
                  <a:srgbClr val="40E0D0"/>
                </a:solidFill>
                <a:latin typeface="Geist Mono"/>
              </a:rPr>
              <a:t>LANDMARKS &amp; DATA</a:t>
            </a:r>
          </a:p>
        </p:txBody>
      </p:sp>
      <p:sp>
        <p:nvSpPr>
          <p:cNvPr id="8" name="TextBox 7"/>
          <p:cNvSpPr txBox="1"/>
          <p:nvPr/>
        </p:nvSpPr>
        <p:spPr>
          <a:xfrm>
            <a:off x="457200" y="1600200"/>
            <a:ext cx="5349240" cy="4571999"/>
          </a:xfrm>
          <a:prstGeom prst="rect">
            <a:avLst/>
          </a:prstGeom>
          <a:noFill/>
        </p:spPr>
        <p:txBody>
          <a:bodyPr wrap="square" anchor="t" lIns="0" rIns="0" tIns="0" bIns="0">
            <a:spAutoFit/>
          </a:bodyPr>
          <a:lstStyle/>
          <a:p>
            <a:pPr algn="l"/>
            <a:r>
              <a:rPr sz="1450" b="0" i="0">
                <a:solidFill>
                  <a:srgbClr val="14141C"/>
                </a:solidFill>
                <a:latin typeface="Geist"/>
              </a:rPr>
              <a:t>[1] Esteva et al. 2017, Nature -- one network matched 21 dermatologists.
[2] Tschandl, Rosendahl &amp; Kittler 2018, Sci Data -- the HAM10000 dataset.
[3] Haenssle et al. 2018, Ann Oncol -- CNN vs 58 dermatologists on melanoma.
[4] Tschandl et al. 2019, Lancet Oncol -- machines vs human readers, international.</a:t>
            </a:r>
          </a:p>
        </p:txBody>
      </p:sp>
      <p:sp>
        <p:nvSpPr>
          <p:cNvPr id="9" name="TextBox 8"/>
          <p:cNvSpPr txBox="1"/>
          <p:nvPr/>
        </p:nvSpPr>
        <p:spPr>
          <a:xfrm>
            <a:off x="6355080" y="1097280"/>
            <a:ext cx="5349240" cy="365760"/>
          </a:xfrm>
          <a:prstGeom prst="rect">
            <a:avLst/>
          </a:prstGeom>
          <a:noFill/>
        </p:spPr>
        <p:txBody>
          <a:bodyPr wrap="square" anchor="t" lIns="0" rIns="0" tIns="0" bIns="0">
            <a:spAutoFit/>
          </a:bodyPr>
          <a:lstStyle/>
          <a:p>
            <a:pPr algn="l"/>
            <a:r>
              <a:rPr sz="1600" b="1" i="0">
                <a:solidFill>
                  <a:srgbClr val="FF1493"/>
                </a:solidFill>
                <a:latin typeface="Geist Mono"/>
              </a:rPr>
              <a:t>METHODS &amp; PRIMERS</a:t>
            </a:r>
          </a:p>
        </p:txBody>
      </p:sp>
      <p:sp>
        <p:nvSpPr>
          <p:cNvPr id="10" name="TextBox 9"/>
          <p:cNvSpPr txBox="1"/>
          <p:nvPr/>
        </p:nvSpPr>
        <p:spPr>
          <a:xfrm>
            <a:off x="6355080" y="1600200"/>
            <a:ext cx="5349240" cy="4571999"/>
          </a:xfrm>
          <a:prstGeom prst="rect">
            <a:avLst/>
          </a:prstGeom>
          <a:noFill/>
        </p:spPr>
        <p:txBody>
          <a:bodyPr wrap="square" anchor="t" lIns="0" rIns="0" tIns="0" bIns="0">
            <a:spAutoFit/>
          </a:bodyPr>
          <a:lstStyle/>
          <a:p>
            <a:pPr algn="l"/>
            <a:r>
              <a:rPr sz="1450" b="0" i="0">
                <a:solidFill>
                  <a:srgbClr val="14141C"/>
                </a:solidFill>
                <a:latin typeface="Geist"/>
              </a:rPr>
              <a:t>[5] Kim et al. 2022, BMC Med Imaging -- transfer learning for medical images.
[6] Trevethan 2017, Front Public Health -- sensitivity, specificity, and their pitfalls.
[7] Wei et al. 2024, Front Med -- AI and skin cancer: how well it works and the gaps.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The honest bottom line</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Screening skin spots for melanoma  ·  2026-07-08</a:t>
            </a:r>
          </a:p>
        </p:txBody>
      </p:sp>
      <p:sp>
        <p:nvSpPr>
          <p:cNvPr id="7" name="TextBox 6"/>
          <p:cNvSpPr txBox="1"/>
          <p:nvPr/>
        </p:nvSpPr>
        <p:spPr>
          <a:xfrm>
            <a:off x="457200" y="2302459"/>
            <a:ext cx="11247120" cy="1005840"/>
          </a:xfrm>
          <a:prstGeom prst="rect">
            <a:avLst/>
          </a:prstGeom>
          <a:noFill/>
        </p:spPr>
        <p:txBody>
          <a:bodyPr wrap="square" anchor="t" lIns="0" rIns="0" tIns="0" bIns="0">
            <a:spAutoFit/>
          </a:bodyPr>
          <a:lstStyle/>
          <a:p>
            <a:pPr algn="ctr"/>
            <a:r>
              <a:rPr sz="3200" b="1" i="0">
                <a:solidFill>
                  <a:srgbClr val="40E0D0"/>
                </a:solidFill>
                <a:latin typeface="Geist Mono"/>
              </a:rPr>
              <a:t>A screen earns trust by catching the dangerous case.</a:t>
            </a:r>
          </a:p>
        </p:txBody>
      </p:sp>
      <p:sp>
        <p:nvSpPr>
          <p:cNvPr id="8" name="Rectangle 7"/>
          <p:cNvSpPr/>
          <p:nvPr/>
        </p:nvSpPr>
        <p:spPr>
          <a:xfrm>
            <a:off x="4983480" y="3582619"/>
            <a:ext cx="2194560" cy="4572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4085539"/>
            <a:ext cx="9418320" cy="1097280"/>
          </a:xfrm>
          <a:prstGeom prst="rect">
            <a:avLst/>
          </a:prstGeom>
          <a:noFill/>
        </p:spPr>
        <p:txBody>
          <a:bodyPr wrap="square" anchor="t" lIns="0" rIns="0" tIns="0" bIns="0">
            <a:spAutoFit/>
          </a:bodyPr>
          <a:lstStyle/>
          <a:p>
            <a:pPr algn="ctr"/>
            <a:r>
              <a:rPr sz="1900" b="0" i="0">
                <a:solidFill>
                  <a:srgbClr val="14141C"/>
                </a:solidFill>
                <a:latin typeface="Geist"/>
              </a:rPr>
              <a:t>Tune the threshold on purpose, check who it works for -- then use a validated tool and a dermatologist to actually screen a patient.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0"/>
            <a:ext cx="228600"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417320"/>
            <a:ext cx="10058400" cy="1280160"/>
          </a:xfrm>
          <a:prstGeom prst="rect">
            <a:avLst/>
          </a:prstGeom>
          <a:noFill/>
        </p:spPr>
        <p:txBody>
          <a:bodyPr wrap="square" anchor="t" lIns="0" rIns="0" tIns="0" bIns="0">
            <a:spAutoFit/>
          </a:bodyPr>
          <a:lstStyle/>
          <a:p>
            <a:pPr algn="ctr"/>
            <a:r>
              <a:rPr sz="6000" b="1" i="0">
                <a:solidFill>
                  <a:srgbClr val="FF1493"/>
                </a:solidFill>
                <a:latin typeface="Geist Mono"/>
              </a:rPr>
              <a:t>Thank You</a:t>
            </a:r>
          </a:p>
        </p:txBody>
      </p:sp>
      <p:sp>
        <p:nvSpPr>
          <p:cNvPr id="6" name="TextBox 5"/>
          <p:cNvSpPr txBox="1"/>
          <p:nvPr/>
        </p:nvSpPr>
        <p:spPr>
          <a:xfrm>
            <a:off x="1188720" y="3246120"/>
            <a:ext cx="10058400" cy="640080"/>
          </a:xfrm>
          <a:prstGeom prst="rect">
            <a:avLst/>
          </a:prstGeom>
          <a:noFill/>
        </p:spPr>
        <p:txBody>
          <a:bodyPr wrap="square" anchor="t" lIns="0" rIns="0" tIns="0" bIns="0">
            <a:spAutoFit/>
          </a:bodyPr>
          <a:lstStyle/>
          <a:p>
            <a:pPr algn="ctr"/>
            <a:r>
              <a:rPr sz="3000" b="0" i="0">
                <a:solidFill>
                  <a:srgbClr val="40E0D0"/>
                </a:solidFill>
                <a:latin typeface="Noto Sans CJK TC"/>
              </a:rPr>
              <a:t>魏晉祺</a:t>
            </a:r>
          </a:p>
        </p:txBody>
      </p:sp>
      <p:sp>
        <p:nvSpPr>
          <p:cNvPr id="7" name="TextBox 6"/>
          <p:cNvSpPr txBox="1"/>
          <p:nvPr/>
        </p:nvSpPr>
        <p:spPr>
          <a:xfrm>
            <a:off x="1188720" y="3922776"/>
            <a:ext cx="10058400" cy="457200"/>
          </a:xfrm>
          <a:prstGeom prst="rect">
            <a:avLst/>
          </a:prstGeom>
          <a:noFill/>
        </p:spPr>
        <p:txBody>
          <a:bodyPr wrap="square" anchor="t" lIns="0" rIns="0" tIns="0" bIns="0">
            <a:spAutoFit/>
          </a:bodyPr>
          <a:lstStyle/>
          <a:p>
            <a:pPr algn="ctr"/>
            <a:r>
              <a:rPr sz="2000" b="1" i="0">
                <a:solidFill>
                  <a:srgbClr val="40E0D0"/>
                </a:solidFill>
                <a:latin typeface="Geist Mono"/>
              </a:rPr>
              <a:t>Jinchi Wei</a:t>
            </a:r>
          </a:p>
        </p:txBody>
      </p:sp>
      <p:sp>
        <p:nvSpPr>
          <p:cNvPr id="8" name="TextBox 7"/>
          <p:cNvSpPr txBox="1"/>
          <p:nvPr/>
        </p:nvSpPr>
        <p:spPr>
          <a:xfrm>
            <a:off x="1188720" y="4398264"/>
            <a:ext cx="10058400" cy="365760"/>
          </a:xfrm>
          <a:prstGeom prst="rect">
            <a:avLst/>
          </a:prstGeom>
          <a:noFill/>
        </p:spPr>
        <p:txBody>
          <a:bodyPr wrap="square" anchor="t" lIns="0" rIns="0" tIns="0" bIns="0">
            <a:spAutoFit/>
          </a:bodyPr>
          <a:lstStyle/>
          <a:p>
            <a:pPr algn="ctr"/>
            <a:r>
              <a:rPr sz="1300" b="0" i="0">
                <a:solidFill>
                  <a:srgbClr val="FFFFFF"/>
                </a:solidFill>
                <a:latin typeface="Geist"/>
              </a:rPr>
              <a:t>Outset</a:t>
            </a:r>
          </a:p>
        </p:txBody>
      </p:sp>
      <p:sp>
        <p:nvSpPr>
          <p:cNvPr id="9" name="TextBox 8"/>
          <p:cNvSpPr txBox="1"/>
          <p:nvPr/>
        </p:nvSpPr>
        <p:spPr>
          <a:xfrm>
            <a:off x="1188720" y="4837176"/>
            <a:ext cx="10058400" cy="365760"/>
          </a:xfrm>
          <a:prstGeom prst="rect">
            <a:avLst/>
          </a:prstGeom>
          <a:noFill/>
        </p:spPr>
        <p:txBody>
          <a:bodyPr wrap="square" anchor="t" lIns="0" rIns="0" tIns="0" bIns="0">
            <a:spAutoFit/>
          </a:bodyPr>
          <a:lstStyle/>
          <a:p>
            <a:pPr algn="ctr"/>
            <a:r>
              <a:rPr sz="1600" b="0" i="0">
                <a:solidFill>
                  <a:srgbClr val="F0C840"/>
                </a:solidFill>
                <a:latin typeface="Geist Mono"/>
              </a:rPr>
              <a:t>jinchikwei@gmail.com</a:t>
            </a:r>
          </a:p>
        </p:txBody>
      </p:sp>
      <p:pic>
        <p:nvPicPr>
          <p:cNvPr id="10" name="Picture 9" descr="meng.png"/>
          <p:cNvPicPr>
            <a:picLocks noChangeAspect="1"/>
          </p:cNvPicPr>
          <p:nvPr/>
        </p:nvPicPr>
        <p:blipFill>
          <a:blip r:embed="rId2"/>
          <a:stretch>
            <a:fillRect/>
          </a:stretch>
        </p:blipFill>
        <p:spPr>
          <a:xfrm>
            <a:off x="10086477" y="5486400"/>
            <a:ext cx="690906" cy="914400"/>
          </a:xfrm>
          <a:prstGeom prst="rect">
            <a:avLst/>
          </a:prstGeom>
        </p:spPr>
      </p:pic>
      <p:pic>
        <p:nvPicPr>
          <p:cNvPr id="11" name="Picture 10" descr="xiang.png"/>
          <p:cNvPicPr>
            <a:picLocks noChangeAspect="1"/>
          </p:cNvPicPr>
          <p:nvPr/>
        </p:nvPicPr>
        <p:blipFill>
          <a:blip r:embed="rId3"/>
          <a:stretch>
            <a:fillRect/>
          </a:stretch>
        </p:blipFill>
        <p:spPr>
          <a:xfrm>
            <a:off x="10978551" y="5486400"/>
            <a:ext cx="755944" cy="914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