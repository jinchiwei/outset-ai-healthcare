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E1A35"/>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E1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731520" cy="6858000"/>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31520" y="0"/>
            <a:ext cx="228600" cy="6858000"/>
          </a:xfrm>
          <a:prstGeom prst="rect">
            <a:avLst/>
          </a:prstGeom>
          <a:solidFill>
            <a:srgbClr val="FF1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88720" y="1280160"/>
            <a:ext cx="10058400" cy="365760"/>
          </a:xfrm>
          <a:prstGeom prst="rect">
            <a:avLst/>
          </a:prstGeom>
          <a:noFill/>
        </p:spPr>
        <p:txBody>
          <a:bodyPr wrap="square" anchor="t" lIns="0" rIns="0" tIns="0" bIns="0">
            <a:spAutoFit/>
          </a:bodyPr>
          <a:lstStyle/>
          <a:p>
            <a:pPr algn="l"/>
            <a:r>
              <a:rPr sz="1400" b="1" i="0">
                <a:solidFill>
                  <a:srgbClr val="40E0D0"/>
                </a:solidFill>
                <a:latin typeface="Geist Mono"/>
              </a:rPr>
              <a:t>Outset · AI in Healthcare · Day 3 · Group 5</a:t>
            </a:r>
          </a:p>
        </p:txBody>
      </p:sp>
      <p:sp>
        <p:nvSpPr>
          <p:cNvPr id="6" name="TextBox 5"/>
          <p:cNvSpPr txBox="1"/>
          <p:nvPr/>
        </p:nvSpPr>
        <p:spPr>
          <a:xfrm>
            <a:off x="1188720" y="1737360"/>
            <a:ext cx="10058400" cy="1828800"/>
          </a:xfrm>
          <a:prstGeom prst="rect">
            <a:avLst/>
          </a:prstGeom>
          <a:noFill/>
        </p:spPr>
        <p:txBody>
          <a:bodyPr wrap="square" anchor="t" lIns="0" rIns="0" tIns="0" bIns="0">
            <a:spAutoFit/>
          </a:bodyPr>
          <a:lstStyle/>
          <a:p>
            <a:pPr algn="l"/>
            <a:r>
              <a:rPr sz="4800" b="1" i="0">
                <a:solidFill>
                  <a:srgbClr val="FFFFFF"/>
                </a:solidFill>
                <a:latin typeface="Geist Mono"/>
              </a:rPr>
              <a:t>Predicting heart disease from a checkup</a:t>
            </a:r>
          </a:p>
        </p:txBody>
      </p:sp>
      <p:sp>
        <p:nvSpPr>
          <p:cNvPr id="7" name="TextBox 6"/>
          <p:cNvSpPr txBox="1"/>
          <p:nvPr/>
        </p:nvSpPr>
        <p:spPr>
          <a:xfrm>
            <a:off x="1188720" y="3703320"/>
            <a:ext cx="10058400" cy="640080"/>
          </a:xfrm>
          <a:prstGeom prst="rect">
            <a:avLst/>
          </a:prstGeom>
          <a:noFill/>
        </p:spPr>
        <p:txBody>
          <a:bodyPr wrap="square" anchor="t" lIns="0" rIns="0" tIns="0" bIns="0">
            <a:spAutoFit/>
          </a:bodyPr>
          <a:lstStyle/>
          <a:p>
            <a:pPr algn="l"/>
            <a:r>
              <a:rPr sz="1800" b="0" i="0">
                <a:solidFill>
                  <a:srgbClr val="E5E5EA"/>
                </a:solidFill>
                <a:latin typeface="Geist"/>
              </a:rPr>
              <a:t>A tabular model, and the fairness question at its center: does it work for women?</a:t>
            </a:r>
          </a:p>
        </p:txBody>
      </p:sp>
      <p:sp>
        <p:nvSpPr>
          <p:cNvPr id="8" name="TextBox 7"/>
          <p:cNvSpPr txBox="1"/>
          <p:nvPr/>
        </p:nvSpPr>
        <p:spPr>
          <a:xfrm>
            <a:off x="1188720" y="4480559"/>
            <a:ext cx="10058400" cy="365760"/>
          </a:xfrm>
          <a:prstGeom prst="rect">
            <a:avLst/>
          </a:prstGeom>
          <a:noFill/>
        </p:spPr>
        <p:txBody>
          <a:bodyPr wrap="square" anchor="t" lIns="0" rIns="0" tIns="0" bIns="0">
            <a:spAutoFit/>
          </a:bodyPr>
          <a:lstStyle/>
          <a:p>
            <a:pPr algn="l"/>
            <a:r>
              <a:rPr sz="2200" b="1" i="0">
                <a:solidFill>
                  <a:srgbClr val="40E0D0"/>
                </a:solidFill>
                <a:latin typeface="Geist Mono"/>
              </a:rPr>
              <a:t>Jinchi Wei</a:t>
            </a:r>
          </a:p>
        </p:txBody>
      </p:sp>
      <p:sp>
        <p:nvSpPr>
          <p:cNvPr id="9" name="TextBox 8"/>
          <p:cNvSpPr txBox="1"/>
          <p:nvPr/>
        </p:nvSpPr>
        <p:spPr>
          <a:xfrm>
            <a:off x="1188720" y="4937759"/>
            <a:ext cx="10058400" cy="320040"/>
          </a:xfrm>
          <a:prstGeom prst="rect">
            <a:avLst/>
          </a:prstGeom>
          <a:noFill/>
        </p:spPr>
        <p:txBody>
          <a:bodyPr wrap="square" anchor="t" lIns="0" rIns="0" tIns="0" bIns="0">
            <a:spAutoFit/>
          </a:bodyPr>
          <a:lstStyle/>
          <a:p>
            <a:pPr algn="l"/>
            <a:r>
              <a:rPr sz="1600" b="1" i="0">
                <a:solidFill>
                  <a:srgbClr val="FF1493"/>
                </a:solidFill>
                <a:latin typeface="Geist Mono"/>
              </a:rPr>
              <a:t>Outset</a:t>
            </a:r>
          </a:p>
        </p:txBody>
      </p:sp>
      <p:sp>
        <p:nvSpPr>
          <p:cNvPr id="10" name="Rectangle 9"/>
          <p:cNvSpPr/>
          <p:nvPr/>
        </p:nvSpPr>
        <p:spPr>
          <a:xfrm>
            <a:off x="1188720" y="5440679"/>
            <a:ext cx="3657600" cy="18288"/>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88720" y="5577840"/>
            <a:ext cx="10058400" cy="274320"/>
          </a:xfrm>
          <a:prstGeom prst="rect">
            <a:avLst/>
          </a:prstGeom>
          <a:noFill/>
        </p:spPr>
        <p:txBody>
          <a:bodyPr wrap="square" anchor="t" lIns="0" rIns="0" tIns="0" bIns="0">
            <a:spAutoFit/>
          </a:bodyPr>
          <a:lstStyle/>
          <a:p>
            <a:pPr algn="l"/>
            <a:r>
              <a:rPr sz="1200" b="0" i="0">
                <a:solidFill>
                  <a:srgbClr val="F0C840"/>
                </a:solidFill>
                <a:latin typeface="Geist Mono"/>
              </a:rPr>
              <a:t>2026-07-08</a:t>
            </a:r>
          </a:p>
        </p:txBody>
      </p:sp>
      <p:pic>
        <p:nvPicPr>
          <p:cNvPr id="12" name="Picture 11" descr="ucsf-logo.png"/>
          <p:cNvPicPr>
            <a:picLocks noChangeAspect="1"/>
          </p:cNvPicPr>
          <p:nvPr/>
        </p:nvPicPr>
        <p:blipFill>
          <a:blip r:embed="rId2"/>
          <a:stretch>
            <a:fillRect/>
          </a:stretch>
        </p:blipFill>
        <p:spPr>
          <a:xfrm>
            <a:off x="9310379" y="5248656"/>
            <a:ext cx="1163329" cy="1152144"/>
          </a:xfrm>
          <a:prstGeom prst="rect">
            <a:avLst/>
          </a:prstGeom>
        </p:spPr>
      </p:pic>
      <p:pic>
        <p:nvPicPr>
          <p:cNvPr id="13" name="Picture 12" descr="cal-logo.png"/>
          <p:cNvPicPr>
            <a:picLocks noChangeAspect="1"/>
          </p:cNvPicPr>
          <p:nvPr/>
        </p:nvPicPr>
        <p:blipFill>
          <a:blip r:embed="rId3"/>
          <a:stretch>
            <a:fillRect/>
          </a:stretch>
        </p:blipFill>
        <p:spPr>
          <a:xfrm>
            <a:off x="10702308" y="5413248"/>
            <a:ext cx="1032187" cy="82296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E1A35"/>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E1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548640" cy="6858000"/>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640080"/>
            <a:ext cx="164592" cy="411480"/>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1560" y="640080"/>
            <a:ext cx="10058400" cy="365760"/>
          </a:xfrm>
          <a:prstGeom prst="rect">
            <a:avLst/>
          </a:prstGeom>
          <a:noFill/>
        </p:spPr>
        <p:txBody>
          <a:bodyPr wrap="square" anchor="t" lIns="0" rIns="0" tIns="0" bIns="0">
            <a:spAutoFit/>
          </a:bodyPr>
          <a:lstStyle/>
          <a:p>
            <a:pPr algn="l"/>
            <a:r>
              <a:rPr sz="1400" b="1" i="0">
                <a:solidFill>
                  <a:srgbClr val="40E0D0"/>
                </a:solidFill>
                <a:latin typeface="Geist Mono"/>
              </a:rPr>
              <a:t>Overview</a:t>
            </a:r>
          </a:p>
        </p:txBody>
      </p:sp>
      <p:sp>
        <p:nvSpPr>
          <p:cNvPr id="6" name="TextBox 5"/>
          <p:cNvSpPr txBox="1"/>
          <p:nvPr/>
        </p:nvSpPr>
        <p:spPr>
          <a:xfrm>
            <a:off x="777240" y="2194560"/>
            <a:ext cx="10972800" cy="2743200"/>
          </a:xfrm>
          <a:prstGeom prst="rect">
            <a:avLst/>
          </a:prstGeom>
          <a:noFill/>
        </p:spPr>
        <p:txBody>
          <a:bodyPr wrap="square" anchor="t" lIns="0" rIns="0" tIns="0" bIns="0">
            <a:spAutoFit/>
          </a:bodyPr>
          <a:lstStyle/>
          <a:p>
            <a:pPr algn="l"/>
            <a:r>
              <a:rPr sz="4400" b="1" i="0">
                <a:solidFill>
                  <a:srgbClr val="FFFFFF"/>
                </a:solidFill>
                <a:latin typeface="Geist Mono"/>
              </a:rPr>
              <a:t>BACKGROUND</a:t>
            </a:r>
          </a:p>
        </p:txBody>
      </p:sp>
      <p:sp>
        <p:nvSpPr>
          <p:cNvPr id="7" name="Rectangle 6"/>
          <p:cNvSpPr/>
          <p:nvPr/>
        </p:nvSpPr>
        <p:spPr>
          <a:xfrm>
            <a:off x="777240" y="5120640"/>
            <a:ext cx="1828800" cy="18288"/>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6126480"/>
            <a:ext cx="3657600" cy="320040"/>
          </a:xfrm>
          <a:prstGeom prst="rect">
            <a:avLst/>
          </a:prstGeom>
          <a:noFill/>
        </p:spPr>
        <p:txBody>
          <a:bodyPr wrap="square" anchor="t" lIns="0" rIns="0" tIns="0" bIns="0">
            <a:spAutoFit/>
          </a:bodyPr>
          <a:lstStyle/>
          <a:p>
            <a:pPr algn="l"/>
            <a:r>
              <a:rPr sz="1100" b="1" i="0">
                <a:solidFill>
                  <a:srgbClr val="40E0D0"/>
                </a:solidFill>
                <a:latin typeface="Geist Mono"/>
              </a:rPr>
              <a:t>Jinchi Wei</a:t>
            </a:r>
          </a:p>
        </p:txBody>
      </p:sp>
      <p:sp>
        <p:nvSpPr>
          <p:cNvPr id="9" name="TextBox 8"/>
          <p:cNvSpPr txBox="1"/>
          <p:nvPr/>
        </p:nvSpPr>
        <p:spPr>
          <a:xfrm>
            <a:off x="2148839" y="6126480"/>
            <a:ext cx="182880" cy="320040"/>
          </a:xfrm>
          <a:prstGeom prst="rect">
            <a:avLst/>
          </a:prstGeom>
          <a:noFill/>
        </p:spPr>
        <p:txBody>
          <a:bodyPr wrap="square" anchor="t" lIns="0" rIns="0" tIns="0" bIns="0">
            <a:spAutoFit/>
          </a:bodyPr>
          <a:lstStyle/>
          <a:p>
            <a:pPr algn="l"/>
            <a:r>
              <a:rPr sz="1100" b="0" i="0">
                <a:solidFill>
                  <a:srgbClr val="888888"/>
                </a:solidFill>
                <a:latin typeface="Geist Mono"/>
              </a:rPr>
              <a:t>·</a:t>
            </a:r>
          </a:p>
        </p:txBody>
      </p:sp>
      <p:sp>
        <p:nvSpPr>
          <p:cNvPr id="10" name="TextBox 9"/>
          <p:cNvSpPr txBox="1"/>
          <p:nvPr/>
        </p:nvSpPr>
        <p:spPr>
          <a:xfrm>
            <a:off x="2377439" y="6126480"/>
            <a:ext cx="4572000" cy="320040"/>
          </a:xfrm>
          <a:prstGeom prst="rect">
            <a:avLst/>
          </a:prstGeom>
          <a:noFill/>
        </p:spPr>
        <p:txBody>
          <a:bodyPr wrap="square" anchor="t" lIns="0" rIns="0" tIns="0" bIns="0">
            <a:spAutoFit/>
          </a:bodyPr>
          <a:lstStyle/>
          <a:p>
            <a:pPr algn="l"/>
            <a:r>
              <a:rPr sz="1100" b="1" i="0">
                <a:solidFill>
                  <a:srgbClr val="FF1493"/>
                </a:solidFill>
                <a:latin typeface="Geist Mono"/>
              </a:rPr>
              <a:t>Outset</a:t>
            </a:r>
          </a:p>
        </p:txBody>
      </p:sp>
      <p:sp>
        <p:nvSpPr>
          <p:cNvPr id="11" name="TextBox 10"/>
          <p:cNvSpPr txBox="1"/>
          <p:nvPr/>
        </p:nvSpPr>
        <p:spPr>
          <a:xfrm>
            <a:off x="3657599" y="6126480"/>
            <a:ext cx="182880" cy="320040"/>
          </a:xfrm>
          <a:prstGeom prst="rect">
            <a:avLst/>
          </a:prstGeom>
          <a:noFill/>
        </p:spPr>
        <p:txBody>
          <a:bodyPr wrap="square" anchor="t" lIns="0" rIns="0" tIns="0" bIns="0">
            <a:spAutoFit/>
          </a:bodyPr>
          <a:lstStyle/>
          <a:p>
            <a:pPr algn="l"/>
            <a:r>
              <a:rPr sz="1100" b="0" i="0">
                <a:solidFill>
                  <a:srgbClr val="888888"/>
                </a:solidFill>
                <a:latin typeface="Geist Mono"/>
              </a:rPr>
              <a:t>·</a:t>
            </a:r>
          </a:p>
        </p:txBody>
      </p:sp>
      <p:sp>
        <p:nvSpPr>
          <p:cNvPr id="12" name="TextBox 11"/>
          <p:cNvSpPr txBox="1"/>
          <p:nvPr/>
        </p:nvSpPr>
        <p:spPr>
          <a:xfrm>
            <a:off x="3886200" y="6126480"/>
            <a:ext cx="7315200" cy="320040"/>
          </a:xfrm>
          <a:prstGeom prst="rect">
            <a:avLst/>
          </a:prstGeom>
          <a:noFill/>
        </p:spPr>
        <p:txBody>
          <a:bodyPr wrap="square" anchor="t" lIns="0" rIns="0" tIns="0" bIns="0">
            <a:spAutoFit/>
          </a:bodyPr>
          <a:lstStyle/>
          <a:p>
            <a:pPr algn="l"/>
            <a:r>
              <a:rPr sz="1100" b="0" i="0">
                <a:solidFill>
                  <a:srgbClr val="888888"/>
                </a:solidFill>
                <a:latin typeface="Geist Mono"/>
              </a:rPr>
              <a:t>Predicting heart disease from a checkup</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11247120" cy="502920"/>
          </a:xfrm>
          <a:prstGeom prst="rect">
            <a:avLst/>
          </a:prstGeom>
          <a:noFill/>
        </p:spPr>
        <p:txBody>
          <a:bodyPr wrap="square" anchor="t" lIns="0" rIns="0" tIns="0" bIns="0">
            <a:spAutoFit/>
          </a:bodyPr>
          <a:lstStyle/>
          <a:p>
            <a:pPr algn="l"/>
            <a:r>
              <a:rPr sz="2800" b="1" i="0">
                <a:solidFill>
                  <a:srgbClr val="14141C"/>
                </a:solidFill>
                <a:latin typeface="Geist Mono"/>
              </a:rPr>
              <a:t>How doctors actually estimate heart risk</a:t>
            </a:r>
          </a:p>
        </p:txBody>
      </p:sp>
      <p:sp>
        <p:nvSpPr>
          <p:cNvPr id="5" name="Rectangle 4"/>
          <p:cNvSpPr/>
          <p:nvPr/>
        </p:nvSpPr>
        <p:spPr>
          <a:xfrm>
            <a:off x="457200" y="868680"/>
            <a:ext cx="11247120" cy="4572"/>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11247120" cy="274320"/>
          </a:xfrm>
          <a:prstGeom prst="rect">
            <a:avLst/>
          </a:prstGeom>
          <a:noFill/>
        </p:spPr>
        <p:txBody>
          <a:bodyPr wrap="square" anchor="t" lIns="0" rIns="0" tIns="0" bIns="0">
            <a:spAutoFit/>
          </a:bodyPr>
          <a:lstStyle/>
          <a:p>
            <a:pPr algn="l"/>
            <a:r>
              <a:rPr sz="900" b="0" i="0">
                <a:solidFill>
                  <a:srgbClr val="555560"/>
                </a:solidFill>
                <a:latin typeface="Geist Mono"/>
              </a:rPr>
              <a:t>Jinchi Wei  ·  Outset  ·  Predicting heart disease from a checkup  ·  2026-07-08</a:t>
            </a:r>
          </a:p>
        </p:txBody>
      </p:sp>
      <p:pic>
        <p:nvPicPr>
          <p:cNvPr id="7" name="Picture 6" descr="intro_risk_factor_stack.png"/>
          <p:cNvPicPr>
            <a:picLocks noChangeAspect="1"/>
          </p:cNvPicPr>
          <p:nvPr/>
        </p:nvPicPr>
        <p:blipFill>
          <a:blip r:embed="rId2"/>
          <a:stretch>
            <a:fillRect/>
          </a:stretch>
        </p:blipFill>
        <p:spPr>
          <a:xfrm>
            <a:off x="457200" y="1813820"/>
            <a:ext cx="6298387" cy="3641839"/>
          </a:xfrm>
          <a:prstGeom prst="rect">
            <a:avLst/>
          </a:prstGeom>
        </p:spPr>
      </p:pic>
      <p:sp>
        <p:nvSpPr>
          <p:cNvPr id="8" name="Rectangle 7"/>
          <p:cNvSpPr/>
          <p:nvPr/>
        </p:nvSpPr>
        <p:spPr>
          <a:xfrm>
            <a:off x="7121347" y="1097280"/>
            <a:ext cx="4582972" cy="5074919"/>
          </a:xfrm>
          <a:prstGeom prst="rect">
            <a:avLst/>
          </a:prstGeom>
          <a:solidFill>
            <a:srgbClr val="FA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121347" y="1097280"/>
            <a:ext cx="4582972" cy="82296"/>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322515" y="1389888"/>
            <a:ext cx="91440" cy="91440"/>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523683" y="1325880"/>
            <a:ext cx="4016044" cy="448056"/>
          </a:xfrm>
          <a:prstGeom prst="rect">
            <a:avLst/>
          </a:prstGeom>
          <a:noFill/>
        </p:spPr>
        <p:txBody>
          <a:bodyPr wrap="square" anchor="t" lIns="0" rIns="0" tIns="0" bIns="0">
            <a:spAutoFit/>
          </a:bodyPr>
          <a:lstStyle/>
          <a:p>
            <a:pPr algn="l"/>
            <a:r>
              <a:rPr sz="1300" b="0" i="0">
                <a:solidFill>
                  <a:srgbClr val="14141C"/>
                </a:solidFill>
                <a:latin typeface="Geist"/>
              </a:rPr>
              <a:t>No doctor diagnoses heart disease from one number</a:t>
            </a:r>
          </a:p>
        </p:txBody>
      </p:sp>
      <p:sp>
        <p:nvSpPr>
          <p:cNvPr id="12" name="Rectangle 11"/>
          <p:cNvSpPr/>
          <p:nvPr/>
        </p:nvSpPr>
        <p:spPr>
          <a:xfrm>
            <a:off x="7322515" y="1965960"/>
            <a:ext cx="91440" cy="91440"/>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523683" y="1901952"/>
            <a:ext cx="4016044" cy="1426464"/>
          </a:xfrm>
          <a:prstGeom prst="rect">
            <a:avLst/>
          </a:prstGeom>
          <a:noFill/>
        </p:spPr>
        <p:txBody>
          <a:bodyPr wrap="square" anchor="t" lIns="0" rIns="0" tIns="0" bIns="0">
            <a:spAutoFit/>
          </a:bodyPr>
          <a:lstStyle/>
          <a:p>
            <a:pPr algn="l"/>
            <a:r>
              <a:rPr sz="1300" b="0" i="0">
                <a:solidFill>
                  <a:srgbClr val="14141C"/>
                </a:solidFill>
                <a:latin typeface="Geist"/>
              </a:rPr>
              <a:t>They combine several routine checkup measurements into a single risk estimate, the way the Framingham Risk Score does. Worldwide, about nine risk factors led by cholesterol and smoking explain over 90% of first heart attacks. Risk is a stack of factors, not a single cause.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11247120" cy="502920"/>
          </a:xfrm>
          <a:prstGeom prst="rect">
            <a:avLst/>
          </a:prstGeom>
          <a:noFill/>
        </p:spPr>
        <p:txBody>
          <a:bodyPr wrap="square" anchor="t" lIns="0" rIns="0" tIns="0" bIns="0">
            <a:spAutoFit/>
          </a:bodyPr>
          <a:lstStyle/>
          <a:p>
            <a:pPr algn="l"/>
            <a:r>
              <a:rPr sz="2800" b="1" i="0">
                <a:solidFill>
                  <a:srgbClr val="14141C"/>
                </a:solidFill>
                <a:latin typeface="Geist Mono"/>
              </a:rPr>
              <a:t>Women’s heart disease is under-diagnosed</a:t>
            </a:r>
          </a:p>
        </p:txBody>
      </p:sp>
      <p:sp>
        <p:nvSpPr>
          <p:cNvPr id="5" name="Rectangle 4"/>
          <p:cNvSpPr/>
          <p:nvPr/>
        </p:nvSpPr>
        <p:spPr>
          <a:xfrm>
            <a:off x="457200" y="868680"/>
            <a:ext cx="11247120" cy="4572"/>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11247120" cy="274320"/>
          </a:xfrm>
          <a:prstGeom prst="rect">
            <a:avLst/>
          </a:prstGeom>
          <a:noFill/>
        </p:spPr>
        <p:txBody>
          <a:bodyPr wrap="square" anchor="t" lIns="0" rIns="0" tIns="0" bIns="0">
            <a:spAutoFit/>
          </a:bodyPr>
          <a:lstStyle/>
          <a:p>
            <a:pPr algn="l"/>
            <a:r>
              <a:rPr sz="900" b="0" i="0">
                <a:solidFill>
                  <a:srgbClr val="555560"/>
                </a:solidFill>
                <a:latin typeface="Geist Mono"/>
              </a:rPr>
              <a:t>Jinchi Wei  ·  Outset  ·  Predicting heart disease from a checkup  ·  2026-07-08</a:t>
            </a:r>
          </a:p>
        </p:txBody>
      </p:sp>
      <p:pic>
        <p:nvPicPr>
          <p:cNvPr id="7" name="Picture 6" descr="intro_symptom_presentation.png"/>
          <p:cNvPicPr>
            <a:picLocks noChangeAspect="1"/>
          </p:cNvPicPr>
          <p:nvPr/>
        </p:nvPicPr>
        <p:blipFill>
          <a:blip r:embed="rId2"/>
          <a:stretch>
            <a:fillRect/>
          </a:stretch>
        </p:blipFill>
        <p:spPr>
          <a:xfrm>
            <a:off x="457200" y="1991773"/>
            <a:ext cx="6298387" cy="3285932"/>
          </a:xfrm>
          <a:prstGeom prst="rect">
            <a:avLst/>
          </a:prstGeom>
        </p:spPr>
      </p:pic>
      <p:sp>
        <p:nvSpPr>
          <p:cNvPr id="8" name="Rectangle 7"/>
          <p:cNvSpPr/>
          <p:nvPr/>
        </p:nvSpPr>
        <p:spPr>
          <a:xfrm>
            <a:off x="7121347" y="1097280"/>
            <a:ext cx="4582972" cy="5074919"/>
          </a:xfrm>
          <a:prstGeom prst="rect">
            <a:avLst/>
          </a:prstGeom>
          <a:solidFill>
            <a:srgbClr val="FA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121347" y="1097280"/>
            <a:ext cx="4582972" cy="82296"/>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322515" y="1389888"/>
            <a:ext cx="91440" cy="91440"/>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523683" y="1325880"/>
            <a:ext cx="4016044" cy="448056"/>
          </a:xfrm>
          <a:prstGeom prst="rect">
            <a:avLst/>
          </a:prstGeom>
          <a:noFill/>
        </p:spPr>
        <p:txBody>
          <a:bodyPr wrap="square" anchor="t" lIns="0" rIns="0" tIns="0" bIns="0">
            <a:spAutoFit/>
          </a:bodyPr>
          <a:lstStyle/>
          <a:p>
            <a:pPr algn="l"/>
            <a:r>
              <a:rPr sz="1300" b="0" i="0">
                <a:solidFill>
                  <a:srgbClr val="14141C"/>
                </a:solidFill>
                <a:latin typeface="Geist"/>
              </a:rPr>
              <a:t>Here is the problem that drives our project</a:t>
            </a:r>
          </a:p>
        </p:txBody>
      </p:sp>
      <p:sp>
        <p:nvSpPr>
          <p:cNvPr id="12" name="Rectangle 11"/>
          <p:cNvSpPr/>
          <p:nvPr/>
        </p:nvSpPr>
        <p:spPr>
          <a:xfrm>
            <a:off x="7322515" y="1965960"/>
            <a:ext cx="91440" cy="91440"/>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523683" y="1901952"/>
            <a:ext cx="4016044" cy="1627632"/>
          </a:xfrm>
          <a:prstGeom prst="rect">
            <a:avLst/>
          </a:prstGeom>
          <a:noFill/>
        </p:spPr>
        <p:txBody>
          <a:bodyPr wrap="square" anchor="t" lIns="0" rIns="0" tIns="0" bIns="0">
            <a:spAutoFit/>
          </a:bodyPr>
          <a:lstStyle/>
          <a:p>
            <a:pPr algn="l"/>
            <a:r>
              <a:rPr sz="1300" b="0" i="0">
                <a:solidFill>
                  <a:srgbClr val="14141C"/>
                </a:solidFill>
                <a:latin typeface="Geist"/>
              </a:rPr>
              <a:t>The “textbook” heart attack, crushing chest pain down the left arm, is the male picture. Women more often feel back pain, nausea, and shortness of breath, so their heart attacks get missed. The American Heart Association documents that women are misdiagnosed and under-treated more than men.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E1A35"/>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E1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548640" cy="6858000"/>
          </a:xfrm>
          <a:prstGeom prst="rect">
            <a:avLst/>
          </a:prstGeom>
          <a:solidFill>
            <a:srgbClr val="FF1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640080"/>
            <a:ext cx="164592" cy="411480"/>
          </a:xfrm>
          <a:prstGeom prst="rect">
            <a:avLst/>
          </a:prstGeom>
          <a:solidFill>
            <a:srgbClr val="FF1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1560" y="640080"/>
            <a:ext cx="10058400" cy="365760"/>
          </a:xfrm>
          <a:prstGeom prst="rect">
            <a:avLst/>
          </a:prstGeom>
          <a:noFill/>
        </p:spPr>
        <p:txBody>
          <a:bodyPr wrap="square" anchor="t" lIns="0" rIns="0" tIns="0" bIns="0">
            <a:spAutoFit/>
          </a:bodyPr>
          <a:lstStyle/>
          <a:p>
            <a:pPr algn="l"/>
            <a:r>
              <a:rPr sz="1400" b="1" i="0">
                <a:solidFill>
                  <a:srgbClr val="FF1493"/>
                </a:solidFill>
                <a:latin typeface="Geist Mono"/>
              </a:rPr>
              <a:t>Methodology</a:t>
            </a:r>
          </a:p>
        </p:txBody>
      </p:sp>
      <p:sp>
        <p:nvSpPr>
          <p:cNvPr id="6" name="TextBox 5"/>
          <p:cNvSpPr txBox="1"/>
          <p:nvPr/>
        </p:nvSpPr>
        <p:spPr>
          <a:xfrm>
            <a:off x="777240" y="2194560"/>
            <a:ext cx="10972800" cy="2743200"/>
          </a:xfrm>
          <a:prstGeom prst="rect">
            <a:avLst/>
          </a:prstGeom>
          <a:noFill/>
        </p:spPr>
        <p:txBody>
          <a:bodyPr wrap="square" anchor="t" lIns="0" rIns="0" tIns="0" bIns="0">
            <a:spAutoFit/>
          </a:bodyPr>
          <a:lstStyle/>
          <a:p>
            <a:pPr algn="l"/>
            <a:r>
              <a:rPr sz="4400" b="1" i="0">
                <a:solidFill>
                  <a:srgbClr val="FFFFFF"/>
                </a:solidFill>
                <a:latin typeface="Geist Mono"/>
              </a:rPr>
              <a:t>METHODS</a:t>
            </a:r>
          </a:p>
        </p:txBody>
      </p:sp>
      <p:sp>
        <p:nvSpPr>
          <p:cNvPr id="7" name="Rectangle 6"/>
          <p:cNvSpPr/>
          <p:nvPr/>
        </p:nvSpPr>
        <p:spPr>
          <a:xfrm>
            <a:off x="777240" y="5120640"/>
            <a:ext cx="1828800" cy="18288"/>
          </a:xfrm>
          <a:prstGeom prst="rect">
            <a:avLst/>
          </a:prstGeom>
          <a:solidFill>
            <a:srgbClr val="FF1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6126480"/>
            <a:ext cx="3657600" cy="320040"/>
          </a:xfrm>
          <a:prstGeom prst="rect">
            <a:avLst/>
          </a:prstGeom>
          <a:noFill/>
        </p:spPr>
        <p:txBody>
          <a:bodyPr wrap="square" anchor="t" lIns="0" rIns="0" tIns="0" bIns="0">
            <a:spAutoFit/>
          </a:bodyPr>
          <a:lstStyle/>
          <a:p>
            <a:pPr algn="l"/>
            <a:r>
              <a:rPr sz="1100" b="1" i="0">
                <a:solidFill>
                  <a:srgbClr val="40E0D0"/>
                </a:solidFill>
                <a:latin typeface="Geist Mono"/>
              </a:rPr>
              <a:t>Jinchi Wei</a:t>
            </a:r>
          </a:p>
        </p:txBody>
      </p:sp>
      <p:sp>
        <p:nvSpPr>
          <p:cNvPr id="9" name="TextBox 8"/>
          <p:cNvSpPr txBox="1"/>
          <p:nvPr/>
        </p:nvSpPr>
        <p:spPr>
          <a:xfrm>
            <a:off x="2148839" y="6126480"/>
            <a:ext cx="182880" cy="320040"/>
          </a:xfrm>
          <a:prstGeom prst="rect">
            <a:avLst/>
          </a:prstGeom>
          <a:noFill/>
        </p:spPr>
        <p:txBody>
          <a:bodyPr wrap="square" anchor="t" lIns="0" rIns="0" tIns="0" bIns="0">
            <a:spAutoFit/>
          </a:bodyPr>
          <a:lstStyle/>
          <a:p>
            <a:pPr algn="l"/>
            <a:r>
              <a:rPr sz="1100" b="0" i="0">
                <a:solidFill>
                  <a:srgbClr val="888888"/>
                </a:solidFill>
                <a:latin typeface="Geist Mono"/>
              </a:rPr>
              <a:t>·</a:t>
            </a:r>
          </a:p>
        </p:txBody>
      </p:sp>
      <p:sp>
        <p:nvSpPr>
          <p:cNvPr id="10" name="TextBox 9"/>
          <p:cNvSpPr txBox="1"/>
          <p:nvPr/>
        </p:nvSpPr>
        <p:spPr>
          <a:xfrm>
            <a:off x="2377439" y="6126480"/>
            <a:ext cx="4572000" cy="320040"/>
          </a:xfrm>
          <a:prstGeom prst="rect">
            <a:avLst/>
          </a:prstGeom>
          <a:noFill/>
        </p:spPr>
        <p:txBody>
          <a:bodyPr wrap="square" anchor="t" lIns="0" rIns="0" tIns="0" bIns="0">
            <a:spAutoFit/>
          </a:bodyPr>
          <a:lstStyle/>
          <a:p>
            <a:pPr algn="l"/>
            <a:r>
              <a:rPr sz="1100" b="1" i="0">
                <a:solidFill>
                  <a:srgbClr val="FF1493"/>
                </a:solidFill>
                <a:latin typeface="Geist Mono"/>
              </a:rPr>
              <a:t>Outset</a:t>
            </a:r>
          </a:p>
        </p:txBody>
      </p:sp>
      <p:sp>
        <p:nvSpPr>
          <p:cNvPr id="11" name="TextBox 10"/>
          <p:cNvSpPr txBox="1"/>
          <p:nvPr/>
        </p:nvSpPr>
        <p:spPr>
          <a:xfrm>
            <a:off x="3657599" y="6126480"/>
            <a:ext cx="182880" cy="320040"/>
          </a:xfrm>
          <a:prstGeom prst="rect">
            <a:avLst/>
          </a:prstGeom>
          <a:noFill/>
        </p:spPr>
        <p:txBody>
          <a:bodyPr wrap="square" anchor="t" lIns="0" rIns="0" tIns="0" bIns="0">
            <a:spAutoFit/>
          </a:bodyPr>
          <a:lstStyle/>
          <a:p>
            <a:pPr algn="l"/>
            <a:r>
              <a:rPr sz="1100" b="0" i="0">
                <a:solidFill>
                  <a:srgbClr val="888888"/>
                </a:solidFill>
                <a:latin typeface="Geist Mono"/>
              </a:rPr>
              <a:t>·</a:t>
            </a:r>
          </a:p>
        </p:txBody>
      </p:sp>
      <p:sp>
        <p:nvSpPr>
          <p:cNvPr id="12" name="TextBox 11"/>
          <p:cNvSpPr txBox="1"/>
          <p:nvPr/>
        </p:nvSpPr>
        <p:spPr>
          <a:xfrm>
            <a:off x="3886200" y="6126480"/>
            <a:ext cx="7315200" cy="320040"/>
          </a:xfrm>
          <a:prstGeom prst="rect">
            <a:avLst/>
          </a:prstGeom>
          <a:noFill/>
        </p:spPr>
        <p:txBody>
          <a:bodyPr wrap="square" anchor="t" lIns="0" rIns="0" tIns="0" bIns="0">
            <a:spAutoFit/>
          </a:bodyPr>
          <a:lstStyle/>
          <a:p>
            <a:pPr algn="l"/>
            <a:r>
              <a:rPr sz="1100" b="0" i="0">
                <a:solidFill>
                  <a:srgbClr val="888888"/>
                </a:solidFill>
                <a:latin typeface="Geist Mono"/>
              </a:rPr>
              <a:t>Predicting heart disease from a checkup</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FF1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11247120" cy="502920"/>
          </a:xfrm>
          <a:prstGeom prst="rect">
            <a:avLst/>
          </a:prstGeom>
          <a:noFill/>
        </p:spPr>
        <p:txBody>
          <a:bodyPr wrap="square" anchor="t" lIns="0" rIns="0" tIns="0" bIns="0">
            <a:spAutoFit/>
          </a:bodyPr>
          <a:lstStyle/>
          <a:p>
            <a:pPr algn="l"/>
            <a:r>
              <a:rPr sz="2800" b="1" i="0">
                <a:solidFill>
                  <a:srgbClr val="14141C"/>
                </a:solidFill>
                <a:latin typeface="Geist Mono"/>
              </a:rPr>
              <a:t>The task and the data</a:t>
            </a:r>
          </a:p>
        </p:txBody>
      </p:sp>
      <p:sp>
        <p:nvSpPr>
          <p:cNvPr id="5" name="Rectangle 4"/>
          <p:cNvSpPr/>
          <p:nvPr/>
        </p:nvSpPr>
        <p:spPr>
          <a:xfrm>
            <a:off x="457200" y="868680"/>
            <a:ext cx="11247120" cy="4572"/>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11247120" cy="274320"/>
          </a:xfrm>
          <a:prstGeom prst="rect">
            <a:avLst/>
          </a:prstGeom>
          <a:noFill/>
        </p:spPr>
        <p:txBody>
          <a:bodyPr wrap="square" anchor="t" lIns="0" rIns="0" tIns="0" bIns="0">
            <a:spAutoFit/>
          </a:bodyPr>
          <a:lstStyle/>
          <a:p>
            <a:pPr algn="l"/>
            <a:r>
              <a:rPr sz="900" b="0" i="0">
                <a:solidFill>
                  <a:srgbClr val="555560"/>
                </a:solidFill>
                <a:latin typeface="Geist Mono"/>
              </a:rPr>
              <a:t>Jinchi Wei  ·  Outset  ·  Predicting heart disease from a checkup  ·  2026-07-08</a:t>
            </a:r>
          </a:p>
        </p:txBody>
      </p:sp>
      <p:sp>
        <p:nvSpPr>
          <p:cNvPr id="7" name="Rectangle 6"/>
          <p:cNvSpPr/>
          <p:nvPr/>
        </p:nvSpPr>
        <p:spPr>
          <a:xfrm>
            <a:off x="457200" y="1051560"/>
            <a:ext cx="3535680" cy="5212079"/>
          </a:xfrm>
          <a:prstGeom prst="rect">
            <a:avLst/>
          </a:prstGeom>
          <a:solidFill>
            <a:srgbClr val="FA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051560"/>
            <a:ext cx="3535680" cy="91440"/>
          </a:xfrm>
          <a:prstGeom prst="rect">
            <a:avLst/>
          </a:prstGeom>
          <a:solidFill>
            <a:srgbClr val="9A34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289304"/>
            <a:ext cx="3169920" cy="640080"/>
          </a:xfrm>
          <a:prstGeom prst="rect">
            <a:avLst/>
          </a:prstGeom>
          <a:noFill/>
        </p:spPr>
        <p:txBody>
          <a:bodyPr wrap="square" anchor="t" lIns="0" rIns="0" tIns="0" bIns="0">
            <a:spAutoFit/>
          </a:bodyPr>
          <a:lstStyle/>
          <a:p>
            <a:pPr algn="l"/>
            <a:r>
              <a:rPr sz="1500" b="1" i="0">
                <a:solidFill>
                  <a:srgbClr val="14141C"/>
                </a:solidFill>
                <a:latin typeface="Geist Mono"/>
              </a:rPr>
              <a:t>303 patients</a:t>
            </a:r>
          </a:p>
        </p:txBody>
      </p:sp>
      <p:sp>
        <p:nvSpPr>
          <p:cNvPr id="10" name="TextBox 9"/>
          <p:cNvSpPr txBox="1"/>
          <p:nvPr/>
        </p:nvSpPr>
        <p:spPr>
          <a:xfrm>
            <a:off x="640080" y="2011680"/>
            <a:ext cx="3169920" cy="4069079"/>
          </a:xfrm>
          <a:prstGeom prst="rect">
            <a:avLst/>
          </a:prstGeom>
          <a:noFill/>
        </p:spPr>
        <p:txBody>
          <a:bodyPr wrap="square" anchor="t" lIns="0" rIns="0" tIns="0" bIns="0">
            <a:spAutoFit/>
          </a:bodyPr>
          <a:lstStyle/>
          <a:p>
            <a:pPr algn="l"/>
            <a:r>
              <a:rPr sz="1200" b="0" i="0">
                <a:solidFill>
                  <a:srgbClr val="555560"/>
                </a:solidFill>
                <a:latin typeface="Geist"/>
              </a:rPr>
              <a:t>The Cleveland Heart Disease dataset, from a 1980s study.</a:t>
            </a:r>
          </a:p>
        </p:txBody>
      </p:sp>
      <p:sp>
        <p:nvSpPr>
          <p:cNvPr id="11" name="Rectangle 10"/>
          <p:cNvSpPr/>
          <p:nvPr/>
        </p:nvSpPr>
        <p:spPr>
          <a:xfrm>
            <a:off x="4312920" y="1051560"/>
            <a:ext cx="3535680" cy="5212079"/>
          </a:xfrm>
          <a:prstGeom prst="rect">
            <a:avLst/>
          </a:prstGeom>
          <a:solidFill>
            <a:srgbClr val="FA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312920" y="1051560"/>
            <a:ext cx="3535680" cy="91440"/>
          </a:xfrm>
          <a:prstGeom prst="rect">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95800" y="1289304"/>
            <a:ext cx="3169920" cy="640080"/>
          </a:xfrm>
          <a:prstGeom prst="rect">
            <a:avLst/>
          </a:prstGeom>
          <a:noFill/>
        </p:spPr>
        <p:txBody>
          <a:bodyPr wrap="square" anchor="t" lIns="0" rIns="0" tIns="0" bIns="0">
            <a:spAutoFit/>
          </a:bodyPr>
          <a:lstStyle/>
          <a:p>
            <a:pPr algn="l"/>
            <a:r>
              <a:rPr sz="1500" b="1" i="0">
                <a:solidFill>
                  <a:srgbClr val="14141C"/>
                </a:solidFill>
                <a:latin typeface="Geist Mono"/>
              </a:rPr>
              <a:t>13 features</a:t>
            </a:r>
          </a:p>
        </p:txBody>
      </p:sp>
      <p:sp>
        <p:nvSpPr>
          <p:cNvPr id="14" name="TextBox 13"/>
          <p:cNvSpPr txBox="1"/>
          <p:nvPr/>
        </p:nvSpPr>
        <p:spPr>
          <a:xfrm>
            <a:off x="4495800" y="2011680"/>
            <a:ext cx="3169920" cy="4069079"/>
          </a:xfrm>
          <a:prstGeom prst="rect">
            <a:avLst/>
          </a:prstGeom>
          <a:noFill/>
        </p:spPr>
        <p:txBody>
          <a:bodyPr wrap="square" anchor="t" lIns="0" rIns="0" tIns="0" bIns="0">
            <a:spAutoFit/>
          </a:bodyPr>
          <a:lstStyle/>
          <a:p>
            <a:pPr algn="l"/>
            <a:r>
              <a:rPr sz="1200" b="0" i="0">
                <a:solidFill>
                  <a:srgbClr val="555560"/>
                </a:solidFill>
                <a:latin typeface="Geist"/>
              </a:rPr>
              <a:t>Age, sex, blood pressure, cholesterol, chest-pain type, exercise-ECG results.</a:t>
            </a:r>
          </a:p>
        </p:txBody>
      </p:sp>
      <p:sp>
        <p:nvSpPr>
          <p:cNvPr id="15" name="Rectangle 14"/>
          <p:cNvSpPr/>
          <p:nvPr/>
        </p:nvSpPr>
        <p:spPr>
          <a:xfrm>
            <a:off x="8168640" y="1051560"/>
            <a:ext cx="3535680" cy="5212079"/>
          </a:xfrm>
          <a:prstGeom prst="rect">
            <a:avLst/>
          </a:prstGeom>
          <a:solidFill>
            <a:srgbClr val="FA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168640" y="1051560"/>
            <a:ext cx="3535680" cy="91440"/>
          </a:xfrm>
          <a:prstGeom prst="rect">
            <a:avLst/>
          </a:prstGeom>
          <a:solidFill>
            <a:srgbClr val="115E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51520" y="1289304"/>
            <a:ext cx="3169920" cy="640080"/>
          </a:xfrm>
          <a:prstGeom prst="rect">
            <a:avLst/>
          </a:prstGeom>
          <a:noFill/>
        </p:spPr>
        <p:txBody>
          <a:bodyPr wrap="square" anchor="t" lIns="0" rIns="0" tIns="0" bIns="0">
            <a:spAutoFit/>
          </a:bodyPr>
          <a:lstStyle/>
          <a:p>
            <a:pPr algn="l"/>
            <a:r>
              <a:rPr sz="1500" b="1" i="0">
                <a:solidFill>
                  <a:srgbClr val="14141C"/>
                </a:solidFill>
                <a:latin typeface="Geist Mono"/>
              </a:rPr>
              <a:t>Predict disease</a:t>
            </a:r>
          </a:p>
        </p:txBody>
      </p:sp>
      <p:sp>
        <p:nvSpPr>
          <p:cNvPr id="18" name="TextBox 17"/>
          <p:cNvSpPr txBox="1"/>
          <p:nvPr/>
        </p:nvSpPr>
        <p:spPr>
          <a:xfrm>
            <a:off x="8351520" y="2011680"/>
            <a:ext cx="3169920" cy="4069079"/>
          </a:xfrm>
          <a:prstGeom prst="rect">
            <a:avLst/>
          </a:prstGeom>
          <a:noFill/>
        </p:spPr>
        <p:txBody>
          <a:bodyPr wrap="square" anchor="t" lIns="0" rIns="0" tIns="0" bIns="0">
            <a:spAutoFit/>
          </a:bodyPr>
          <a:lstStyle/>
          <a:p>
            <a:pPr algn="l"/>
            <a:r>
              <a:rPr sz="1200" b="0" i="0">
                <a:solidFill>
                  <a:srgbClr val="555560"/>
                </a:solidFill>
                <a:latin typeface="Geist"/>
              </a:rPr>
              <a:t>1 = has heart disease, 0 = does not. Graded on held-out patients.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FF1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11247120" cy="502920"/>
          </a:xfrm>
          <a:prstGeom prst="rect">
            <a:avLst/>
          </a:prstGeom>
          <a:noFill/>
        </p:spPr>
        <p:txBody>
          <a:bodyPr wrap="square" anchor="t" lIns="0" rIns="0" tIns="0" bIns="0">
            <a:spAutoFit/>
          </a:bodyPr>
          <a:lstStyle/>
          <a:p>
            <a:pPr algn="l"/>
            <a:r>
              <a:rPr sz="2800" b="1" i="0">
                <a:solidFill>
                  <a:srgbClr val="14141C"/>
                </a:solidFill>
                <a:latin typeface="Geist Mono"/>
              </a:rPr>
              <a:t>Four models, one honest test</a:t>
            </a:r>
          </a:p>
        </p:txBody>
      </p:sp>
      <p:sp>
        <p:nvSpPr>
          <p:cNvPr id="5" name="Rectangle 4"/>
          <p:cNvSpPr/>
          <p:nvPr/>
        </p:nvSpPr>
        <p:spPr>
          <a:xfrm>
            <a:off x="457200" y="868680"/>
            <a:ext cx="11247120" cy="4572"/>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11247120" cy="274320"/>
          </a:xfrm>
          <a:prstGeom prst="rect">
            <a:avLst/>
          </a:prstGeom>
          <a:noFill/>
        </p:spPr>
        <p:txBody>
          <a:bodyPr wrap="square" anchor="t" lIns="0" rIns="0" tIns="0" bIns="0">
            <a:spAutoFit/>
          </a:bodyPr>
          <a:lstStyle/>
          <a:p>
            <a:pPr algn="l"/>
            <a:r>
              <a:rPr sz="900" b="0" i="0">
                <a:solidFill>
                  <a:srgbClr val="555560"/>
                </a:solidFill>
                <a:latin typeface="Geist Mono"/>
              </a:rPr>
              <a:t>Jinchi Wei  ·  Outset  ·  Predicting heart disease from a checkup  ·  2026-07-08</a:t>
            </a:r>
          </a:p>
        </p:txBody>
      </p:sp>
      <p:sp>
        <p:nvSpPr>
          <p:cNvPr id="7" name="Rectangle 6"/>
          <p:cNvSpPr/>
          <p:nvPr/>
        </p:nvSpPr>
        <p:spPr>
          <a:xfrm>
            <a:off x="457200" y="1051560"/>
            <a:ext cx="3535680" cy="5212079"/>
          </a:xfrm>
          <a:prstGeom prst="rect">
            <a:avLst/>
          </a:prstGeom>
          <a:solidFill>
            <a:srgbClr val="FA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051560"/>
            <a:ext cx="3535680" cy="91440"/>
          </a:xfrm>
          <a:prstGeom prst="rect">
            <a:avLst/>
          </a:prstGeom>
          <a:solidFill>
            <a:srgbClr val="9A34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289304"/>
            <a:ext cx="3169920" cy="640080"/>
          </a:xfrm>
          <a:prstGeom prst="rect">
            <a:avLst/>
          </a:prstGeom>
          <a:noFill/>
        </p:spPr>
        <p:txBody>
          <a:bodyPr wrap="square" anchor="t" lIns="0" rIns="0" tIns="0" bIns="0">
            <a:spAutoFit/>
          </a:bodyPr>
          <a:lstStyle/>
          <a:p>
            <a:pPr algn="l"/>
            <a:r>
              <a:rPr sz="1500" b="1" i="0">
                <a:solidFill>
                  <a:srgbClr val="14141C"/>
                </a:solidFill>
                <a:latin typeface="Geist Mono"/>
              </a:rPr>
              <a:t>Logistic Regression</a:t>
            </a:r>
          </a:p>
        </p:txBody>
      </p:sp>
      <p:sp>
        <p:nvSpPr>
          <p:cNvPr id="10" name="TextBox 9"/>
          <p:cNvSpPr txBox="1"/>
          <p:nvPr/>
        </p:nvSpPr>
        <p:spPr>
          <a:xfrm>
            <a:off x="640080" y="2011680"/>
            <a:ext cx="3169920" cy="4069079"/>
          </a:xfrm>
          <a:prstGeom prst="rect">
            <a:avLst/>
          </a:prstGeom>
          <a:noFill/>
        </p:spPr>
        <p:txBody>
          <a:bodyPr wrap="square" anchor="t" lIns="0" rIns="0" tIns="0" bIns="0">
            <a:spAutoFit/>
          </a:bodyPr>
          <a:lstStyle/>
          <a:p>
            <a:pPr algn="l"/>
            <a:r>
              <a:rPr sz="1200" b="0" i="0">
                <a:solidFill>
                  <a:srgbClr val="555560"/>
                </a:solidFill>
                <a:latin typeface="Geist"/>
              </a:rPr>
              <a:t>Simple, explainable, and here the best of the four.</a:t>
            </a:r>
          </a:p>
        </p:txBody>
      </p:sp>
      <p:sp>
        <p:nvSpPr>
          <p:cNvPr id="11" name="Rectangle 10"/>
          <p:cNvSpPr/>
          <p:nvPr/>
        </p:nvSpPr>
        <p:spPr>
          <a:xfrm>
            <a:off x="4312920" y="1051560"/>
            <a:ext cx="3535680" cy="5212079"/>
          </a:xfrm>
          <a:prstGeom prst="rect">
            <a:avLst/>
          </a:prstGeom>
          <a:solidFill>
            <a:srgbClr val="FA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312920" y="1051560"/>
            <a:ext cx="3535680" cy="91440"/>
          </a:xfrm>
          <a:prstGeom prst="rect">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95800" y="1289304"/>
            <a:ext cx="3169920" cy="640080"/>
          </a:xfrm>
          <a:prstGeom prst="rect">
            <a:avLst/>
          </a:prstGeom>
          <a:noFill/>
        </p:spPr>
        <p:txBody>
          <a:bodyPr wrap="square" anchor="t" lIns="0" rIns="0" tIns="0" bIns="0">
            <a:spAutoFit/>
          </a:bodyPr>
          <a:lstStyle/>
          <a:p>
            <a:pPr algn="l"/>
            <a:r>
              <a:rPr sz="1500" b="1" i="0">
                <a:solidFill>
                  <a:srgbClr val="14141C"/>
                </a:solidFill>
                <a:latin typeface="Geist Mono"/>
              </a:rPr>
              <a:t>Random Forest &amp; CatBoost</a:t>
            </a:r>
          </a:p>
        </p:txBody>
      </p:sp>
      <p:sp>
        <p:nvSpPr>
          <p:cNvPr id="14" name="TextBox 13"/>
          <p:cNvSpPr txBox="1"/>
          <p:nvPr/>
        </p:nvSpPr>
        <p:spPr>
          <a:xfrm>
            <a:off x="4495800" y="2011680"/>
            <a:ext cx="3169920" cy="4069079"/>
          </a:xfrm>
          <a:prstGeom prst="rect">
            <a:avLst/>
          </a:prstGeom>
          <a:noFill/>
        </p:spPr>
        <p:txBody>
          <a:bodyPr wrap="square" anchor="t" lIns="0" rIns="0" tIns="0" bIns="0">
            <a:spAutoFit/>
          </a:bodyPr>
          <a:lstStyle/>
          <a:p>
            <a:pPr algn="l"/>
            <a:r>
              <a:rPr sz="1200" b="0" i="0">
                <a:solidFill>
                  <a:srgbClr val="555560"/>
                </a:solidFill>
                <a:latin typeface="Geist"/>
              </a:rPr>
              <a:t>Tree ensembles, the workhorses of tabular data.</a:t>
            </a:r>
          </a:p>
        </p:txBody>
      </p:sp>
      <p:sp>
        <p:nvSpPr>
          <p:cNvPr id="15" name="Rectangle 14"/>
          <p:cNvSpPr/>
          <p:nvPr/>
        </p:nvSpPr>
        <p:spPr>
          <a:xfrm>
            <a:off x="8168640" y="1051560"/>
            <a:ext cx="3535680" cy="5212079"/>
          </a:xfrm>
          <a:prstGeom prst="rect">
            <a:avLst/>
          </a:prstGeom>
          <a:solidFill>
            <a:srgbClr val="FA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168640" y="1051560"/>
            <a:ext cx="3535680" cy="91440"/>
          </a:xfrm>
          <a:prstGeom prst="rect">
            <a:avLst/>
          </a:prstGeom>
          <a:solidFill>
            <a:srgbClr val="115E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51520" y="1289304"/>
            <a:ext cx="3169920" cy="640080"/>
          </a:xfrm>
          <a:prstGeom prst="rect">
            <a:avLst/>
          </a:prstGeom>
          <a:noFill/>
        </p:spPr>
        <p:txBody>
          <a:bodyPr wrap="square" anchor="t" lIns="0" rIns="0" tIns="0" bIns="0">
            <a:spAutoFit/>
          </a:bodyPr>
          <a:lstStyle/>
          <a:p>
            <a:pPr algn="l"/>
            <a:r>
              <a:rPr sz="1500" b="1" i="0">
                <a:solidFill>
                  <a:srgbClr val="14141C"/>
                </a:solidFill>
                <a:latin typeface="Geist Mono"/>
              </a:rPr>
              <a:t>TabPFN</a:t>
            </a:r>
          </a:p>
        </p:txBody>
      </p:sp>
      <p:sp>
        <p:nvSpPr>
          <p:cNvPr id="18" name="TextBox 17"/>
          <p:cNvSpPr txBox="1"/>
          <p:nvPr/>
        </p:nvSpPr>
        <p:spPr>
          <a:xfrm>
            <a:off x="8351520" y="2011680"/>
            <a:ext cx="3169920" cy="4069079"/>
          </a:xfrm>
          <a:prstGeom prst="rect">
            <a:avLst/>
          </a:prstGeom>
          <a:noFill/>
        </p:spPr>
        <p:txBody>
          <a:bodyPr wrap="square" anchor="t" lIns="0" rIns="0" tIns="0" bIns="0">
            <a:spAutoFit/>
          </a:bodyPr>
          <a:lstStyle/>
          <a:p>
            <a:pPr algn="l"/>
            <a:r>
              <a:rPr sz="1200" b="0" i="0">
                <a:solidFill>
                  <a:srgbClr val="555560"/>
                </a:solidFill>
                <a:latin typeface="Geist"/>
              </a:rPr>
              <a:t>A foundation model for tables, like the one from Day 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E1A35"/>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E1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548640" cy="6858000"/>
          </a:xfrm>
          <a:prstGeom prst="rect">
            <a:avLst/>
          </a:prstGeom>
          <a:solidFill>
            <a:srgbClr val="F0C8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640080"/>
            <a:ext cx="164592" cy="411480"/>
          </a:xfrm>
          <a:prstGeom prst="rect">
            <a:avLst/>
          </a:prstGeom>
          <a:solidFill>
            <a:srgbClr val="F0C8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1560" y="640080"/>
            <a:ext cx="10058400" cy="365760"/>
          </a:xfrm>
          <a:prstGeom prst="rect">
            <a:avLst/>
          </a:prstGeom>
          <a:noFill/>
        </p:spPr>
        <p:txBody>
          <a:bodyPr wrap="square" anchor="t" lIns="0" rIns="0" tIns="0" bIns="0">
            <a:spAutoFit/>
          </a:bodyPr>
          <a:lstStyle/>
          <a:p>
            <a:pPr algn="l"/>
            <a:r>
              <a:rPr sz="1400" b="1" i="0">
                <a:solidFill>
                  <a:srgbClr val="F0C840"/>
                </a:solidFill>
                <a:latin typeface="Geist Mono"/>
              </a:rPr>
              <a:t>Results</a:t>
            </a:r>
          </a:p>
        </p:txBody>
      </p:sp>
      <p:sp>
        <p:nvSpPr>
          <p:cNvPr id="6" name="TextBox 5"/>
          <p:cNvSpPr txBox="1"/>
          <p:nvPr/>
        </p:nvSpPr>
        <p:spPr>
          <a:xfrm>
            <a:off x="777240" y="2194560"/>
            <a:ext cx="10972800" cy="2743200"/>
          </a:xfrm>
          <a:prstGeom prst="rect">
            <a:avLst/>
          </a:prstGeom>
          <a:noFill/>
        </p:spPr>
        <p:txBody>
          <a:bodyPr wrap="square" anchor="t" lIns="0" rIns="0" tIns="0" bIns="0">
            <a:spAutoFit/>
          </a:bodyPr>
          <a:lstStyle/>
          <a:p>
            <a:pPr algn="l"/>
            <a:r>
              <a:rPr sz="4400" b="1" i="0">
                <a:solidFill>
                  <a:srgbClr val="FFFFFF"/>
                </a:solidFill>
                <a:latin typeface="Geist Mono"/>
              </a:rPr>
              <a:t>RESULTS</a:t>
            </a:r>
          </a:p>
        </p:txBody>
      </p:sp>
      <p:sp>
        <p:nvSpPr>
          <p:cNvPr id="7" name="Rectangle 6"/>
          <p:cNvSpPr/>
          <p:nvPr/>
        </p:nvSpPr>
        <p:spPr>
          <a:xfrm>
            <a:off x="777240" y="5120640"/>
            <a:ext cx="1828800" cy="18288"/>
          </a:xfrm>
          <a:prstGeom prst="rect">
            <a:avLst/>
          </a:prstGeom>
          <a:solidFill>
            <a:srgbClr val="F0C8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6126480"/>
            <a:ext cx="3657600" cy="320040"/>
          </a:xfrm>
          <a:prstGeom prst="rect">
            <a:avLst/>
          </a:prstGeom>
          <a:noFill/>
        </p:spPr>
        <p:txBody>
          <a:bodyPr wrap="square" anchor="t" lIns="0" rIns="0" tIns="0" bIns="0">
            <a:spAutoFit/>
          </a:bodyPr>
          <a:lstStyle/>
          <a:p>
            <a:pPr algn="l"/>
            <a:r>
              <a:rPr sz="1100" b="1" i="0">
                <a:solidFill>
                  <a:srgbClr val="40E0D0"/>
                </a:solidFill>
                <a:latin typeface="Geist Mono"/>
              </a:rPr>
              <a:t>Jinchi Wei</a:t>
            </a:r>
          </a:p>
        </p:txBody>
      </p:sp>
      <p:sp>
        <p:nvSpPr>
          <p:cNvPr id="9" name="TextBox 8"/>
          <p:cNvSpPr txBox="1"/>
          <p:nvPr/>
        </p:nvSpPr>
        <p:spPr>
          <a:xfrm>
            <a:off x="2148839" y="6126480"/>
            <a:ext cx="182880" cy="320040"/>
          </a:xfrm>
          <a:prstGeom prst="rect">
            <a:avLst/>
          </a:prstGeom>
          <a:noFill/>
        </p:spPr>
        <p:txBody>
          <a:bodyPr wrap="square" anchor="t" lIns="0" rIns="0" tIns="0" bIns="0">
            <a:spAutoFit/>
          </a:bodyPr>
          <a:lstStyle/>
          <a:p>
            <a:pPr algn="l"/>
            <a:r>
              <a:rPr sz="1100" b="0" i="0">
                <a:solidFill>
                  <a:srgbClr val="888888"/>
                </a:solidFill>
                <a:latin typeface="Geist Mono"/>
              </a:rPr>
              <a:t>·</a:t>
            </a:r>
          </a:p>
        </p:txBody>
      </p:sp>
      <p:sp>
        <p:nvSpPr>
          <p:cNvPr id="10" name="TextBox 9"/>
          <p:cNvSpPr txBox="1"/>
          <p:nvPr/>
        </p:nvSpPr>
        <p:spPr>
          <a:xfrm>
            <a:off x="2377439" y="6126480"/>
            <a:ext cx="4572000" cy="320040"/>
          </a:xfrm>
          <a:prstGeom prst="rect">
            <a:avLst/>
          </a:prstGeom>
          <a:noFill/>
        </p:spPr>
        <p:txBody>
          <a:bodyPr wrap="square" anchor="t" lIns="0" rIns="0" tIns="0" bIns="0">
            <a:spAutoFit/>
          </a:bodyPr>
          <a:lstStyle/>
          <a:p>
            <a:pPr algn="l"/>
            <a:r>
              <a:rPr sz="1100" b="1" i="0">
                <a:solidFill>
                  <a:srgbClr val="FF1493"/>
                </a:solidFill>
                <a:latin typeface="Geist Mono"/>
              </a:rPr>
              <a:t>Outset</a:t>
            </a:r>
          </a:p>
        </p:txBody>
      </p:sp>
      <p:sp>
        <p:nvSpPr>
          <p:cNvPr id="11" name="TextBox 10"/>
          <p:cNvSpPr txBox="1"/>
          <p:nvPr/>
        </p:nvSpPr>
        <p:spPr>
          <a:xfrm>
            <a:off x="3657599" y="6126480"/>
            <a:ext cx="182880" cy="320040"/>
          </a:xfrm>
          <a:prstGeom prst="rect">
            <a:avLst/>
          </a:prstGeom>
          <a:noFill/>
        </p:spPr>
        <p:txBody>
          <a:bodyPr wrap="square" anchor="t" lIns="0" rIns="0" tIns="0" bIns="0">
            <a:spAutoFit/>
          </a:bodyPr>
          <a:lstStyle/>
          <a:p>
            <a:pPr algn="l"/>
            <a:r>
              <a:rPr sz="1100" b="0" i="0">
                <a:solidFill>
                  <a:srgbClr val="888888"/>
                </a:solidFill>
                <a:latin typeface="Geist Mono"/>
              </a:rPr>
              <a:t>·</a:t>
            </a:r>
          </a:p>
        </p:txBody>
      </p:sp>
      <p:sp>
        <p:nvSpPr>
          <p:cNvPr id="12" name="TextBox 11"/>
          <p:cNvSpPr txBox="1"/>
          <p:nvPr/>
        </p:nvSpPr>
        <p:spPr>
          <a:xfrm>
            <a:off x="3886200" y="6126480"/>
            <a:ext cx="7315200" cy="320040"/>
          </a:xfrm>
          <a:prstGeom prst="rect">
            <a:avLst/>
          </a:prstGeom>
          <a:noFill/>
        </p:spPr>
        <p:txBody>
          <a:bodyPr wrap="square" anchor="t" lIns="0" rIns="0" tIns="0" bIns="0">
            <a:spAutoFit/>
          </a:bodyPr>
          <a:lstStyle/>
          <a:p>
            <a:pPr algn="l"/>
            <a:r>
              <a:rPr sz="1100" b="0" i="0">
                <a:solidFill>
                  <a:srgbClr val="888888"/>
                </a:solidFill>
                <a:latin typeface="Geist Mono"/>
              </a:rPr>
              <a:t>Predicting heart disease from a checkup</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F0C8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11247120" cy="502920"/>
          </a:xfrm>
          <a:prstGeom prst="rect">
            <a:avLst/>
          </a:prstGeom>
          <a:noFill/>
        </p:spPr>
        <p:txBody>
          <a:bodyPr wrap="square" anchor="t" lIns="0" rIns="0" tIns="0" bIns="0">
            <a:spAutoFit/>
          </a:bodyPr>
          <a:lstStyle/>
          <a:p>
            <a:pPr algn="l"/>
            <a:r>
              <a:rPr sz="2800" b="1" i="0">
                <a:solidFill>
                  <a:srgbClr val="14141C"/>
                </a:solidFill>
                <a:latin typeface="Geist Mono"/>
              </a:rPr>
              <a:t>The data sets the ceiling</a:t>
            </a:r>
          </a:p>
        </p:txBody>
      </p:sp>
      <p:sp>
        <p:nvSpPr>
          <p:cNvPr id="5" name="Rectangle 4"/>
          <p:cNvSpPr/>
          <p:nvPr/>
        </p:nvSpPr>
        <p:spPr>
          <a:xfrm>
            <a:off x="457200" y="868680"/>
            <a:ext cx="11247120" cy="4572"/>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11247120" cy="274320"/>
          </a:xfrm>
          <a:prstGeom prst="rect">
            <a:avLst/>
          </a:prstGeom>
          <a:noFill/>
        </p:spPr>
        <p:txBody>
          <a:bodyPr wrap="square" anchor="t" lIns="0" rIns="0" tIns="0" bIns="0">
            <a:spAutoFit/>
          </a:bodyPr>
          <a:lstStyle/>
          <a:p>
            <a:pPr algn="l"/>
            <a:r>
              <a:rPr sz="900" b="0" i="0">
                <a:solidFill>
                  <a:srgbClr val="555560"/>
                </a:solidFill>
                <a:latin typeface="Geist Mono"/>
              </a:rPr>
              <a:t>Jinchi Wei  ·  Outset  ·  Predicting heart disease from a checkup  ·  2026-07-08</a:t>
            </a:r>
          </a:p>
        </p:txBody>
      </p:sp>
      <p:pic>
        <p:nvPicPr>
          <p:cNvPr id="7" name="Picture 6" descr="model_comparison.png"/>
          <p:cNvPicPr>
            <a:picLocks noChangeAspect="1"/>
          </p:cNvPicPr>
          <p:nvPr/>
        </p:nvPicPr>
        <p:blipFill>
          <a:blip r:embed="rId2"/>
          <a:stretch>
            <a:fillRect/>
          </a:stretch>
        </p:blipFill>
        <p:spPr>
          <a:xfrm>
            <a:off x="457200" y="1819992"/>
            <a:ext cx="6298387" cy="3629495"/>
          </a:xfrm>
          <a:prstGeom prst="rect">
            <a:avLst/>
          </a:prstGeom>
        </p:spPr>
      </p:pic>
      <p:sp>
        <p:nvSpPr>
          <p:cNvPr id="8" name="Rectangle 7"/>
          <p:cNvSpPr/>
          <p:nvPr/>
        </p:nvSpPr>
        <p:spPr>
          <a:xfrm>
            <a:off x="7121347" y="1097280"/>
            <a:ext cx="4582972" cy="5074919"/>
          </a:xfrm>
          <a:prstGeom prst="rect">
            <a:avLst/>
          </a:prstGeom>
          <a:solidFill>
            <a:srgbClr val="FA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121347" y="1097280"/>
            <a:ext cx="4582972" cy="82296"/>
          </a:xfrm>
          <a:prstGeom prst="rect">
            <a:avLst/>
          </a:prstGeom>
          <a:solidFill>
            <a:srgbClr val="F0C8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322515" y="1389888"/>
            <a:ext cx="91440" cy="91440"/>
          </a:xfrm>
          <a:prstGeom prst="rect">
            <a:avLst/>
          </a:prstGeom>
          <a:solidFill>
            <a:srgbClr val="F0C8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523683" y="1325880"/>
            <a:ext cx="4016044" cy="2020824"/>
          </a:xfrm>
          <a:prstGeom prst="rect">
            <a:avLst/>
          </a:prstGeom>
          <a:noFill/>
        </p:spPr>
        <p:txBody>
          <a:bodyPr wrap="square" anchor="t" lIns="0" rIns="0" tIns="0" bIns="0">
            <a:spAutoFit/>
          </a:bodyPr>
          <a:lstStyle/>
          <a:p>
            <a:pPr algn="l"/>
            <a:r>
              <a:rPr sz="1300" b="0" i="0">
                <a:solidFill>
                  <a:srgbClr val="14141C"/>
                </a:solidFill>
                <a:latin typeface="Geist"/>
              </a:rPr>
              <a:t>All four models land between 0.79 and 0.81, comfortably above the coin-flip baseline, and they basically tie each other. That is the lesson: on clean tabular data the model barely matters. Swapping a plain logistic regression for a fancy foundation model buys almost nothing. Three hundred patients from the 1980s contain only so much signal, and no model can invent more.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F0C8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11247120" cy="502920"/>
          </a:xfrm>
          <a:prstGeom prst="rect">
            <a:avLst/>
          </a:prstGeom>
          <a:noFill/>
        </p:spPr>
        <p:txBody>
          <a:bodyPr wrap="square" anchor="t" lIns="0" rIns="0" tIns="0" bIns="0">
            <a:spAutoFit/>
          </a:bodyPr>
          <a:lstStyle/>
          <a:p>
            <a:pPr algn="l"/>
            <a:r>
              <a:rPr sz="2800" b="1" i="0">
                <a:solidFill>
                  <a:srgbClr val="14141C"/>
                </a:solidFill>
                <a:latin typeface="Geist Mono"/>
              </a:rPr>
              <a:t>Cholesterol alone is a weak predictor</a:t>
            </a:r>
          </a:p>
        </p:txBody>
      </p:sp>
      <p:sp>
        <p:nvSpPr>
          <p:cNvPr id="5" name="Rectangle 4"/>
          <p:cNvSpPr/>
          <p:nvPr/>
        </p:nvSpPr>
        <p:spPr>
          <a:xfrm>
            <a:off x="457200" y="868680"/>
            <a:ext cx="11247120" cy="4572"/>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11247120" cy="274320"/>
          </a:xfrm>
          <a:prstGeom prst="rect">
            <a:avLst/>
          </a:prstGeom>
          <a:noFill/>
        </p:spPr>
        <p:txBody>
          <a:bodyPr wrap="square" anchor="t" lIns="0" rIns="0" tIns="0" bIns="0">
            <a:spAutoFit/>
          </a:bodyPr>
          <a:lstStyle/>
          <a:p>
            <a:pPr algn="l"/>
            <a:r>
              <a:rPr sz="900" b="0" i="0">
                <a:solidFill>
                  <a:srgbClr val="555560"/>
                </a:solidFill>
                <a:latin typeface="Geist Mono"/>
              </a:rPr>
              <a:t>Jinchi Wei  ·  Outset  ·  Predicting heart disease from a checkup  ·  2026-07-08</a:t>
            </a:r>
          </a:p>
        </p:txBody>
      </p:sp>
      <p:pic>
        <p:nvPicPr>
          <p:cNvPr id="7" name="Picture 6" descr="feature_ablation.png"/>
          <p:cNvPicPr>
            <a:picLocks noChangeAspect="1"/>
          </p:cNvPicPr>
          <p:nvPr/>
        </p:nvPicPr>
        <p:blipFill>
          <a:blip r:embed="rId2"/>
          <a:stretch>
            <a:fillRect/>
          </a:stretch>
        </p:blipFill>
        <p:spPr>
          <a:xfrm>
            <a:off x="457200" y="1430924"/>
            <a:ext cx="6298387" cy="4407631"/>
          </a:xfrm>
          <a:prstGeom prst="rect">
            <a:avLst/>
          </a:prstGeom>
        </p:spPr>
      </p:pic>
      <p:sp>
        <p:nvSpPr>
          <p:cNvPr id="8" name="Rectangle 7"/>
          <p:cNvSpPr/>
          <p:nvPr/>
        </p:nvSpPr>
        <p:spPr>
          <a:xfrm>
            <a:off x="7121347" y="1097280"/>
            <a:ext cx="4582972" cy="5074919"/>
          </a:xfrm>
          <a:prstGeom prst="rect">
            <a:avLst/>
          </a:prstGeom>
          <a:solidFill>
            <a:srgbClr val="FA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121347" y="1097280"/>
            <a:ext cx="4582972" cy="82296"/>
          </a:xfrm>
          <a:prstGeom prst="rect">
            <a:avLst/>
          </a:prstGeom>
          <a:solidFill>
            <a:srgbClr val="F0C8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322515" y="1389888"/>
            <a:ext cx="91440" cy="91440"/>
          </a:xfrm>
          <a:prstGeom prst="rect">
            <a:avLst/>
          </a:prstGeom>
          <a:solidFill>
            <a:srgbClr val="F0C8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523683" y="1325880"/>
            <a:ext cx="4016044" cy="2020824"/>
          </a:xfrm>
          <a:prstGeom prst="rect">
            <a:avLst/>
          </a:prstGeom>
          <a:noFill/>
        </p:spPr>
        <p:txBody>
          <a:bodyPr wrap="square" anchor="t" lIns="0" rIns="0" tIns="0" bIns="0">
            <a:spAutoFit/>
          </a:bodyPr>
          <a:lstStyle/>
          <a:p>
            <a:pPr algn="l"/>
            <a:r>
              <a:rPr sz="1300" b="0" i="0">
                <a:solidFill>
                  <a:srgbClr val="14141C"/>
                </a:solidFill>
                <a:latin typeface="Geist"/>
              </a:rPr>
              <a:t>Everyone “knows” cholesterol causes heart disease, so we gave a model only the cholesterol column. It scored about 0.52, basically a coin flip. Meanwhile the checkup with cholesterol removed scored about 0.80. Cholesterol is a major cause of heart disease over decades, but on its own it is a poor clue for who has disease right now. That is why doctors combine many measurements.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F0C8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11247120" cy="502920"/>
          </a:xfrm>
          <a:prstGeom prst="rect">
            <a:avLst/>
          </a:prstGeom>
          <a:noFill/>
        </p:spPr>
        <p:txBody>
          <a:bodyPr wrap="square" anchor="t" lIns="0" rIns="0" tIns="0" bIns="0">
            <a:spAutoFit/>
          </a:bodyPr>
          <a:lstStyle/>
          <a:p>
            <a:pPr algn="l"/>
            <a:r>
              <a:rPr sz="2800" b="1" i="0">
                <a:solidFill>
                  <a:srgbClr val="14141C"/>
                </a:solidFill>
                <a:latin typeface="Geist Mono"/>
              </a:rPr>
              <a:t>Accurate overall, but not equally by sex</a:t>
            </a:r>
          </a:p>
        </p:txBody>
      </p:sp>
      <p:sp>
        <p:nvSpPr>
          <p:cNvPr id="5" name="Rectangle 4"/>
          <p:cNvSpPr/>
          <p:nvPr/>
        </p:nvSpPr>
        <p:spPr>
          <a:xfrm>
            <a:off x="457200" y="868680"/>
            <a:ext cx="11247120" cy="4572"/>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11247120" cy="274320"/>
          </a:xfrm>
          <a:prstGeom prst="rect">
            <a:avLst/>
          </a:prstGeom>
          <a:noFill/>
        </p:spPr>
        <p:txBody>
          <a:bodyPr wrap="square" anchor="t" lIns="0" rIns="0" tIns="0" bIns="0">
            <a:spAutoFit/>
          </a:bodyPr>
          <a:lstStyle/>
          <a:p>
            <a:pPr algn="l"/>
            <a:r>
              <a:rPr sz="900" b="0" i="0">
                <a:solidFill>
                  <a:srgbClr val="555560"/>
                </a:solidFill>
                <a:latin typeface="Geist Mono"/>
              </a:rPr>
              <a:t>Jinchi Wei  ·  Outset  ·  Predicting heart disease from a checkup  ·  2026-07-08</a:t>
            </a:r>
          </a:p>
        </p:txBody>
      </p:sp>
      <p:pic>
        <p:nvPicPr>
          <p:cNvPr id="7" name="Picture 6" descr="fairness_by_sex.png"/>
          <p:cNvPicPr>
            <a:picLocks noChangeAspect="1"/>
          </p:cNvPicPr>
          <p:nvPr/>
        </p:nvPicPr>
        <p:blipFill>
          <a:blip r:embed="rId2"/>
          <a:stretch>
            <a:fillRect/>
          </a:stretch>
        </p:blipFill>
        <p:spPr>
          <a:xfrm>
            <a:off x="457200" y="1888962"/>
            <a:ext cx="6298387" cy="3491554"/>
          </a:xfrm>
          <a:prstGeom prst="rect">
            <a:avLst/>
          </a:prstGeom>
        </p:spPr>
      </p:pic>
      <p:sp>
        <p:nvSpPr>
          <p:cNvPr id="8" name="Rectangle 7"/>
          <p:cNvSpPr/>
          <p:nvPr/>
        </p:nvSpPr>
        <p:spPr>
          <a:xfrm>
            <a:off x="7121347" y="1097280"/>
            <a:ext cx="4582972" cy="5074919"/>
          </a:xfrm>
          <a:prstGeom prst="rect">
            <a:avLst/>
          </a:prstGeom>
          <a:solidFill>
            <a:srgbClr val="FA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121347" y="1097280"/>
            <a:ext cx="4582972" cy="82296"/>
          </a:xfrm>
          <a:prstGeom prst="rect">
            <a:avLst/>
          </a:prstGeom>
          <a:solidFill>
            <a:srgbClr val="F0C8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322515" y="1389888"/>
            <a:ext cx="91440" cy="91440"/>
          </a:xfrm>
          <a:prstGeom prst="rect">
            <a:avLst/>
          </a:prstGeom>
          <a:solidFill>
            <a:srgbClr val="F0C8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523683" y="1325880"/>
            <a:ext cx="4016044" cy="256032"/>
          </a:xfrm>
          <a:prstGeom prst="rect">
            <a:avLst/>
          </a:prstGeom>
          <a:noFill/>
        </p:spPr>
        <p:txBody>
          <a:bodyPr wrap="square" anchor="t" lIns="0" rIns="0" tIns="0" bIns="0">
            <a:spAutoFit/>
          </a:bodyPr>
          <a:lstStyle/>
          <a:p>
            <a:pPr algn="l"/>
            <a:r>
              <a:rPr sz="1300" b="0" i="0">
                <a:solidFill>
                  <a:srgbClr val="14141C"/>
                </a:solidFill>
                <a:latin typeface="Geist"/>
              </a:rPr>
              <a:t>This is the point of the project</a:t>
            </a:r>
          </a:p>
        </p:txBody>
      </p:sp>
      <p:sp>
        <p:nvSpPr>
          <p:cNvPr id="12" name="Rectangle 11"/>
          <p:cNvSpPr/>
          <p:nvPr/>
        </p:nvSpPr>
        <p:spPr>
          <a:xfrm>
            <a:off x="7322515" y="1773936"/>
            <a:ext cx="91440" cy="91440"/>
          </a:xfrm>
          <a:prstGeom prst="rect">
            <a:avLst/>
          </a:prstGeom>
          <a:solidFill>
            <a:srgbClr val="F0C8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523683" y="1709928"/>
            <a:ext cx="4016044" cy="1627632"/>
          </a:xfrm>
          <a:prstGeom prst="rect">
            <a:avLst/>
          </a:prstGeom>
          <a:noFill/>
        </p:spPr>
        <p:txBody>
          <a:bodyPr wrap="square" anchor="t" lIns="0" rIns="0" tIns="0" bIns="0">
            <a:spAutoFit/>
          </a:bodyPr>
          <a:lstStyle/>
          <a:p>
            <a:pPr algn="l"/>
            <a:r>
              <a:rPr sz="1300" b="0" i="0">
                <a:solidFill>
                  <a:srgbClr val="14141C"/>
                </a:solidFill>
                <a:latin typeface="Geist"/>
              </a:rPr>
              <a:t>One accuracy number can hide unfairness. When we grade the model separately for women and men, it is about 0.88 accurate for women and 0.78 for men, a gap of about 0.09. An accuracy gap in either direction means the model behaves differently depending on your sex. You only see it because you looked.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E1A35"/>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E1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548640" cy="6858000"/>
          </a:xfrm>
          <a:prstGeom prst="rect">
            <a:avLst/>
          </a:prstGeom>
          <a:solidFill>
            <a:srgbClr val="8A2B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640080"/>
            <a:ext cx="164592" cy="411480"/>
          </a:xfrm>
          <a:prstGeom prst="rect">
            <a:avLst/>
          </a:prstGeom>
          <a:solidFill>
            <a:srgbClr val="8A2B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1560" y="640080"/>
            <a:ext cx="10058400" cy="365760"/>
          </a:xfrm>
          <a:prstGeom prst="rect">
            <a:avLst/>
          </a:prstGeom>
          <a:noFill/>
        </p:spPr>
        <p:txBody>
          <a:bodyPr wrap="square" anchor="t" lIns="0" rIns="0" tIns="0" bIns="0">
            <a:spAutoFit/>
          </a:bodyPr>
          <a:lstStyle/>
          <a:p>
            <a:pPr algn="l"/>
            <a:r>
              <a:rPr sz="1400" b="1" i="0">
                <a:solidFill>
                  <a:srgbClr val="8A2BE2"/>
                </a:solidFill>
                <a:latin typeface="Geist Mono"/>
              </a:rPr>
              <a:t>Validation</a:t>
            </a:r>
          </a:p>
        </p:txBody>
      </p:sp>
      <p:sp>
        <p:nvSpPr>
          <p:cNvPr id="6" name="TextBox 5"/>
          <p:cNvSpPr txBox="1"/>
          <p:nvPr/>
        </p:nvSpPr>
        <p:spPr>
          <a:xfrm>
            <a:off x="777240" y="2194560"/>
            <a:ext cx="10972800" cy="2743200"/>
          </a:xfrm>
          <a:prstGeom prst="rect">
            <a:avLst/>
          </a:prstGeom>
          <a:noFill/>
        </p:spPr>
        <p:txBody>
          <a:bodyPr wrap="square" anchor="t" lIns="0" rIns="0" tIns="0" bIns="0">
            <a:spAutoFit/>
          </a:bodyPr>
          <a:lstStyle/>
          <a:p>
            <a:pPr algn="l"/>
            <a:r>
              <a:rPr sz="4400" b="1" i="0">
                <a:solidFill>
                  <a:srgbClr val="FFFFFF"/>
                </a:solidFill>
                <a:latin typeface="Geist Mono"/>
              </a:rPr>
              <a:t>BEING HONEST</a:t>
            </a:r>
          </a:p>
        </p:txBody>
      </p:sp>
      <p:sp>
        <p:nvSpPr>
          <p:cNvPr id="7" name="Rectangle 6"/>
          <p:cNvSpPr/>
          <p:nvPr/>
        </p:nvSpPr>
        <p:spPr>
          <a:xfrm>
            <a:off x="777240" y="5120640"/>
            <a:ext cx="1828800" cy="18288"/>
          </a:xfrm>
          <a:prstGeom prst="rect">
            <a:avLst/>
          </a:prstGeom>
          <a:solidFill>
            <a:srgbClr val="8A2B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6126480"/>
            <a:ext cx="3657600" cy="320040"/>
          </a:xfrm>
          <a:prstGeom prst="rect">
            <a:avLst/>
          </a:prstGeom>
          <a:noFill/>
        </p:spPr>
        <p:txBody>
          <a:bodyPr wrap="square" anchor="t" lIns="0" rIns="0" tIns="0" bIns="0">
            <a:spAutoFit/>
          </a:bodyPr>
          <a:lstStyle/>
          <a:p>
            <a:pPr algn="l"/>
            <a:r>
              <a:rPr sz="1100" b="1" i="0">
                <a:solidFill>
                  <a:srgbClr val="40E0D0"/>
                </a:solidFill>
                <a:latin typeface="Geist Mono"/>
              </a:rPr>
              <a:t>Jinchi Wei</a:t>
            </a:r>
          </a:p>
        </p:txBody>
      </p:sp>
      <p:sp>
        <p:nvSpPr>
          <p:cNvPr id="9" name="TextBox 8"/>
          <p:cNvSpPr txBox="1"/>
          <p:nvPr/>
        </p:nvSpPr>
        <p:spPr>
          <a:xfrm>
            <a:off x="2148839" y="6126480"/>
            <a:ext cx="182880" cy="320040"/>
          </a:xfrm>
          <a:prstGeom prst="rect">
            <a:avLst/>
          </a:prstGeom>
          <a:noFill/>
        </p:spPr>
        <p:txBody>
          <a:bodyPr wrap="square" anchor="t" lIns="0" rIns="0" tIns="0" bIns="0">
            <a:spAutoFit/>
          </a:bodyPr>
          <a:lstStyle/>
          <a:p>
            <a:pPr algn="l"/>
            <a:r>
              <a:rPr sz="1100" b="0" i="0">
                <a:solidFill>
                  <a:srgbClr val="888888"/>
                </a:solidFill>
                <a:latin typeface="Geist Mono"/>
              </a:rPr>
              <a:t>·</a:t>
            </a:r>
          </a:p>
        </p:txBody>
      </p:sp>
      <p:sp>
        <p:nvSpPr>
          <p:cNvPr id="10" name="TextBox 9"/>
          <p:cNvSpPr txBox="1"/>
          <p:nvPr/>
        </p:nvSpPr>
        <p:spPr>
          <a:xfrm>
            <a:off x="2377439" y="6126480"/>
            <a:ext cx="4572000" cy="320040"/>
          </a:xfrm>
          <a:prstGeom prst="rect">
            <a:avLst/>
          </a:prstGeom>
          <a:noFill/>
        </p:spPr>
        <p:txBody>
          <a:bodyPr wrap="square" anchor="t" lIns="0" rIns="0" tIns="0" bIns="0">
            <a:spAutoFit/>
          </a:bodyPr>
          <a:lstStyle/>
          <a:p>
            <a:pPr algn="l"/>
            <a:r>
              <a:rPr sz="1100" b="1" i="0">
                <a:solidFill>
                  <a:srgbClr val="FF1493"/>
                </a:solidFill>
                <a:latin typeface="Geist Mono"/>
              </a:rPr>
              <a:t>Outset</a:t>
            </a:r>
          </a:p>
        </p:txBody>
      </p:sp>
      <p:sp>
        <p:nvSpPr>
          <p:cNvPr id="11" name="TextBox 10"/>
          <p:cNvSpPr txBox="1"/>
          <p:nvPr/>
        </p:nvSpPr>
        <p:spPr>
          <a:xfrm>
            <a:off x="3657599" y="6126480"/>
            <a:ext cx="182880" cy="320040"/>
          </a:xfrm>
          <a:prstGeom prst="rect">
            <a:avLst/>
          </a:prstGeom>
          <a:noFill/>
        </p:spPr>
        <p:txBody>
          <a:bodyPr wrap="square" anchor="t" lIns="0" rIns="0" tIns="0" bIns="0">
            <a:spAutoFit/>
          </a:bodyPr>
          <a:lstStyle/>
          <a:p>
            <a:pPr algn="l"/>
            <a:r>
              <a:rPr sz="1100" b="0" i="0">
                <a:solidFill>
                  <a:srgbClr val="888888"/>
                </a:solidFill>
                <a:latin typeface="Geist Mono"/>
              </a:rPr>
              <a:t>·</a:t>
            </a:r>
          </a:p>
        </p:txBody>
      </p:sp>
      <p:sp>
        <p:nvSpPr>
          <p:cNvPr id="12" name="TextBox 11"/>
          <p:cNvSpPr txBox="1"/>
          <p:nvPr/>
        </p:nvSpPr>
        <p:spPr>
          <a:xfrm>
            <a:off x="3886200" y="6126480"/>
            <a:ext cx="7315200" cy="320040"/>
          </a:xfrm>
          <a:prstGeom prst="rect">
            <a:avLst/>
          </a:prstGeom>
          <a:noFill/>
        </p:spPr>
        <p:txBody>
          <a:bodyPr wrap="square" anchor="t" lIns="0" rIns="0" tIns="0" bIns="0">
            <a:spAutoFit/>
          </a:bodyPr>
          <a:lstStyle/>
          <a:p>
            <a:pPr algn="l"/>
            <a:r>
              <a:rPr sz="1100" b="0" i="0">
                <a:solidFill>
                  <a:srgbClr val="888888"/>
                </a:solidFill>
                <a:latin typeface="Geist Mono"/>
              </a:rPr>
              <a:t>Predicting heart disease from a checkup</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8A2B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11247120" cy="502920"/>
          </a:xfrm>
          <a:prstGeom prst="rect">
            <a:avLst/>
          </a:prstGeom>
          <a:noFill/>
        </p:spPr>
        <p:txBody>
          <a:bodyPr wrap="square" anchor="t" lIns="0" rIns="0" tIns="0" bIns="0">
            <a:spAutoFit/>
          </a:bodyPr>
          <a:lstStyle/>
          <a:p>
            <a:pPr algn="l"/>
            <a:r>
              <a:rPr sz="2800" b="1" i="0">
                <a:solidFill>
                  <a:srgbClr val="14141C"/>
                </a:solidFill>
                <a:latin typeface="Geist Mono"/>
              </a:rPr>
              <a:t>The data is small and male-skewed</a:t>
            </a:r>
          </a:p>
        </p:txBody>
      </p:sp>
      <p:sp>
        <p:nvSpPr>
          <p:cNvPr id="5" name="Rectangle 4"/>
          <p:cNvSpPr/>
          <p:nvPr/>
        </p:nvSpPr>
        <p:spPr>
          <a:xfrm>
            <a:off x="457200" y="868680"/>
            <a:ext cx="11247120" cy="4572"/>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11247120" cy="274320"/>
          </a:xfrm>
          <a:prstGeom prst="rect">
            <a:avLst/>
          </a:prstGeom>
          <a:noFill/>
        </p:spPr>
        <p:txBody>
          <a:bodyPr wrap="square" anchor="t" lIns="0" rIns="0" tIns="0" bIns="0">
            <a:spAutoFit/>
          </a:bodyPr>
          <a:lstStyle/>
          <a:p>
            <a:pPr algn="l"/>
            <a:r>
              <a:rPr sz="900" b="0" i="0">
                <a:solidFill>
                  <a:srgbClr val="555560"/>
                </a:solidFill>
                <a:latin typeface="Geist Mono"/>
              </a:rPr>
              <a:t>Jinchi Wei  ·  Outset  ·  Predicting heart disease from a checkup  ·  2026-07-08</a:t>
            </a:r>
          </a:p>
        </p:txBody>
      </p:sp>
      <p:pic>
        <p:nvPicPr>
          <p:cNvPr id="7" name="Picture 6" descr="intro_dataset_sex_skew.png"/>
          <p:cNvPicPr>
            <a:picLocks noChangeAspect="1"/>
          </p:cNvPicPr>
          <p:nvPr/>
        </p:nvPicPr>
        <p:blipFill>
          <a:blip r:embed="rId2"/>
          <a:stretch>
            <a:fillRect/>
          </a:stretch>
        </p:blipFill>
        <p:spPr>
          <a:xfrm>
            <a:off x="457200" y="1861056"/>
            <a:ext cx="6298387" cy="3547367"/>
          </a:xfrm>
          <a:prstGeom prst="rect">
            <a:avLst/>
          </a:prstGeom>
        </p:spPr>
      </p:pic>
      <p:sp>
        <p:nvSpPr>
          <p:cNvPr id="8" name="Rectangle 7"/>
          <p:cNvSpPr/>
          <p:nvPr/>
        </p:nvSpPr>
        <p:spPr>
          <a:xfrm>
            <a:off x="7121347" y="1097280"/>
            <a:ext cx="4582972" cy="5074919"/>
          </a:xfrm>
          <a:prstGeom prst="rect">
            <a:avLst/>
          </a:prstGeom>
          <a:solidFill>
            <a:srgbClr val="FA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121347" y="1097280"/>
            <a:ext cx="4582972" cy="82296"/>
          </a:xfrm>
          <a:prstGeom prst="rect">
            <a:avLst/>
          </a:prstGeom>
          <a:solidFill>
            <a:srgbClr val="8A2B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322515" y="1389888"/>
            <a:ext cx="91440" cy="91440"/>
          </a:xfrm>
          <a:prstGeom prst="rect">
            <a:avLst/>
          </a:prstGeom>
          <a:solidFill>
            <a:srgbClr val="8A2B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523683" y="1325880"/>
            <a:ext cx="4016044" cy="448056"/>
          </a:xfrm>
          <a:prstGeom prst="rect">
            <a:avLst/>
          </a:prstGeom>
          <a:noFill/>
        </p:spPr>
        <p:txBody>
          <a:bodyPr wrap="square" anchor="t" lIns="0" rIns="0" tIns="0" bIns="0">
            <a:spAutoFit/>
          </a:bodyPr>
          <a:lstStyle/>
          <a:p>
            <a:pPr algn="l"/>
            <a:r>
              <a:rPr sz="1300" b="0" i="0">
                <a:solidFill>
                  <a:srgbClr val="14141C"/>
                </a:solidFill>
                <a:latin typeface="Geist"/>
              </a:rPr>
              <a:t>A model can only learn from who is in its data, and ours is about 2:1 male</a:t>
            </a:r>
          </a:p>
        </p:txBody>
      </p:sp>
      <p:sp>
        <p:nvSpPr>
          <p:cNvPr id="12" name="Rectangle 11"/>
          <p:cNvSpPr/>
          <p:nvPr/>
        </p:nvSpPr>
        <p:spPr>
          <a:xfrm>
            <a:off x="7322515" y="1965960"/>
            <a:ext cx="91440" cy="91440"/>
          </a:xfrm>
          <a:prstGeom prst="rect">
            <a:avLst/>
          </a:prstGeom>
          <a:solidFill>
            <a:srgbClr val="8A2B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523683" y="1901952"/>
            <a:ext cx="4016044" cy="1627632"/>
          </a:xfrm>
          <a:prstGeom prst="rect">
            <a:avLst/>
          </a:prstGeom>
          <a:noFill/>
        </p:spPr>
        <p:txBody>
          <a:bodyPr wrap="square" anchor="t" lIns="0" rIns="0" tIns="0" bIns="0">
            <a:spAutoFit/>
          </a:bodyPr>
          <a:lstStyle/>
          <a:p>
            <a:pPr algn="l"/>
            <a:r>
              <a:rPr sz="1300" b="0" i="0">
                <a:solidFill>
                  <a:srgbClr val="14141C"/>
                </a:solidFill>
                <a:latin typeface="Geist"/>
              </a:rPr>
              <a:t>With far fewer women, the model gets less practice on them, and the way patients were selected in the 1980s made the male rows sicker. That skew is not a bug we can fix with a better model, it is a property of the data, and it is exactly the bias that makes heart disease harder to catch in women.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8A2B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11247120" cy="502920"/>
          </a:xfrm>
          <a:prstGeom prst="rect">
            <a:avLst/>
          </a:prstGeom>
          <a:noFill/>
        </p:spPr>
        <p:txBody>
          <a:bodyPr wrap="square" anchor="t" lIns="0" rIns="0" tIns="0" bIns="0">
            <a:spAutoFit/>
          </a:bodyPr>
          <a:lstStyle/>
          <a:p>
            <a:pPr algn="l"/>
            <a:r>
              <a:rPr sz="2800" b="1" i="0">
                <a:solidFill>
                  <a:srgbClr val="14141C"/>
                </a:solidFill>
                <a:latin typeface="Geist Mono"/>
              </a:rPr>
              <a:t>What this project can and cannot say</a:t>
            </a:r>
          </a:p>
        </p:txBody>
      </p:sp>
      <p:sp>
        <p:nvSpPr>
          <p:cNvPr id="5" name="Rectangle 4"/>
          <p:cNvSpPr/>
          <p:nvPr/>
        </p:nvSpPr>
        <p:spPr>
          <a:xfrm>
            <a:off x="457200" y="868680"/>
            <a:ext cx="11247120" cy="4572"/>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11247120" cy="274320"/>
          </a:xfrm>
          <a:prstGeom prst="rect">
            <a:avLst/>
          </a:prstGeom>
          <a:noFill/>
        </p:spPr>
        <p:txBody>
          <a:bodyPr wrap="square" anchor="t" lIns="0" rIns="0" tIns="0" bIns="0">
            <a:spAutoFit/>
          </a:bodyPr>
          <a:lstStyle/>
          <a:p>
            <a:pPr algn="l"/>
            <a:r>
              <a:rPr sz="900" b="0" i="0">
                <a:solidFill>
                  <a:srgbClr val="555560"/>
                </a:solidFill>
                <a:latin typeface="Geist Mono"/>
              </a:rPr>
              <a:t>Jinchi Wei  ·  Outset  ·  Predicting heart disease from a checkup  ·  2026-07-08</a:t>
            </a:r>
          </a:p>
        </p:txBody>
      </p:sp>
      <p:sp>
        <p:nvSpPr>
          <p:cNvPr id="7" name="Rectangle 6"/>
          <p:cNvSpPr/>
          <p:nvPr/>
        </p:nvSpPr>
        <p:spPr>
          <a:xfrm>
            <a:off x="457200" y="1051560"/>
            <a:ext cx="3535680" cy="5212079"/>
          </a:xfrm>
          <a:prstGeom prst="rect">
            <a:avLst/>
          </a:prstGeom>
          <a:solidFill>
            <a:srgbClr val="FA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051560"/>
            <a:ext cx="3535680" cy="91440"/>
          </a:xfrm>
          <a:prstGeom prst="rect">
            <a:avLst/>
          </a:prstGeom>
          <a:solidFill>
            <a:srgbClr val="9A34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289304"/>
            <a:ext cx="3169920" cy="640080"/>
          </a:xfrm>
          <a:prstGeom prst="rect">
            <a:avLst/>
          </a:prstGeom>
          <a:noFill/>
        </p:spPr>
        <p:txBody>
          <a:bodyPr wrap="square" anchor="t" lIns="0" rIns="0" tIns="0" bIns="0">
            <a:spAutoFit/>
          </a:bodyPr>
          <a:lstStyle/>
          <a:p>
            <a:pPr algn="l"/>
            <a:r>
              <a:rPr sz="1500" b="1" i="0">
                <a:solidFill>
                  <a:srgbClr val="14141C"/>
                </a:solidFill>
                <a:latin typeface="Geist Mono"/>
              </a:rPr>
              <a:t>It can</a:t>
            </a:r>
          </a:p>
        </p:txBody>
      </p:sp>
      <p:sp>
        <p:nvSpPr>
          <p:cNvPr id="10" name="TextBox 9"/>
          <p:cNvSpPr txBox="1"/>
          <p:nvPr/>
        </p:nvSpPr>
        <p:spPr>
          <a:xfrm>
            <a:off x="640080" y="2011680"/>
            <a:ext cx="3169920" cy="4069079"/>
          </a:xfrm>
          <a:prstGeom prst="rect">
            <a:avLst/>
          </a:prstGeom>
          <a:noFill/>
        </p:spPr>
        <p:txBody>
          <a:bodyPr wrap="square" anchor="t" lIns="0" rIns="0" tIns="0" bIns="0">
            <a:spAutoFit/>
          </a:bodyPr>
          <a:lstStyle/>
          <a:p>
            <a:pPr algn="l"/>
            <a:r>
              <a:rPr sz="1200" b="0" i="0">
                <a:solidFill>
                  <a:srgbClr val="555560"/>
                </a:solidFill>
                <a:latin typeface="Geist"/>
              </a:rPr>
              <a:t>Show that checkup features carry real signal, that no single number is the whole story, and that accuracy can be unequal across sex.</a:t>
            </a:r>
          </a:p>
        </p:txBody>
      </p:sp>
      <p:sp>
        <p:nvSpPr>
          <p:cNvPr id="11" name="Rectangle 10"/>
          <p:cNvSpPr/>
          <p:nvPr/>
        </p:nvSpPr>
        <p:spPr>
          <a:xfrm>
            <a:off x="4312920" y="1051560"/>
            <a:ext cx="3535680" cy="5212079"/>
          </a:xfrm>
          <a:prstGeom prst="rect">
            <a:avLst/>
          </a:prstGeom>
          <a:solidFill>
            <a:srgbClr val="FA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312920" y="1051560"/>
            <a:ext cx="3535680" cy="91440"/>
          </a:xfrm>
          <a:prstGeom prst="rect">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95800" y="1289304"/>
            <a:ext cx="3169920" cy="640080"/>
          </a:xfrm>
          <a:prstGeom prst="rect">
            <a:avLst/>
          </a:prstGeom>
          <a:noFill/>
        </p:spPr>
        <p:txBody>
          <a:bodyPr wrap="square" anchor="t" lIns="0" rIns="0" tIns="0" bIns="0">
            <a:spAutoFit/>
          </a:bodyPr>
          <a:lstStyle/>
          <a:p>
            <a:pPr algn="l"/>
            <a:r>
              <a:rPr sz="1500" b="1" i="0">
                <a:solidFill>
                  <a:srgbClr val="14141C"/>
                </a:solidFill>
                <a:latin typeface="Geist Mono"/>
              </a:rPr>
              <a:t>It cannot</a:t>
            </a:r>
          </a:p>
        </p:txBody>
      </p:sp>
      <p:sp>
        <p:nvSpPr>
          <p:cNvPr id="14" name="TextBox 13"/>
          <p:cNvSpPr txBox="1"/>
          <p:nvPr/>
        </p:nvSpPr>
        <p:spPr>
          <a:xfrm>
            <a:off x="4495800" y="2011680"/>
            <a:ext cx="3169920" cy="4069079"/>
          </a:xfrm>
          <a:prstGeom prst="rect">
            <a:avLst/>
          </a:prstGeom>
          <a:noFill/>
        </p:spPr>
        <p:txBody>
          <a:bodyPr wrap="square" anchor="t" lIns="0" rIns="0" tIns="0" bIns="0">
            <a:spAutoFit/>
          </a:bodyPr>
          <a:lstStyle/>
          <a:p>
            <a:pPr algn="l"/>
            <a:r>
              <a:rPr sz="1200" b="0" i="0">
                <a:solidFill>
                  <a:srgbClr val="555560"/>
                </a:solidFill>
                <a:latin typeface="Geist"/>
              </a:rPr>
              <a:t>Say anything trustworthy about today’s patients. This is 303 people from one 1980s study.</a:t>
            </a:r>
          </a:p>
        </p:txBody>
      </p:sp>
      <p:sp>
        <p:nvSpPr>
          <p:cNvPr id="15" name="Rectangle 14"/>
          <p:cNvSpPr/>
          <p:nvPr/>
        </p:nvSpPr>
        <p:spPr>
          <a:xfrm>
            <a:off x="8168640" y="1051560"/>
            <a:ext cx="3535680" cy="5212079"/>
          </a:xfrm>
          <a:prstGeom prst="rect">
            <a:avLst/>
          </a:prstGeom>
          <a:solidFill>
            <a:srgbClr val="FA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168640" y="1051560"/>
            <a:ext cx="3535680" cy="91440"/>
          </a:xfrm>
          <a:prstGeom prst="rect">
            <a:avLst/>
          </a:prstGeom>
          <a:solidFill>
            <a:srgbClr val="115E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51520" y="1289304"/>
            <a:ext cx="3169920" cy="640080"/>
          </a:xfrm>
          <a:prstGeom prst="rect">
            <a:avLst/>
          </a:prstGeom>
          <a:noFill/>
        </p:spPr>
        <p:txBody>
          <a:bodyPr wrap="square" anchor="t" lIns="0" rIns="0" tIns="0" bIns="0">
            <a:spAutoFit/>
          </a:bodyPr>
          <a:lstStyle/>
          <a:p>
            <a:pPr algn="l"/>
            <a:r>
              <a:rPr sz="1500" b="1" i="0">
                <a:solidFill>
                  <a:srgbClr val="14141C"/>
                </a:solidFill>
                <a:latin typeface="Geist Mono"/>
              </a:rPr>
              <a:t>Watch the metric</a:t>
            </a:r>
          </a:p>
        </p:txBody>
      </p:sp>
      <p:sp>
        <p:nvSpPr>
          <p:cNvPr id="18" name="TextBox 17"/>
          <p:cNvSpPr txBox="1"/>
          <p:nvPr/>
        </p:nvSpPr>
        <p:spPr>
          <a:xfrm>
            <a:off x="8351520" y="2011680"/>
            <a:ext cx="3169920" cy="4069079"/>
          </a:xfrm>
          <a:prstGeom prst="rect">
            <a:avLst/>
          </a:prstGeom>
          <a:noFill/>
        </p:spPr>
        <p:txBody>
          <a:bodyPr wrap="square" anchor="t" lIns="0" rIns="0" tIns="0" bIns="0">
            <a:spAutoFit/>
          </a:bodyPr>
          <a:lstStyle/>
          <a:p>
            <a:pPr algn="l"/>
            <a:r>
              <a:rPr sz="1200" b="0" i="0">
                <a:solidFill>
                  <a:srgbClr val="555560"/>
                </a:solidFill>
                <a:latin typeface="Geist"/>
              </a:rPr>
              <a:t>Missing a real heart attack is far worse than a false alarm. A deployed tool would be tuned for sensitivity, not raw accuracy.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E1A35"/>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E1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548640" cy="6858000"/>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640080"/>
            <a:ext cx="164592" cy="411480"/>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1560" y="640080"/>
            <a:ext cx="10058400" cy="365760"/>
          </a:xfrm>
          <a:prstGeom prst="rect">
            <a:avLst/>
          </a:prstGeom>
          <a:noFill/>
        </p:spPr>
        <p:txBody>
          <a:bodyPr wrap="square" anchor="t" lIns="0" rIns="0" tIns="0" bIns="0">
            <a:spAutoFit/>
          </a:bodyPr>
          <a:lstStyle/>
          <a:p>
            <a:pPr algn="l"/>
            <a:r>
              <a:rPr sz="1400" b="1" i="0">
                <a:solidFill>
                  <a:srgbClr val="40E0D0"/>
                </a:solidFill>
                <a:latin typeface="Geist Mono"/>
              </a:rPr>
              <a:t>Overview</a:t>
            </a:r>
          </a:p>
        </p:txBody>
      </p:sp>
      <p:sp>
        <p:nvSpPr>
          <p:cNvPr id="6" name="TextBox 5"/>
          <p:cNvSpPr txBox="1"/>
          <p:nvPr/>
        </p:nvSpPr>
        <p:spPr>
          <a:xfrm>
            <a:off x="777240" y="2194560"/>
            <a:ext cx="10972800" cy="2743200"/>
          </a:xfrm>
          <a:prstGeom prst="rect">
            <a:avLst/>
          </a:prstGeom>
          <a:noFill/>
        </p:spPr>
        <p:txBody>
          <a:bodyPr wrap="square" anchor="t" lIns="0" rIns="0" tIns="0" bIns="0">
            <a:spAutoFit/>
          </a:bodyPr>
          <a:lstStyle/>
          <a:p>
            <a:pPr algn="l"/>
            <a:r>
              <a:rPr sz="4400" b="1" i="0">
                <a:solidFill>
                  <a:srgbClr val="FFFFFF"/>
                </a:solidFill>
                <a:latin typeface="Geist Mono"/>
              </a:rPr>
              <a:t>REFERENCES</a:t>
            </a:r>
          </a:p>
        </p:txBody>
      </p:sp>
      <p:sp>
        <p:nvSpPr>
          <p:cNvPr id="7" name="Rectangle 6"/>
          <p:cNvSpPr/>
          <p:nvPr/>
        </p:nvSpPr>
        <p:spPr>
          <a:xfrm>
            <a:off x="777240" y="5120640"/>
            <a:ext cx="1828800" cy="18288"/>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6126480"/>
            <a:ext cx="3657600" cy="320040"/>
          </a:xfrm>
          <a:prstGeom prst="rect">
            <a:avLst/>
          </a:prstGeom>
          <a:noFill/>
        </p:spPr>
        <p:txBody>
          <a:bodyPr wrap="square" anchor="t" lIns="0" rIns="0" tIns="0" bIns="0">
            <a:spAutoFit/>
          </a:bodyPr>
          <a:lstStyle/>
          <a:p>
            <a:pPr algn="l"/>
            <a:r>
              <a:rPr sz="1100" b="1" i="0">
                <a:solidFill>
                  <a:srgbClr val="40E0D0"/>
                </a:solidFill>
                <a:latin typeface="Geist Mono"/>
              </a:rPr>
              <a:t>Jinchi Wei</a:t>
            </a:r>
          </a:p>
        </p:txBody>
      </p:sp>
      <p:sp>
        <p:nvSpPr>
          <p:cNvPr id="9" name="TextBox 8"/>
          <p:cNvSpPr txBox="1"/>
          <p:nvPr/>
        </p:nvSpPr>
        <p:spPr>
          <a:xfrm>
            <a:off x="2148839" y="6126480"/>
            <a:ext cx="182880" cy="320040"/>
          </a:xfrm>
          <a:prstGeom prst="rect">
            <a:avLst/>
          </a:prstGeom>
          <a:noFill/>
        </p:spPr>
        <p:txBody>
          <a:bodyPr wrap="square" anchor="t" lIns="0" rIns="0" tIns="0" bIns="0">
            <a:spAutoFit/>
          </a:bodyPr>
          <a:lstStyle/>
          <a:p>
            <a:pPr algn="l"/>
            <a:r>
              <a:rPr sz="1100" b="0" i="0">
                <a:solidFill>
                  <a:srgbClr val="888888"/>
                </a:solidFill>
                <a:latin typeface="Geist Mono"/>
              </a:rPr>
              <a:t>·</a:t>
            </a:r>
          </a:p>
        </p:txBody>
      </p:sp>
      <p:sp>
        <p:nvSpPr>
          <p:cNvPr id="10" name="TextBox 9"/>
          <p:cNvSpPr txBox="1"/>
          <p:nvPr/>
        </p:nvSpPr>
        <p:spPr>
          <a:xfrm>
            <a:off x="2377439" y="6126480"/>
            <a:ext cx="4572000" cy="320040"/>
          </a:xfrm>
          <a:prstGeom prst="rect">
            <a:avLst/>
          </a:prstGeom>
          <a:noFill/>
        </p:spPr>
        <p:txBody>
          <a:bodyPr wrap="square" anchor="t" lIns="0" rIns="0" tIns="0" bIns="0">
            <a:spAutoFit/>
          </a:bodyPr>
          <a:lstStyle/>
          <a:p>
            <a:pPr algn="l"/>
            <a:r>
              <a:rPr sz="1100" b="1" i="0">
                <a:solidFill>
                  <a:srgbClr val="FF1493"/>
                </a:solidFill>
                <a:latin typeface="Geist Mono"/>
              </a:rPr>
              <a:t>Outset</a:t>
            </a:r>
          </a:p>
        </p:txBody>
      </p:sp>
      <p:sp>
        <p:nvSpPr>
          <p:cNvPr id="11" name="TextBox 10"/>
          <p:cNvSpPr txBox="1"/>
          <p:nvPr/>
        </p:nvSpPr>
        <p:spPr>
          <a:xfrm>
            <a:off x="3657599" y="6126480"/>
            <a:ext cx="182880" cy="320040"/>
          </a:xfrm>
          <a:prstGeom prst="rect">
            <a:avLst/>
          </a:prstGeom>
          <a:noFill/>
        </p:spPr>
        <p:txBody>
          <a:bodyPr wrap="square" anchor="t" lIns="0" rIns="0" tIns="0" bIns="0">
            <a:spAutoFit/>
          </a:bodyPr>
          <a:lstStyle/>
          <a:p>
            <a:pPr algn="l"/>
            <a:r>
              <a:rPr sz="1100" b="0" i="0">
                <a:solidFill>
                  <a:srgbClr val="888888"/>
                </a:solidFill>
                <a:latin typeface="Geist Mono"/>
              </a:rPr>
              <a:t>·</a:t>
            </a:r>
          </a:p>
        </p:txBody>
      </p:sp>
      <p:sp>
        <p:nvSpPr>
          <p:cNvPr id="12" name="TextBox 11"/>
          <p:cNvSpPr txBox="1"/>
          <p:nvPr/>
        </p:nvSpPr>
        <p:spPr>
          <a:xfrm>
            <a:off x="3886200" y="6126480"/>
            <a:ext cx="7315200" cy="320040"/>
          </a:xfrm>
          <a:prstGeom prst="rect">
            <a:avLst/>
          </a:prstGeom>
          <a:noFill/>
        </p:spPr>
        <p:txBody>
          <a:bodyPr wrap="square" anchor="t" lIns="0" rIns="0" tIns="0" bIns="0">
            <a:spAutoFit/>
          </a:bodyPr>
          <a:lstStyle/>
          <a:p>
            <a:pPr algn="l"/>
            <a:r>
              <a:rPr sz="1100" b="0" i="0">
                <a:solidFill>
                  <a:srgbClr val="888888"/>
                </a:solidFill>
                <a:latin typeface="Geist Mono"/>
              </a:rPr>
              <a:t>Predicting heart disease from a checkup</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11247120" cy="502920"/>
          </a:xfrm>
          <a:prstGeom prst="rect">
            <a:avLst/>
          </a:prstGeom>
          <a:noFill/>
        </p:spPr>
        <p:txBody>
          <a:bodyPr wrap="square" anchor="t" lIns="0" rIns="0" tIns="0" bIns="0">
            <a:spAutoFit/>
          </a:bodyPr>
          <a:lstStyle/>
          <a:p>
            <a:pPr algn="l"/>
            <a:r>
              <a:rPr sz="2800" b="1" i="0">
                <a:solidFill>
                  <a:srgbClr val="14141C"/>
                </a:solidFill>
                <a:latin typeface="Geist Mono"/>
              </a:rPr>
              <a:t>Sources</a:t>
            </a:r>
          </a:p>
        </p:txBody>
      </p:sp>
      <p:sp>
        <p:nvSpPr>
          <p:cNvPr id="5" name="Rectangle 4"/>
          <p:cNvSpPr/>
          <p:nvPr/>
        </p:nvSpPr>
        <p:spPr>
          <a:xfrm>
            <a:off x="457200" y="868680"/>
            <a:ext cx="11247120" cy="4572"/>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11247120" cy="274320"/>
          </a:xfrm>
          <a:prstGeom prst="rect">
            <a:avLst/>
          </a:prstGeom>
          <a:noFill/>
        </p:spPr>
        <p:txBody>
          <a:bodyPr wrap="square" anchor="t" lIns="0" rIns="0" tIns="0" bIns="0">
            <a:spAutoFit/>
          </a:bodyPr>
          <a:lstStyle/>
          <a:p>
            <a:pPr algn="l"/>
            <a:r>
              <a:rPr sz="900" b="0" i="0">
                <a:solidFill>
                  <a:srgbClr val="555560"/>
                </a:solidFill>
                <a:latin typeface="Geist Mono"/>
              </a:rPr>
              <a:t>Jinchi Wei  ·  Outset  ·  Predicting heart disease from a checkup  ·  2026-07-08</a:t>
            </a:r>
          </a:p>
        </p:txBody>
      </p:sp>
      <p:sp>
        <p:nvSpPr>
          <p:cNvPr id="7" name="Rectangle 6"/>
          <p:cNvSpPr/>
          <p:nvPr/>
        </p:nvSpPr>
        <p:spPr>
          <a:xfrm>
            <a:off x="457200" y="1051560"/>
            <a:ext cx="3535680" cy="5212079"/>
          </a:xfrm>
          <a:prstGeom prst="rect">
            <a:avLst/>
          </a:prstGeom>
          <a:solidFill>
            <a:srgbClr val="FA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051560"/>
            <a:ext cx="3535680" cy="91440"/>
          </a:xfrm>
          <a:prstGeom prst="rect">
            <a:avLst/>
          </a:prstGeom>
          <a:solidFill>
            <a:srgbClr val="9A34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289304"/>
            <a:ext cx="3169920" cy="640080"/>
          </a:xfrm>
          <a:prstGeom prst="rect">
            <a:avLst/>
          </a:prstGeom>
          <a:noFill/>
        </p:spPr>
        <p:txBody>
          <a:bodyPr wrap="square" anchor="t" lIns="0" rIns="0" tIns="0" bIns="0">
            <a:spAutoFit/>
          </a:bodyPr>
          <a:lstStyle/>
          <a:p>
            <a:pPr algn="l"/>
            <a:r>
              <a:rPr sz="1500" b="1" i="0">
                <a:solidFill>
                  <a:srgbClr val="14141C"/>
                </a:solidFill>
                <a:latin typeface="Geist Mono"/>
              </a:rPr>
              <a:t>Cardiac risk scoring</a:t>
            </a:r>
          </a:p>
        </p:txBody>
      </p:sp>
      <p:sp>
        <p:nvSpPr>
          <p:cNvPr id="10" name="TextBox 9"/>
          <p:cNvSpPr txBox="1"/>
          <p:nvPr/>
        </p:nvSpPr>
        <p:spPr>
          <a:xfrm>
            <a:off x="640080" y="2011680"/>
            <a:ext cx="3169920" cy="4069079"/>
          </a:xfrm>
          <a:prstGeom prst="rect">
            <a:avLst/>
          </a:prstGeom>
          <a:noFill/>
        </p:spPr>
        <p:txBody>
          <a:bodyPr wrap="square" anchor="t" lIns="0" rIns="0" tIns="0" bIns="0">
            <a:spAutoFit/>
          </a:bodyPr>
          <a:lstStyle/>
          <a:p>
            <a:pPr algn="l"/>
            <a:r>
              <a:rPr sz="1200" b="0" i="0">
                <a:solidFill>
                  <a:srgbClr val="555560"/>
                </a:solidFill>
                <a:latin typeface="Geist"/>
              </a:rPr>
              <a:t>Wilson 1998, Framingham Risk Score, Circulation. Yusuf 2004, the INTERHEART study, Lancet.</a:t>
            </a:r>
          </a:p>
        </p:txBody>
      </p:sp>
      <p:sp>
        <p:nvSpPr>
          <p:cNvPr id="11" name="Rectangle 10"/>
          <p:cNvSpPr/>
          <p:nvPr/>
        </p:nvSpPr>
        <p:spPr>
          <a:xfrm>
            <a:off x="4312920" y="1051560"/>
            <a:ext cx="3535680" cy="5212079"/>
          </a:xfrm>
          <a:prstGeom prst="rect">
            <a:avLst/>
          </a:prstGeom>
          <a:solidFill>
            <a:srgbClr val="FA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312920" y="1051560"/>
            <a:ext cx="3535680" cy="91440"/>
          </a:xfrm>
          <a:prstGeom prst="rect">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95800" y="1289304"/>
            <a:ext cx="3169920" cy="640080"/>
          </a:xfrm>
          <a:prstGeom prst="rect">
            <a:avLst/>
          </a:prstGeom>
          <a:noFill/>
        </p:spPr>
        <p:txBody>
          <a:bodyPr wrap="square" anchor="t" lIns="0" rIns="0" tIns="0" bIns="0">
            <a:spAutoFit/>
          </a:bodyPr>
          <a:lstStyle/>
          <a:p>
            <a:pPr algn="l"/>
            <a:r>
              <a:rPr sz="1500" b="1" i="0">
                <a:solidFill>
                  <a:srgbClr val="14141C"/>
                </a:solidFill>
                <a:latin typeface="Geist Mono"/>
              </a:rPr>
              <a:t>Under-diagnosis in women</a:t>
            </a:r>
          </a:p>
        </p:txBody>
      </p:sp>
      <p:sp>
        <p:nvSpPr>
          <p:cNvPr id="14" name="TextBox 13"/>
          <p:cNvSpPr txBox="1"/>
          <p:nvPr/>
        </p:nvSpPr>
        <p:spPr>
          <a:xfrm>
            <a:off x="4495800" y="2011680"/>
            <a:ext cx="3169920" cy="4069079"/>
          </a:xfrm>
          <a:prstGeom prst="rect">
            <a:avLst/>
          </a:prstGeom>
          <a:noFill/>
        </p:spPr>
        <p:txBody>
          <a:bodyPr wrap="square" anchor="t" lIns="0" rIns="0" tIns="0" bIns="0">
            <a:spAutoFit/>
          </a:bodyPr>
          <a:lstStyle/>
          <a:p>
            <a:pPr algn="l"/>
            <a:r>
              <a:rPr sz="1200" b="0" i="0">
                <a:solidFill>
                  <a:srgbClr val="555560"/>
                </a:solidFill>
                <a:latin typeface="Geist"/>
              </a:rPr>
              <a:t>Mehta 2016, AHA scientific statement, Circulation. van Oosterhout 2020, JAHA. Bugiardini and Bairey Merz 2005, JAMA.</a:t>
            </a:r>
          </a:p>
        </p:txBody>
      </p:sp>
      <p:sp>
        <p:nvSpPr>
          <p:cNvPr id="15" name="Rectangle 14"/>
          <p:cNvSpPr/>
          <p:nvPr/>
        </p:nvSpPr>
        <p:spPr>
          <a:xfrm>
            <a:off x="8168640" y="1051560"/>
            <a:ext cx="3535680" cy="5212079"/>
          </a:xfrm>
          <a:prstGeom prst="rect">
            <a:avLst/>
          </a:prstGeom>
          <a:solidFill>
            <a:srgbClr val="FA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168640" y="1051560"/>
            <a:ext cx="3535680" cy="91440"/>
          </a:xfrm>
          <a:prstGeom prst="rect">
            <a:avLst/>
          </a:prstGeom>
          <a:solidFill>
            <a:srgbClr val="115E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51520" y="1289304"/>
            <a:ext cx="3169920" cy="640080"/>
          </a:xfrm>
          <a:prstGeom prst="rect">
            <a:avLst/>
          </a:prstGeom>
          <a:noFill/>
        </p:spPr>
        <p:txBody>
          <a:bodyPr wrap="square" anchor="t" lIns="0" rIns="0" tIns="0" bIns="0">
            <a:spAutoFit/>
          </a:bodyPr>
          <a:lstStyle/>
          <a:p>
            <a:pPr algn="l"/>
            <a:r>
              <a:rPr sz="1500" b="1" i="0">
                <a:solidFill>
                  <a:srgbClr val="14141C"/>
                </a:solidFill>
                <a:latin typeface="Geist Mono"/>
              </a:rPr>
              <a:t>The dataset</a:t>
            </a:r>
          </a:p>
        </p:txBody>
      </p:sp>
      <p:sp>
        <p:nvSpPr>
          <p:cNvPr id="18" name="TextBox 17"/>
          <p:cNvSpPr txBox="1"/>
          <p:nvPr/>
        </p:nvSpPr>
        <p:spPr>
          <a:xfrm>
            <a:off x="8351520" y="2011680"/>
            <a:ext cx="3169920" cy="4069079"/>
          </a:xfrm>
          <a:prstGeom prst="rect">
            <a:avLst/>
          </a:prstGeom>
          <a:noFill/>
        </p:spPr>
        <p:txBody>
          <a:bodyPr wrap="square" anchor="t" lIns="0" rIns="0" tIns="0" bIns="0">
            <a:spAutoFit/>
          </a:bodyPr>
          <a:lstStyle/>
          <a:p>
            <a:pPr algn="l"/>
            <a:r>
              <a:rPr sz="1200" b="0" i="0">
                <a:solidFill>
                  <a:srgbClr val="555560"/>
                </a:solidFill>
                <a:latin typeface="Geist"/>
              </a:rPr>
              <a:t>Detrano 1989, American Journal of Cardiology. UCI Machine Learning Repository, Heart Disease Data Set.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E1A35"/>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E1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731520" cy="6858000"/>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31520" y="0"/>
            <a:ext cx="228600" cy="6858000"/>
          </a:xfrm>
          <a:prstGeom prst="rect">
            <a:avLst/>
          </a:prstGeom>
          <a:solidFill>
            <a:srgbClr val="FF1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88720" y="1417320"/>
            <a:ext cx="10058400" cy="1280160"/>
          </a:xfrm>
          <a:prstGeom prst="rect">
            <a:avLst/>
          </a:prstGeom>
          <a:noFill/>
        </p:spPr>
        <p:txBody>
          <a:bodyPr wrap="square" anchor="t" lIns="0" rIns="0" tIns="0" bIns="0">
            <a:spAutoFit/>
          </a:bodyPr>
          <a:lstStyle/>
          <a:p>
            <a:pPr algn="ctr"/>
            <a:r>
              <a:rPr sz="6000" b="1" i="0">
                <a:solidFill>
                  <a:srgbClr val="FF1493"/>
                </a:solidFill>
                <a:latin typeface="Geist Mono"/>
              </a:rPr>
              <a:t>Thank You</a:t>
            </a:r>
          </a:p>
        </p:txBody>
      </p:sp>
      <p:sp>
        <p:nvSpPr>
          <p:cNvPr id="6" name="TextBox 5"/>
          <p:cNvSpPr txBox="1"/>
          <p:nvPr/>
        </p:nvSpPr>
        <p:spPr>
          <a:xfrm>
            <a:off x="1188720" y="3246120"/>
            <a:ext cx="10058400" cy="640080"/>
          </a:xfrm>
          <a:prstGeom prst="rect">
            <a:avLst/>
          </a:prstGeom>
          <a:noFill/>
        </p:spPr>
        <p:txBody>
          <a:bodyPr wrap="square" anchor="t" lIns="0" rIns="0" tIns="0" bIns="0">
            <a:spAutoFit/>
          </a:bodyPr>
          <a:lstStyle/>
          <a:p>
            <a:pPr algn="ctr"/>
            <a:r>
              <a:rPr sz="3000" b="0" i="0">
                <a:solidFill>
                  <a:srgbClr val="40E0D0"/>
                </a:solidFill>
                <a:latin typeface="Noto Sans CJK TC"/>
              </a:rPr>
              <a:t>魏晉祺</a:t>
            </a:r>
          </a:p>
        </p:txBody>
      </p:sp>
      <p:sp>
        <p:nvSpPr>
          <p:cNvPr id="7" name="TextBox 6"/>
          <p:cNvSpPr txBox="1"/>
          <p:nvPr/>
        </p:nvSpPr>
        <p:spPr>
          <a:xfrm>
            <a:off x="1188720" y="3922776"/>
            <a:ext cx="10058400" cy="457200"/>
          </a:xfrm>
          <a:prstGeom prst="rect">
            <a:avLst/>
          </a:prstGeom>
          <a:noFill/>
        </p:spPr>
        <p:txBody>
          <a:bodyPr wrap="square" anchor="t" lIns="0" rIns="0" tIns="0" bIns="0">
            <a:spAutoFit/>
          </a:bodyPr>
          <a:lstStyle/>
          <a:p>
            <a:pPr algn="ctr"/>
            <a:r>
              <a:rPr sz="2000" b="1" i="0">
                <a:solidFill>
                  <a:srgbClr val="40E0D0"/>
                </a:solidFill>
                <a:latin typeface="Geist Mono"/>
              </a:rPr>
              <a:t>Jinchi Wei</a:t>
            </a:r>
          </a:p>
        </p:txBody>
      </p:sp>
      <p:sp>
        <p:nvSpPr>
          <p:cNvPr id="8" name="TextBox 7"/>
          <p:cNvSpPr txBox="1"/>
          <p:nvPr/>
        </p:nvSpPr>
        <p:spPr>
          <a:xfrm>
            <a:off x="1188720" y="4398264"/>
            <a:ext cx="10058400" cy="365760"/>
          </a:xfrm>
          <a:prstGeom prst="rect">
            <a:avLst/>
          </a:prstGeom>
          <a:noFill/>
        </p:spPr>
        <p:txBody>
          <a:bodyPr wrap="square" anchor="t" lIns="0" rIns="0" tIns="0" bIns="0">
            <a:spAutoFit/>
          </a:bodyPr>
          <a:lstStyle/>
          <a:p>
            <a:pPr algn="ctr"/>
            <a:r>
              <a:rPr sz="1300" b="0" i="0">
                <a:solidFill>
                  <a:srgbClr val="FFFFFF"/>
                </a:solidFill>
                <a:latin typeface="Geist"/>
              </a:rPr>
              <a:t>Outset</a:t>
            </a:r>
          </a:p>
        </p:txBody>
      </p:sp>
      <p:sp>
        <p:nvSpPr>
          <p:cNvPr id="9" name="TextBox 8"/>
          <p:cNvSpPr txBox="1"/>
          <p:nvPr/>
        </p:nvSpPr>
        <p:spPr>
          <a:xfrm>
            <a:off x="1188720" y="4837176"/>
            <a:ext cx="10058400" cy="365760"/>
          </a:xfrm>
          <a:prstGeom prst="rect">
            <a:avLst/>
          </a:prstGeom>
          <a:noFill/>
        </p:spPr>
        <p:txBody>
          <a:bodyPr wrap="square" anchor="t" lIns="0" rIns="0" tIns="0" bIns="0">
            <a:spAutoFit/>
          </a:bodyPr>
          <a:lstStyle/>
          <a:p>
            <a:pPr algn="ctr"/>
            <a:r>
              <a:rPr sz="1600" b="0" i="0">
                <a:solidFill>
                  <a:srgbClr val="F0C840"/>
                </a:solidFill>
                <a:latin typeface="Geist Mono"/>
              </a:rPr>
              <a:t>jinchikwei@gmail.com</a:t>
            </a:r>
          </a:p>
        </p:txBody>
      </p:sp>
      <p:pic>
        <p:nvPicPr>
          <p:cNvPr id="10" name="Picture 9" descr="meng.png"/>
          <p:cNvPicPr>
            <a:picLocks noChangeAspect="1"/>
          </p:cNvPicPr>
          <p:nvPr/>
        </p:nvPicPr>
        <p:blipFill>
          <a:blip r:embed="rId2"/>
          <a:stretch>
            <a:fillRect/>
          </a:stretch>
        </p:blipFill>
        <p:spPr>
          <a:xfrm>
            <a:off x="10086477" y="5486400"/>
            <a:ext cx="690906" cy="914400"/>
          </a:xfrm>
          <a:prstGeom prst="rect">
            <a:avLst/>
          </a:prstGeom>
        </p:spPr>
      </p:pic>
      <p:pic>
        <p:nvPicPr>
          <p:cNvPr id="11" name="Picture 10" descr="xiang.png"/>
          <p:cNvPicPr>
            <a:picLocks noChangeAspect="1"/>
          </p:cNvPicPr>
          <p:nvPr/>
        </p:nvPicPr>
        <p:blipFill>
          <a:blip r:embed="rId3"/>
          <a:stretch>
            <a:fillRect/>
          </a:stretch>
        </p:blipFill>
        <p:spPr>
          <a:xfrm>
            <a:off x="10978551" y="5486400"/>
            <a:ext cx="755944" cy="9144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