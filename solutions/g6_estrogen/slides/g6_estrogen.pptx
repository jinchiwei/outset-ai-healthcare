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Background</a:t>
            </a:r>
          </a:p>
          <a:p>
            <a:r>
              <a:rPr b="0" sz="1100">
                <a:latin typeface="Geist"/>
              </a:rPr>
              <a:t>This opens the Background section. Everything ahead sets up the central mystery: how could years of just watching women and a single coin-flip trial reach opposite conclusions about the very same hormones? For now keep the audience curious, not yet informed. Transition: start with the twenty-year detective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A twenty-year detective story</a:t>
            </a:r>
          </a:p>
          <a:p>
            <a:r>
              <a:rPr b="0" sz="1100">
                <a:latin typeface="Geist"/>
              </a:rPr>
              <a:t>Open like a mystery, because it was one. For twenty years, observational studies -- just watching women, not assigning anything -- kept finding that estrogen users had sharper memory and less Alzheimer's [1, 2]. Doctors nearly started prescribing hormones for the brain. Then in 2003 the WHIMS randomized trial flipped a coin to decide who got hormones, and the benefit didn't just vanish, it reversed: dementia risk actually rose [3, 4]. Same drug, opposite answer. Set up the whole talk as: how can two honest studies disagree this badly? Transition: here it is in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When they flipped a coin, the benefit vanished</a:t>
            </a:r>
          </a:p>
          <a:p>
            <a:r>
              <a:rPr b="0" sz="1100">
                <a:latin typeface="Geist"/>
              </a:rPr>
              <a:t>This is our most important slide -- read it slowly. Left bar, 'just watching': hormone users looked protected, risk about two-thirds of non-users. Right bar, the coin-flip trial: risk more than doubled. The amber arrow is the sign flip. The dashed line is 'no effect.' The point for a 15-year-old: the STUDY DESIGN, not the drug, decided the answer. Watching can lie; a coin flip cannot. Transition: so why does watching lie here?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Healthy-user bias: a hidden third factor</a:t>
            </a:r>
          </a:p>
          <a:p>
            <a:r>
              <a:rPr b="0" sz="1100">
                <a:latin typeface="Geist"/>
              </a:rPr>
              <a:t>Now name the villain: confounding, or 'healthy-user bias.' The women who chose hormone therapy were, on average, richer, more active, and saw doctors more [5]. That hidden head start -- the pink box at the top -- pushes down on BOTH boxes: it makes them more likely to take the pill AND more likely to have good memory. So the dashed bottom arrow, 'takes pill -&gt; better memory,' only LOOKS like cause. It's a mirage created by the third factor [6]. This one diagram is the whole statistical idea of the talk. Transition: you already know this trap from summer.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Ice cream and shark attacks</a:t>
            </a:r>
          </a:p>
          <a:p>
            <a:r>
              <a:rPr b="0" sz="1100">
                <a:latin typeface="Geist"/>
              </a:rPr>
              <a:t>Make it click with the classic. Ice-cream sales and shark attacks rise together every summer -- but ice cream doesn't summon sharks; hot weather drives both. Map it: estrogen use is the ice cream, good memory is the shark attacks, and 'being healthier to start with' is the summer heat. The takeaway line is the transferable habit: when two things move together, hunt for the hidden third factor before you believe one caused the other. Transition: now to our own toy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Methods</a:t>
            </a:r>
          </a:p>
          <a:p>
            <a:r>
              <a:rPr b="0" sz="1100">
                <a:latin typeface="Geist"/>
              </a:rPr>
              <a:t>This opens the Methods section. We move from the big idea -- confounding -- to the concrete: the actual survey data we used and the one honest question a survey can answer. Plain-language framing: here is exactly what we looked at, and what we can fairly ask of it. Transition: meet the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Our data: NHANES women 60 and older</a:t>
            </a:r>
          </a:p>
          <a:p>
            <a:r>
              <a:rPr b="0" sz="1100">
                <a:latin typeface="Geist"/>
              </a:rPr>
              <a:t>Quick tour of the dataset so the results land. 739 women, all 60+, from NHANES -- a real US government health survey, not something we made up. For each woman we know: did she ever use estrogen; her age, education, and income (the possible confounders); and a memory/attention test score, where higher is sharper. Our model tries to predict who lands in the weaker-scoring half. Keep it light -- they don't need every column, just the shape. Transition: what can we actually ask of survey data?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one question we can actually ask</a:t>
            </a:r>
          </a:p>
          <a:p>
            <a:r>
              <a:rPr b="0" sz="1100">
                <a:latin typeface="Geist"/>
              </a:rPr>
              <a:t>Set expectations honestly. We can't randomly assign estrogen in a survey -- so we can't prove cause. But we CAN ask the narrower question in the box: does the estrogen effect survive once we account for age, education, and income? We'll measure estrogen's effect two ways -- crude (alone) and adjusted (after the confounders). If it shrinks, the crude headline was mostly confounding. That crude-vs-adjusted move is the entire method. Transition: start with the naive, tempting look.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Results</a:t>
            </a:r>
          </a:p>
          <a:p>
            <a:r>
              <a:rPr b="0" sz="1100">
                <a:latin typeface="Geist"/>
              </a:rPr>
              <a:t>This opens the Results section, the payoff. Three slides ahead: the tempting raw headline, the honest adjusted result that shrinks it, and a fairness check on the model. Signal that this is where the numbers finally land. Transition: start with the headline anyone would compute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tempting headline, exactly as anyone would first compute it. Average the memory score for users versus non-users: 51.8 versus 43.7, an 8-point head start for the estrogen group. If you stopped here, you'd write 'estrogen users think better' -- the same clue the 1990s studies chased. The whole point of the next slide is that we did NOT stop here. Transition: now adjust for who these women were.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Two-thirds of the effect was confounding</a:t>
            </a:r>
          </a:p>
          <a:p>
            <a:r>
              <a:rPr b="0" sz="1100">
                <a:latin typeface="Geist"/>
              </a:rPr>
              <a:t>The punchline slide. Same data, honest test. Crude effect: about -0.33 (negative = looks protective). Adjusted for age, education, and income: it collapses to -0.11. That's a 67% shrink -- two-thirds of the 'benefit' was never the estrogen, it was that users were healthier and better-off to begin with. This is confounding caught in the act, a miniature of exactly why WHIMS overturned the observational headlines. If they remember one number from this talk, make it 67%. Transition: one more check any people-model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Does the model work for everyone?</a:t>
            </a:r>
          </a:p>
          <a:p>
            <a:r>
              <a:rPr b="0" sz="1100">
                <a:latin typeface="Geist"/>
              </a:rPr>
              <a:t>A fairness audit, the habit from earlier this week. We trained one model to predict low cognition, then split its accuracy by group: 0.73 for estrogen-users, 0.65 for non-users. A model can look fine overall yet work unequally across groups -- and a clinic that trusts it equally could quietly do more harm to the group it's worse at. The mature move isn't to hide the gap; it's to name it. Transition: and there's something no score in this dataset can see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What the numbers can’t capture</a:t>
            </a:r>
          </a:p>
          <a:p>
            <a:r>
              <a:rPr b="0" sz="1100">
                <a:latin typeface="Geist"/>
              </a:rPr>
              <a:t>This opens the final section, the honest limits. We step outside the numbers: a test score can say 'fine' while a woman lives with real daily brain fog, and a survey can only hint at cause, never prove it. Framing: good science names what it cannot do. Transition: the tests say fine; she says not 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tests say “fine”; she says “not fine”</a:t>
            </a:r>
          </a:p>
          <a:p>
            <a:r>
              <a:rPr b="0" sz="1100">
                <a:latin typeface="Geist"/>
              </a:rPr>
              <a:t>Step outside the numbers. Our data is a test SCORE. But many women in menopause report real, daily 'brain fog' even when their objective test looks normal [7] -- the slope lines cross exactly there. And women's symptoms get waved off as stress far too often [8]. The grown-up data-scientist stance holds two true things at once: the confounding is real (the pill may not be the hero), AND the patient's lived report is real evidence, not noise. Transition: so what can this project honestly claim?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A survey can hint; only an experiment proves</a:t>
            </a:r>
          </a:p>
          <a:p>
            <a:r>
              <a:rPr b="0" sz="1100">
                <a:latin typeface="Geist"/>
              </a:rPr>
              <a:t>Be scrupulously honest about scope -- this is what earns trust. CAN DO: show a tempting headline is mostly a mirage and that adjusting shrinks it ~67%. CANNOT DO: prove cause -- we can only correct for confounders we measured and thought of; something unrecorded could still be doing the work. SETTLES IT: a randomized trial, where a coin flip (not the patient) assigns the drug, so the groups start identical. That's why WHIMS could do what twenty years of watching couldn't. Transition: the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References</a:t>
            </a:r>
          </a:p>
          <a:p>
            <a:r>
              <a:rPr b="0" sz="1100">
                <a:latin typeface="Geist"/>
              </a:rPr>
              <a:t>The paper trail, in order of the story. Top-left: the two observational studies that raised the exciting clue [1, 2]. Bottom of the left column into the trial: the WHIMS randomized results that overturned it [3, 4]. Right column: the healthy-user-bias explanation [5, 6] and the brain-fog / symptom-dismissal pieces [7, 8]. All were checked against PubMed or the journal page. Transition: one habit to take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one habit to carry out the door</a:t>
            </a:r>
          </a:p>
          <a:p>
            <a:r>
              <a:rPr b="0" sz="1100">
                <a:latin typeface="Geist"/>
              </a:rPr>
              <a:t>Close on the transferable lesson, not the estrogen specifics. Suspect the chooser, not the treatment: whenever a group that CHOSE something looks healthier, the head start usually belongs to the person, and only a coin-flip experiment can turn a correlation into a cause. And -- because this is medicine, about real women -- take the patient's account seriously even when the test says 'fine.' That pair, statistical humility plus listening, is the whole point of the project.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0"/>
            <a:ext cx="22860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280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Outset · AI in Healthcare · Day 3 · Group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ist Mono"/>
              </a:rPr>
              <a:t>Does estrogen keep the mind sharp?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7033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E5E5EA"/>
                </a:solidFill>
                <a:latin typeface="Geist"/>
              </a:rPr>
              <a:t>A twenty-year lesson in confounding, and why a survey can hint but only an experiment can prove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480559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937759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5440679"/>
            <a:ext cx="3657600" cy="1828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5778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0C840"/>
                </a:solidFill>
                <a:latin typeface="Geist Mono"/>
              </a:rPr>
              <a:t>2026-07-08</a:t>
            </a:r>
          </a:p>
        </p:txBody>
      </p:sp>
      <p:pic>
        <p:nvPicPr>
          <p:cNvPr id="12" name="Picture 11" descr="ucsf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0379" y="5248656"/>
            <a:ext cx="1163329" cy="1152144"/>
          </a:xfrm>
          <a:prstGeom prst="rect">
            <a:avLst/>
          </a:prstGeom>
        </p:spPr>
      </p:pic>
      <p:pic>
        <p:nvPicPr>
          <p:cNvPr id="13" name="Picture 12" descr="cal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2308" y="5413248"/>
            <a:ext cx="1032187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BACKGROUND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Does estrogen keep the mind sharp?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A twenty-year detective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5394960" cy="233172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965960"/>
            <a:ext cx="5394960" cy="82296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185416"/>
            <a:ext cx="4882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C7A6A"/>
                </a:solidFill>
                <a:latin typeface="Geist Mono"/>
              </a:rPr>
              <a:t>THE EXCITING CLUE  (1996-2002)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734056"/>
            <a:ext cx="4882896" cy="1435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Studies that simply WATCHED women found that estrogen users developed Alzheimer's less often, and later, than women who never took it [1, 2]. For years this looked like solid proof that the pills protected the aging brain.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965960"/>
            <a:ext cx="5394960" cy="233172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965960"/>
            <a:ext cx="5394960" cy="82296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2185416"/>
            <a:ext cx="4882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1493"/>
                </a:solidFill>
                <a:latin typeface="Geist Mono"/>
              </a:rPr>
              <a:t>THE PLOT TWIST  (2003)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2734056"/>
            <a:ext cx="4882896" cy="1435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Then the WHIMS trial let a COIN FLIP -- not the woman herself -- decide who got hormones. The memory benefit vanished, and dementia risk actually ROSE in women aged 65 and older [3, 4].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663440"/>
            <a:ext cx="11247120" cy="6858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663440"/>
            <a:ext cx="106984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4141C"/>
                </a:solidFill>
                <a:latin typeface="Geist Mono"/>
              </a:rPr>
              <a:t>Same drug, opposite answer. The rest of this talk is one question:  HOW?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When they flipped a coin, the benefit vanished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pic>
        <p:nvPicPr>
          <p:cNvPr id="7" name="Picture 6" descr="intro_effect_fl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050" y="1051560"/>
            <a:ext cx="6573418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0" y="5715000"/>
            <a:ext cx="9418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555560"/>
                </a:solidFill>
                <a:latin typeface="Geist"/>
              </a:rPr>
              <a:t>Just watching (turquoise) said hormones PROTECT; the coin-flip trial (pink) said they HARM -- the study design, not the drug, decided the answer.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Healthy-user bias: a hidden third factor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pic>
        <p:nvPicPr>
          <p:cNvPr id="7" name="Picture 6" descr="intro_confounding_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10402"/>
            <a:ext cx="6748272" cy="409439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25512" y="1097280"/>
            <a:ext cx="4178808" cy="507491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25512" y="1097280"/>
            <a:ext cx="4178808" cy="9144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54112" y="1380744"/>
            <a:ext cx="372160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1493"/>
                </a:solidFill>
                <a:latin typeface="Geist Mono"/>
              </a:rPr>
              <a:t>Who chose the pill?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54112" y="1709928"/>
            <a:ext cx="37216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Users were richer, more active, and saw doctors more often to begin with [5].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54112" y="2798064"/>
            <a:ext cx="372160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1493"/>
                </a:solidFill>
                <a:latin typeface="Geist Mono"/>
              </a:rPr>
              <a:t>The hidden factor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54112" y="3127248"/>
            <a:ext cx="37216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That same head start drives BOTH the drug use AND the good memory.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4112" y="4215384"/>
            <a:ext cx="372160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1493"/>
                </a:solidFill>
                <a:latin typeface="Geist Mono"/>
              </a:rPr>
              <a:t>So the bottom link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54112" y="4544568"/>
            <a:ext cx="37216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only LOOKS like cause. It is a mirage -- confounding, a.k.a. healthy-user bias [6].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Ice cream and shark attacks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4141C"/>
                </a:solidFill>
                <a:latin typeface="Geist"/>
              </a:rPr>
              <a:t>On hot days, ice-cream sales and shark attacks BOTH rise together. Does ice cream summon sharks?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5394960" cy="2286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011680"/>
            <a:ext cx="5394960" cy="82296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231136"/>
            <a:ext cx="4882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A2BE2"/>
                </a:solidFill>
                <a:latin typeface="Geist Mono"/>
              </a:rPr>
              <a:t>THE ANALOGY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779776"/>
            <a:ext cx="4882896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No -- the hot SUMMER WEATHER drives both at once: heat sells more ice cream AND sends more people into the ocean to swim. Neither one causes the other.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011680"/>
            <a:ext cx="5394960" cy="2286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2011680"/>
            <a:ext cx="5394960" cy="82296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2231136"/>
            <a:ext cx="4882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C7A6A"/>
                </a:solidFill>
                <a:latin typeface="Geist Mono"/>
              </a:rPr>
              <a:t>OUR VERSION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779776"/>
            <a:ext cx="4882896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Estrogen use and good memory also rise together. But being HEALTHIER and better-off to start with can drive both -- so the pill itself may summon nothing.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681728"/>
            <a:ext cx="11247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1493"/>
                </a:solidFill>
                <a:latin typeface="Geist Mono"/>
              </a:rPr>
              <a:t>When two things move together, hunt for the hidden third factor before you believe one caused the other.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1493"/>
                </a:solidFill>
                <a:latin typeface="Geist Mono"/>
              </a:rP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METHODS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Does estrogen keep the mind sharp?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Our data: NHANES women 60 and older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79"/>
            <a:ext cx="2592324" cy="237744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468879"/>
            <a:ext cx="2592324" cy="82296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670048"/>
            <a:ext cx="21899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C7A6A"/>
                </a:solidFill>
                <a:latin typeface="Geist Mono"/>
              </a:rPr>
              <a:t>739 WOMEN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200400"/>
            <a:ext cx="2189988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all aged 60 or older, drawn from NHANES 2013-14 -- a real US government health survey, not data we made 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42132" y="2468879"/>
            <a:ext cx="2592324" cy="237744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2132" y="2468879"/>
            <a:ext cx="2592324" cy="82296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3300" y="2670048"/>
            <a:ext cx="21899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1493"/>
                </a:solidFill>
                <a:latin typeface="Geist Mono"/>
              </a:rPr>
              <a:t>USED ESTROGEN?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3300" y="3200400"/>
            <a:ext cx="2189988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whether she ever took female hormones -- a simple yes or no, self-reported by each woman.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7064" y="2468879"/>
            <a:ext cx="2592324" cy="237744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7064" y="2468879"/>
            <a:ext cx="2592324" cy="82296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1" y="2670048"/>
            <a:ext cx="21899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6D00"/>
                </a:solidFill>
                <a:latin typeface="Geist Mono"/>
              </a:rPr>
              <a:t>HER BACKGROUND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1" y="3200400"/>
            <a:ext cx="2189988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her age, education, and family income -- the confounders we have to account for.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11996" y="2468879"/>
            <a:ext cx="2592324" cy="237744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11996" y="2468879"/>
            <a:ext cx="2592324" cy="82296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13164" y="2670048"/>
            <a:ext cx="21899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2BE2"/>
                </a:solidFill>
                <a:latin typeface="Geist Mono"/>
              </a:rPr>
              <a:t>MEMORY SCORE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3164" y="3200400"/>
            <a:ext cx="2189988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a digit-symbol attention test; higher = sharper. Our model tries to flag the weaker-scoring half.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one question we can actually 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4141C"/>
                </a:solidFill>
                <a:latin typeface="Geist"/>
              </a:rPr>
              <a:t>We cannot randomly ASSIGN estrogen in a survey -- so we can never prove cause here. But we can still ask a narrower, honest question: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11247120" cy="100584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128016" cy="100584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737360"/>
            <a:ext cx="10561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4141C"/>
                </a:solidFill>
                <a:latin typeface="Geist Mono"/>
              </a:rPr>
              <a:t>Does the estrogen effect SURVIVE once we account for age, education, and income?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71800"/>
            <a:ext cx="5394960" cy="16002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971800"/>
            <a:ext cx="5394960" cy="82296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154680"/>
            <a:ext cx="4882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1493"/>
                </a:solidFill>
                <a:latin typeface="Geist Mono"/>
              </a:rPr>
              <a:t>CRUDE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648456"/>
            <a:ext cx="488289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Estrogen's effect measured all by itself -- ignoring everything else about the woman.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971800"/>
            <a:ext cx="5394960" cy="16002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2971800"/>
            <a:ext cx="5394960" cy="82296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3154680"/>
            <a:ext cx="4882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C7A6A"/>
                </a:solidFill>
                <a:latin typeface="Geist Mono"/>
              </a:rPr>
              <a:t>ADJUSTED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3648456"/>
            <a:ext cx="488289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Estrogen's effect AFTER we account for her age, education, and income.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773168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555560"/>
                </a:solidFill>
                <a:latin typeface="Geist"/>
              </a:rPr>
              <a:t>If the effect SHRINKS from crude to adjusted, the exciting headline was mostly confounding -- not real cause.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C840"/>
                </a:solidFill>
                <a:latin typeface="Geist Mono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Does estrogen keep the mind sharp?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tempting headline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pic>
        <p:nvPicPr>
          <p:cNvPr id="7" name="Picture 6" descr="raw_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80859"/>
            <a:ext cx="6298387" cy="35534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21347" y="1325880"/>
            <a:ext cx="45829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40E0D0"/>
                </a:solidFill>
                <a:latin typeface="Geist Mono"/>
              </a:rPr>
              <a:t>+8.1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21347" y="2468880"/>
            <a:ext cx="45829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1C"/>
                </a:solidFill>
                <a:latin typeface="Geist Mono"/>
              </a:rPr>
              <a:t>points -- the raw gap, users over non-users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1347" y="3063240"/>
            <a:ext cx="458297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51.8 versus 43.7. Taken at face value, the exciting headline writes itself: 'estrogen users think better.' But we never checked whether the two groups were the same kind of people to begin with.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Two-thirds of the effect was confounding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pic>
        <p:nvPicPr>
          <p:cNvPr id="7" name="Picture 6" descr="confou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087"/>
            <a:ext cx="6298387" cy="42670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21347" y="1325880"/>
            <a:ext cx="45829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600" b="1" i="0">
                <a:solidFill>
                  <a:srgbClr val="FF1493"/>
                </a:solidFill>
                <a:latin typeface="Geist Mono"/>
              </a:rPr>
              <a:t>67%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21347" y="2560320"/>
            <a:ext cx="45829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1C"/>
                </a:solidFill>
                <a:latin typeface="Geist Mono"/>
              </a:rPr>
              <a:t>of the effect was confounding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1347" y="3154680"/>
            <a:ext cx="458297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The crude effect (-0.33) shrank to just -0.11 once we adjusted for age, education, and income. That missing two-thirds was never the estrogen -- it was that users were healthier and better-off to start with.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Does the model work for everyone?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pic>
        <p:nvPicPr>
          <p:cNvPr id="7" name="Picture 6" descr="fairnes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67075"/>
            <a:ext cx="6298387" cy="4781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21347" y="1234440"/>
            <a:ext cx="45829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40E0D0"/>
                </a:solidFill>
                <a:latin typeface="Geist Mono"/>
              </a:rPr>
              <a:t>0.73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21347" y="1965960"/>
            <a:ext cx="45829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1C"/>
                </a:solidFill>
                <a:latin typeface="Geist Mono"/>
              </a:rPr>
              <a:t>test accuracy for estrogen-USERS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1347" y="2606040"/>
            <a:ext cx="45829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555560"/>
                </a:solidFill>
                <a:latin typeface="Geist Mono"/>
              </a:rPr>
              <a:t>0.65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1347" y="3337560"/>
            <a:ext cx="45829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1C"/>
                </a:solidFill>
                <a:latin typeface="Geist Mono"/>
              </a:rPr>
              <a:t>test accuracy for NON-users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1347" y="4069080"/>
            <a:ext cx="458297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A tool that is reliably right for one group and shakier for another can quietly do harm if a clinic trusts it equally. Naming the gap out loud is the honest move.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2BE2"/>
                </a:solidFill>
                <a:latin typeface="Geist Mono"/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WHAT THE NUMBERS CAN’T CAPTURE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Does estrogen keep the mind sharp?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tests say “fine”; she says “not fine”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pic>
        <p:nvPicPr>
          <p:cNvPr id="7" name="Picture 6" descr="intro_objective_vs_subj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57514"/>
            <a:ext cx="6523329" cy="44001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46289" y="1097280"/>
            <a:ext cx="4358030" cy="507491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46289" y="1097280"/>
            <a:ext cx="4358030" cy="9144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74889" y="1380744"/>
            <a:ext cx="39008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A2BE2"/>
                </a:solidFill>
                <a:latin typeface="Geist Mono"/>
              </a:rPr>
              <a:t>The mismatch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4889" y="1709928"/>
            <a:ext cx="390083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Many women report real, daily brain fog even when the objective test looks perfectly normal [7].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74889" y="2798064"/>
            <a:ext cx="39008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A2BE2"/>
                </a:solidFill>
                <a:latin typeface="Geist Mono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74889" y="3127248"/>
            <a:ext cx="390083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Women's symptoms are too often waved off as stress or emotion instead of investigated [8].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4889" y="4215384"/>
            <a:ext cx="39008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A2BE2"/>
                </a:solidFill>
                <a:latin typeface="Geist Mono"/>
              </a:rPr>
              <a:t>Hold both ideas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4889" y="4544568"/>
            <a:ext cx="390083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The confounding is real AND the patient's account is real evidence -- not noise to dismiss.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A survey can hint; only an experiment proves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23159"/>
            <a:ext cx="3505200" cy="246888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423159"/>
            <a:ext cx="3505200" cy="82296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2642615"/>
            <a:ext cx="3029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C7A6A"/>
                </a:solidFill>
                <a:latin typeface="Geist Mono"/>
              </a:rPr>
              <a:t>WHAT IT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3191255"/>
            <a:ext cx="3029712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Show that a tempting headline is mostly a mirage, and that adjusting for background shrinks the apparent estrogen effect by about 67%.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8160" y="2423159"/>
            <a:ext cx="3505200" cy="246888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8160" y="2423159"/>
            <a:ext cx="3505200" cy="82296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642615"/>
            <a:ext cx="3029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1493"/>
                </a:solidFill>
                <a:latin typeface="Geist Mono"/>
              </a:rPr>
              <a:t>WHAT IT CANNOT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191255"/>
            <a:ext cx="3029712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Prove cause. We can only correct for the confounders we actually measured and thought of -- something unrecorded could still be doing the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9120" y="2423159"/>
            <a:ext cx="3505200" cy="246888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99120" y="2423159"/>
            <a:ext cx="3505200" cy="82296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6864" y="2642615"/>
            <a:ext cx="3029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A6D00"/>
                </a:solidFill>
                <a:latin typeface="Geist Mono"/>
              </a:rPr>
              <a:t>WHAT SETTLES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6864" y="3191255"/>
            <a:ext cx="3029712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A randomized trial: a coin flip, not the patient, assigns the drug, so the two groups start out identical. That is why WHIMS could overturn 20 years of headlines.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5440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[1] Tang et al. 1996, Lancet -- observational; estrogen users got Alzheimer's less/later.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5440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[2] Zandi et al. 2002, JAMA (Cache County) -- observational; long-term users lower risk.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39"/>
            <a:ext cx="5440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[3] Shumaker et al. 2003, JAMA -- WHIMS RCT; hormones DOUBLED dementia risk in 65+.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43400"/>
            <a:ext cx="5440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[4] Rapp et al. 2003, JAMA -- WHIMS RCT; no cognitive benefit, scores trended worse.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188720"/>
            <a:ext cx="5440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[5] Wharton et al. 2009, Maturitas -- healthy-user bias; users start out healthier.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240280"/>
            <a:ext cx="5440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[6] Vandenbroucke 2009, Lancet -- why observational studies and RCTs disagreed.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291839"/>
            <a:ext cx="5440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[7] Maki 2024, Harvard Health -- menopause 'brain fog' vs. normal test scores.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343400"/>
            <a:ext cx="5440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[8] Chen &amp; Shafir 2025, Harvard Health -- the dismissal of women's symptoms.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one habit to carry out the door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146304" cy="219456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14141C"/>
                </a:solidFill>
                <a:latin typeface="Geist Mono"/>
              </a:rPr>
              <a:t>Suspect the chooser, not the treatment.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9184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4141C"/>
                </a:solidFill>
                <a:latin typeface="Geist"/>
              </a:rPr>
              <a:t>When a group that CHOSE a treatment looks healthier, the head start usually belongs to the person, not the pill -- and only a coin-flip experiment can promote a correlation to a cause.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1493"/>
                </a:solidFill>
                <a:latin typeface="Geist Mono"/>
              </a:rPr>
              <a:t>And take the patient's account seriously -- even when the test says 'fine.'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0"/>
            <a:ext cx="22860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4173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FF1493"/>
                </a:solidFill>
                <a:latin typeface="Geist Mono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2461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0" i="0">
                <a:solidFill>
                  <a:srgbClr val="40E0D0"/>
                </a:solidFill>
                <a:latin typeface="Noto Sans CJK TC"/>
              </a:rPr>
              <a:t>魏晉祺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9227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39826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Geist"/>
              </a:rPr>
              <a:t>Outset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8371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F0C840"/>
                </a:solidFill>
                <a:latin typeface="Geist Mono"/>
              </a:rPr>
              <a:t>jinchikwei@gmail.com</a:t>
            </a:r>
          </a:p>
        </p:txBody>
      </p:sp>
      <p:pic>
        <p:nvPicPr>
          <p:cNvPr id="10" name="Picture 9" descr="m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6477" y="5486400"/>
            <a:ext cx="690906" cy="914400"/>
          </a:xfrm>
          <a:prstGeom prst="rect">
            <a:avLst/>
          </a:prstGeom>
        </p:spPr>
      </p:pic>
      <p:pic>
        <p:nvPicPr>
          <p:cNvPr id="11" name="Picture 10" descr="xi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8551" y="5486400"/>
            <a:ext cx="755944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