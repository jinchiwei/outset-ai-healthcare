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Open with the clinical scene before any modeling. Three ideas to plant: a doctor combines many checkup clues into one risk number; that risk score has been done by hand since 1998 and is sex-specific; and heart disease is under-diagnosed in women. Transition: what does that one risk number actually combine?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One risk score from many clues</a:t>
            </a:r>
          </a:p>
          <a:p>
            <a:r>
              <a:rPr b="0" sz="1100">
                <a:latin typeface="Geist"/>
              </a:rPr>
              <a:t>Open concrete and physical. A doctor measures cholesterol, blood pressure, age, chest-pain type -- and eleven more -- and combines them into ONE risk read-out, the gauge on the right. No single number decides. Do not mention machine learning yet. Transition: people have been doing this exact math by hand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Doctors already do this math</a:t>
            </a:r>
          </a:p>
          <a:p>
            <a:r>
              <a:rPr b="0" sz="1100">
                <a:latin typeface="Geist"/>
              </a:rPr>
              <a:t>The landmark that makes this project credible. The Framingham Risk Score (Wilson 1998) turns combined risk factors into a 10-year risk of heart disease -- and the two curves show it is sex-specific: men (turquoise) sit above women (pink) at the same risk-factor burden. This is a redraw of their idea, attributed. Our model is a small, honest version. Transition: why combine so many factors at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No single cause: risk is a stack</a:t>
            </a:r>
          </a:p>
          <a:p>
            <a:r>
              <a:rPr b="0" sz="1100">
                <a:latin typeface="Geist"/>
              </a:rPr>
              <a:t>Why a checkup measures many things. The INTERHEART study (Yusuf 2004) found nine modifiable factors -- led by abnormal cholesterol and smoking -- explain over 90% of first heart attacks. No single clue is the whole story. Note cholesterol is near the top of the risk stack AND is a column in our data -- hold that thought, because it gets a surprising twist in the results. Transition: but the same heart attack does not look the same in everyone.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textbook heart attack is the male one</a:t>
            </a:r>
          </a:p>
          <a:p>
            <a:r>
              <a:rPr b="0" sz="1100">
                <a:latin typeface="Geist"/>
              </a:rPr>
              <a:t>The fairness problem, stated plainly. Women more often present with back pain, nausea, or shortness of breath rather than the classic chest pain (AHA statement, Mehta 2016; van Oosterhout 2020). The textbook heart-attack picture is the male one, so women's attacks get missed and under-treated. This is the thread we deliberately follow all the way to the fairness audit. Transition: to build our own tool, we need the right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Now the raw material. Why the UCI Cleveland set is right: real clinical records, free and open to learn on, and it records sex so we can audit fairness. Then look at it -- the 2:1 male skew that comes back to bite us. Transition: 303 patients, 13 features, and one uncomfortable imbalance.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the Cleveland dataset</a:t>
            </a:r>
          </a:p>
          <a:p>
            <a:r>
              <a:rPr b="0" sz="1100">
                <a:latin typeface="Geist"/>
              </a:rPr>
              <a:t>Justify the dataset in three facts. 303 real clinical records with verified answers; 13 ordinary checkup features; and free + open, so any student can fetch it in seconds with no login. The quiet reason it beats a bare pile of numbers: it records sex, which is what later lets us audit fairness. Transition: and the first thing we do with any dataset is look at who is in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Who is in the data?</a:t>
            </a:r>
          </a:p>
          <a:p>
            <a:r>
              <a:rPr b="0" sz="1100">
                <a:latin typeface="Geist"/>
              </a:rPr>
              <a:t>Look before you model. The waffle shows the Cleveland cohort is about two men for every woman (201 vs 96). A model learns from examples, so with fewer women it gets less practice on them. Name the honest catch now: a model only learns from who is in its data, and this skew is exactly why the fairness audit later will not be clean. Transition: with the data understood, which model should we 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How we turn 13 numbers into a risk score. We do not guess the model -- we run a bake-off, then write down the exact recipe. Transition: four models walk in; do any of them actually win?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Four models, one bake-off</a:t>
            </a:r>
          </a:p>
          <a:p>
            <a:r>
              <a:rPr b="0" sz="1100">
                <a:latin typeface="Geist"/>
              </a:rPr>
              <a:t>The which-tool decision, made honestly. We trained Logistic Regression, Random Forest, CatBoost, and a TabPFN foundation model the same way and graded each on held-out patients. They all land near 0.80 -- a dead heat, well above the 0.54 coin-flip line. The lesson: on clean tabular data the model barely matters; the data sets the ceiling. So we stop model-shopping. Transition: here is the exact recipe so anyone could rebuild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Model and data processing</a:t>
            </a:r>
          </a:p>
          <a:p>
            <a:r>
              <a:rPr b="0" sz="1100">
                <a:latin typeface="Geist"/>
              </a:rPr>
              <a:t>The reproducibility slide -- read it as a recipe, not trivia. One clean stratified 75/25 split with a fixed seed; all 13 features as plain numbers; CatBoost for the headline probability we grade by AUC, and logistic regression for the clean feature comparisons; and every reported number is on the held-out test set, so there is no leakage. Any one of these done wrong quietly breaks the result. Transition: so how well does it actually score?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Results</a:t>
            </a:r>
          </a:p>
          <a:p>
            <a:r>
              <a:rPr b="0" sz="1100">
                <a:latin typeface="Geist"/>
              </a:rPr>
              <a:t>The payoff, each number named by how we measured it. Graded by AUC the tool hits 0.90; SHAP shows which clues drive it; cholesterol alone is a coin flip; and the fairness audit by sex is the whole point. Transition: first, how do you even grade a risk tool?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 working risk tool</a:t>
            </a:r>
          </a:p>
          <a:p>
            <a:r>
              <a:rPr b="0" sz="1100">
                <a:latin typeface="Geist"/>
              </a:rPr>
              <a:t>Name the metric before the number. A risk tool outputs a score, not a yes/no, so we grade it with the ROC curve -- every cut-off, plotting disease caught against false alarms -- and AUC, the area underneath, where 0.5 is a coin flip and 1.0 is perfect. Our AUC is 0.90 and the curve hugs the top-left. Point out the gap: accuracy was only 0.81, but AUC rewards the model for ranking the sickest patients first. Transition: and we can see WHICH clues it ranked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Which clues drive the call</a:t>
            </a:r>
          </a:p>
          <a:p>
            <a:r>
              <a:rPr b="0" sz="1100">
                <a:latin typeface="Geist"/>
              </a:rPr>
              <a:t>Feature importance for a table is SHAP: how much each measurement moves the prediction, averaged. The heavy hitters are ca (vessels on imaging), thal (a stress-test result), and cp (chest-pain type) -- the same cues a cardiologist leans on, which is reassuring. The twist is at the bottom of the chart: cholesterol ranks LOW. That is surprising enough to deserve its own test. Transition: so is cholesterol actually a good predictor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Cholesterol alone is a weak clue</a:t>
            </a:r>
          </a:p>
          <a:p>
            <a:r>
              <a:rPr b="0" sz="1100">
                <a:latin typeface="Geist"/>
              </a:rPr>
              <a:t>The fair test SHAP set up. Give the model only cholesterol: it scores 0.52, basically a coin flip. Remove cholesterol and keep the other twelve: still 0.80. So in this data cholesterol is a weak one-shot diagnostic clue, even though INTERHEART is right that it is a major CAUSAL factor over decades. That is the causing-versus-detecting distinction -- and it is why doctors combine many measurements instead of trusting one number. Transition: last and most important -- does the tool work equally for women and men?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Does it work for women and men?</a:t>
            </a:r>
          </a:p>
          <a:p>
            <a:r>
              <a:rPr b="0" sz="1100">
                <a:latin typeface="Geist"/>
              </a:rPr>
              <a:t>The point of the whole project. We trained once, then graded the model separately by sex: 0.88 for women, 0.78 for men -- a 0.09 gap. The twist is that it is MORE accurate for women, mostly because so few women here had disease that predict-healthy is usually right. That is not good news: an accuracy gap in either direction means behavior depends on sex, and accurate-because-it-rarely-says-sick is the exact failure behind real under-diagnosis. You only saw it because you looked. Transition: so where does that leave us honestly?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picture</a:t>
            </a:r>
          </a:p>
          <a:p>
            <a:r>
              <a:rPr b="0" sz="1100">
                <a:latin typeface="Geist"/>
              </a:rPr>
              <a:t>Good science states its own limits out loud. What the tool genuinely does, where it is skewed, the papers behind it, and the one habit to remember. This is the section the rubric rewards most.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it can and cannot do</a:t>
            </a:r>
          </a:p>
          <a:p>
            <a:r>
              <a:rPr b="0" sz="1100">
                <a:latin typeface="Geist"/>
              </a:rPr>
              <a:t>Model the honesty the rubric rewards. Green: this genuinely works -- AUC 0.90, reading the cues a cardiologist uses. Pink: it is skewed -- the sex gap is real and the data is 2:1 male, so it may serve women worse. Purple: a real tool would add today's diverse patients, a sex-specific design, multi-hospital validation, and a clinician in the loop. State it plainly: this teaches judgment, it does not care for a patient. Transition: the papers behind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Left column is the foundations and the data: the Cleveland dataset we used [1], the Framingham risk score we echo [2], INTERHEART on the risk stack [3], and the UCI repository [7]. Right column is the fairness literature that set our theme: the AHA statement on women's heart attacks [4], the symptom-difference meta-analysis [5], and the normal-arteries paper [6]. Point out that [2] is the score we redrew and [4]-[6] are why we audit by sex. Transition: the one habit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bottom line</a:t>
            </a:r>
          </a:p>
          <a:p>
            <a:r>
              <a:rPr b="0" sz="1100">
                <a:latin typeface="Geist"/>
              </a:rPr>
              <a:t>Land the deck on one habit: grade with the right metric (AUC, not accuracy), ask which clues actually matter (SHAP + the cholesterol ablation), and always check who the model works for (the fairness audit). Our tool did all three. Leave them with the working rule of medical AI -- a model you can measure honestly beats a fancy one nobody can check -- then hand the real decision to a validated tool and a clinician.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5</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Predicting heart disease from a checkup</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Can a model read 13 routine checkup numbers and flag who is at risk for heart disease -- fairly, for women and men alike?</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Predicting heart disease from a checkup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One risk score from many clues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intro_heart_risk_engine.png"/>
          <p:cNvPicPr>
            <a:picLocks noChangeAspect="1"/>
          </p:cNvPicPr>
          <p:nvPr/>
        </p:nvPicPr>
        <p:blipFill>
          <a:blip r:embed="rId2"/>
          <a:stretch>
            <a:fillRect/>
          </a:stretch>
        </p:blipFill>
        <p:spPr>
          <a:xfrm>
            <a:off x="1917906" y="1051560"/>
            <a:ext cx="8325707" cy="4709159"/>
          </a:xfrm>
          <a:prstGeom prst="rect">
            <a:avLst/>
          </a:prstGeom>
        </p:spPr>
      </p:pic>
      <p:sp>
        <p:nvSpPr>
          <p:cNvPr id="8" name="TextBox 7"/>
          <p:cNvSpPr txBox="1"/>
          <p:nvPr/>
        </p:nvSpPr>
        <p:spPr>
          <a:xfrm>
            <a:off x="1371600" y="5870448"/>
            <a:ext cx="9418320" cy="457200"/>
          </a:xfrm>
          <a:prstGeom prst="rect">
            <a:avLst/>
          </a:prstGeom>
          <a:noFill/>
        </p:spPr>
        <p:txBody>
          <a:bodyPr wrap="square" anchor="t" lIns="0" rIns="0" tIns="0" bIns="0">
            <a:spAutoFit/>
          </a:bodyPr>
          <a:lstStyle/>
          <a:p>
            <a:pPr algn="ctr"/>
            <a:r>
              <a:rPr sz="1400" b="0" i="1">
                <a:solidFill>
                  <a:srgbClr val="14141C"/>
                </a:solidFill>
                <a:latin typeface="Geist"/>
              </a:rPr>
              <a:t>The checkup measures many clues; a good risk tool combines them into one number -- never trusting a single measurement 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Doctors already do this math</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intro_framingham_1998.png"/>
          <p:cNvPicPr>
            <a:picLocks noChangeAspect="1"/>
          </p:cNvPicPr>
          <p:nvPr/>
        </p:nvPicPr>
        <p:blipFill>
          <a:blip r:embed="rId2"/>
          <a:stretch>
            <a:fillRect/>
          </a:stretch>
        </p:blipFill>
        <p:spPr>
          <a:xfrm>
            <a:off x="3411522" y="1051560"/>
            <a:ext cx="5338474" cy="4160519"/>
          </a:xfrm>
          <a:prstGeom prst="rect">
            <a:avLst/>
          </a:prstGeom>
        </p:spPr>
      </p:pic>
      <p:sp>
        <p:nvSpPr>
          <p:cNvPr id="8" name="TextBox 7"/>
          <p:cNvSpPr txBox="1"/>
          <p:nvPr/>
        </p:nvSpPr>
        <p:spPr>
          <a:xfrm>
            <a:off x="457200" y="5376671"/>
            <a:ext cx="3566160" cy="502920"/>
          </a:xfrm>
          <a:prstGeom prst="rect">
            <a:avLst/>
          </a:prstGeom>
          <a:noFill/>
        </p:spPr>
        <p:txBody>
          <a:bodyPr wrap="square" anchor="t" lIns="0" rIns="0" tIns="0" bIns="0">
            <a:spAutoFit/>
          </a:bodyPr>
          <a:lstStyle/>
          <a:p>
            <a:pPr algn="ctr"/>
            <a:r>
              <a:rPr sz="3000" b="1" i="0">
                <a:solidFill>
                  <a:srgbClr val="40E0D0"/>
                </a:solidFill>
                <a:latin typeface="Geist Mono"/>
              </a:rPr>
              <a:t>1998</a:t>
            </a:r>
          </a:p>
        </p:txBody>
      </p:sp>
      <p:sp>
        <p:nvSpPr>
          <p:cNvPr id="9" name="TextBox 8"/>
          <p:cNvSpPr txBox="1"/>
          <p:nvPr/>
        </p:nvSpPr>
        <p:spPr>
          <a:xfrm>
            <a:off x="457200" y="5925311"/>
            <a:ext cx="3566160" cy="457200"/>
          </a:xfrm>
          <a:prstGeom prst="rect">
            <a:avLst/>
          </a:prstGeom>
          <a:noFill/>
        </p:spPr>
        <p:txBody>
          <a:bodyPr wrap="square" anchor="t" lIns="0" rIns="0" tIns="0" bIns="0">
            <a:spAutoFit/>
          </a:bodyPr>
          <a:lstStyle/>
          <a:p>
            <a:pPr algn="ctr"/>
            <a:r>
              <a:rPr sz="1250" b="0" i="0">
                <a:solidFill>
                  <a:srgbClr val="14141C"/>
                </a:solidFill>
                <a:latin typeface="Geist"/>
              </a:rPr>
              <a:t>the year Framingham turned checkup clues into a 10-year risk</a:t>
            </a:r>
          </a:p>
        </p:txBody>
      </p:sp>
      <p:sp>
        <p:nvSpPr>
          <p:cNvPr id="10" name="TextBox 9"/>
          <p:cNvSpPr txBox="1"/>
          <p:nvPr/>
        </p:nvSpPr>
        <p:spPr>
          <a:xfrm>
            <a:off x="4297680" y="5376671"/>
            <a:ext cx="3566160" cy="502920"/>
          </a:xfrm>
          <a:prstGeom prst="rect">
            <a:avLst/>
          </a:prstGeom>
          <a:noFill/>
        </p:spPr>
        <p:txBody>
          <a:bodyPr wrap="square" anchor="t" lIns="0" rIns="0" tIns="0" bIns="0">
            <a:spAutoFit/>
          </a:bodyPr>
          <a:lstStyle/>
          <a:p>
            <a:pPr algn="ctr"/>
            <a:r>
              <a:rPr sz="3000" b="1" i="0">
                <a:solidFill>
                  <a:srgbClr val="FF1493"/>
                </a:solidFill>
                <a:latin typeface="Geist Mono"/>
              </a:rPr>
              <a:t>10-yr</a:t>
            </a:r>
          </a:p>
        </p:txBody>
      </p:sp>
      <p:sp>
        <p:nvSpPr>
          <p:cNvPr id="11" name="TextBox 10"/>
          <p:cNvSpPr txBox="1"/>
          <p:nvPr/>
        </p:nvSpPr>
        <p:spPr>
          <a:xfrm>
            <a:off x="4297680" y="5925311"/>
            <a:ext cx="3566160" cy="457200"/>
          </a:xfrm>
          <a:prstGeom prst="rect">
            <a:avLst/>
          </a:prstGeom>
          <a:noFill/>
        </p:spPr>
        <p:txBody>
          <a:bodyPr wrap="square" anchor="t" lIns="0" rIns="0" tIns="0" bIns="0">
            <a:spAutoFit/>
          </a:bodyPr>
          <a:lstStyle/>
          <a:p>
            <a:pPr algn="ctr"/>
            <a:r>
              <a:rPr sz="1250" b="0" i="0">
                <a:solidFill>
                  <a:srgbClr val="14141C"/>
                </a:solidFill>
                <a:latin typeface="Geist"/>
              </a:rPr>
              <a:t>the horizon it predicts -- not just today, but the decade ahead</a:t>
            </a:r>
          </a:p>
        </p:txBody>
      </p:sp>
      <p:sp>
        <p:nvSpPr>
          <p:cNvPr id="12" name="TextBox 11"/>
          <p:cNvSpPr txBox="1"/>
          <p:nvPr/>
        </p:nvSpPr>
        <p:spPr>
          <a:xfrm>
            <a:off x="8138160" y="5376671"/>
            <a:ext cx="3566160" cy="502920"/>
          </a:xfrm>
          <a:prstGeom prst="rect">
            <a:avLst/>
          </a:prstGeom>
          <a:noFill/>
        </p:spPr>
        <p:txBody>
          <a:bodyPr wrap="square" anchor="t" lIns="0" rIns="0" tIns="0" bIns="0">
            <a:spAutoFit/>
          </a:bodyPr>
          <a:lstStyle/>
          <a:p>
            <a:pPr algn="ctr"/>
            <a:r>
              <a:rPr sz="3000" b="1" i="0">
                <a:solidFill>
                  <a:srgbClr val="8A2BE2"/>
                </a:solidFill>
                <a:latin typeface="Geist Mono"/>
              </a:rPr>
              <a:t>by sex</a:t>
            </a:r>
          </a:p>
        </p:txBody>
      </p:sp>
      <p:sp>
        <p:nvSpPr>
          <p:cNvPr id="13" name="TextBox 12"/>
          <p:cNvSpPr txBox="1"/>
          <p:nvPr/>
        </p:nvSpPr>
        <p:spPr>
          <a:xfrm>
            <a:off x="8138160" y="5925311"/>
            <a:ext cx="3566160" cy="457200"/>
          </a:xfrm>
          <a:prstGeom prst="rect">
            <a:avLst/>
          </a:prstGeom>
          <a:noFill/>
        </p:spPr>
        <p:txBody>
          <a:bodyPr wrap="square" anchor="t" lIns="0" rIns="0" tIns="0" bIns="0">
            <a:spAutoFit/>
          </a:bodyPr>
          <a:lstStyle/>
          <a:p>
            <a:pPr algn="ctr"/>
            <a:r>
              <a:rPr sz="1250" b="0" i="0">
                <a:solidFill>
                  <a:srgbClr val="14141C"/>
                </a:solidFill>
                <a:latin typeface="Geist"/>
              </a:rPr>
              <a:t>men and women get different math, because the same numbers mean different things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No single cause: risk is a stack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intro_risk_factor_stack.png"/>
          <p:cNvPicPr>
            <a:picLocks noChangeAspect="1"/>
          </p:cNvPicPr>
          <p:nvPr/>
        </p:nvPicPr>
        <p:blipFill>
          <a:blip r:embed="rId2"/>
          <a:stretch>
            <a:fillRect/>
          </a:stretch>
        </p:blipFill>
        <p:spPr>
          <a:xfrm>
            <a:off x="457200" y="1771647"/>
            <a:ext cx="6523329" cy="3771905"/>
          </a:xfrm>
          <a:prstGeom prst="rect">
            <a:avLst/>
          </a:prstGeom>
        </p:spPr>
      </p:pic>
      <p:sp>
        <p:nvSpPr>
          <p:cNvPr id="8" name="TextBox 7"/>
          <p:cNvSpPr txBox="1"/>
          <p:nvPr/>
        </p:nvSpPr>
        <p:spPr>
          <a:xfrm>
            <a:off x="7392009" y="1161288"/>
            <a:ext cx="4312310" cy="365760"/>
          </a:xfrm>
          <a:prstGeom prst="rect">
            <a:avLst/>
          </a:prstGeom>
          <a:noFill/>
        </p:spPr>
        <p:txBody>
          <a:bodyPr wrap="square" anchor="t" lIns="0" rIns="0" tIns="0" bIns="0">
            <a:spAutoFit/>
          </a:bodyPr>
          <a:lstStyle/>
          <a:p>
            <a:pPr algn="l"/>
            <a:r>
              <a:rPr sz="1500" b="1" i="0">
                <a:solidFill>
                  <a:srgbClr val="FF1493"/>
                </a:solidFill>
                <a:latin typeface="Geist Mono"/>
              </a:rPr>
              <a:t>RISK IS A STACK</a:t>
            </a:r>
          </a:p>
        </p:txBody>
      </p:sp>
      <p:sp>
        <p:nvSpPr>
          <p:cNvPr id="9" name="Rectangle 8"/>
          <p:cNvSpPr/>
          <p:nvPr/>
        </p:nvSpPr>
        <p:spPr>
          <a:xfrm>
            <a:off x="7392009" y="1783080"/>
            <a:ext cx="109728" cy="84124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6329" y="1737360"/>
            <a:ext cx="4037990" cy="365760"/>
          </a:xfrm>
          <a:prstGeom prst="rect">
            <a:avLst/>
          </a:prstGeom>
          <a:noFill/>
        </p:spPr>
        <p:txBody>
          <a:bodyPr wrap="square" anchor="t" lIns="0" rIns="0" tIns="0" bIns="0">
            <a:spAutoFit/>
          </a:bodyPr>
          <a:lstStyle/>
          <a:p>
            <a:pPr algn="l"/>
            <a:r>
              <a:rPr sz="1500" b="1" i="0">
                <a:solidFill>
                  <a:srgbClr val="40E0D0"/>
                </a:solidFill>
                <a:latin typeface="Geist Mono"/>
              </a:rPr>
              <a:t>No single cause</a:t>
            </a:r>
          </a:p>
        </p:txBody>
      </p:sp>
      <p:sp>
        <p:nvSpPr>
          <p:cNvPr id="11" name="TextBox 10"/>
          <p:cNvSpPr txBox="1"/>
          <p:nvPr/>
        </p:nvSpPr>
        <p:spPr>
          <a:xfrm>
            <a:off x="7666329" y="2121408"/>
            <a:ext cx="4037990" cy="685800"/>
          </a:xfrm>
          <a:prstGeom prst="rect">
            <a:avLst/>
          </a:prstGeom>
          <a:noFill/>
        </p:spPr>
        <p:txBody>
          <a:bodyPr wrap="square" anchor="t" lIns="0" rIns="0" tIns="0" bIns="0">
            <a:spAutoFit/>
          </a:bodyPr>
          <a:lstStyle/>
          <a:p>
            <a:pPr algn="l"/>
            <a:r>
              <a:rPr sz="1350" b="0" i="0">
                <a:solidFill>
                  <a:srgbClr val="14141C"/>
                </a:solidFill>
                <a:latin typeface="Geist"/>
              </a:rPr>
              <a:t>Nine factors together explain over 90% of first heart attacks.</a:t>
            </a:r>
          </a:p>
        </p:txBody>
      </p:sp>
      <p:sp>
        <p:nvSpPr>
          <p:cNvPr id="12" name="Rectangle 11"/>
          <p:cNvSpPr/>
          <p:nvPr/>
        </p:nvSpPr>
        <p:spPr>
          <a:xfrm>
            <a:off x="7392009" y="3017520"/>
            <a:ext cx="109728" cy="84124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6329" y="2971800"/>
            <a:ext cx="4037990" cy="365760"/>
          </a:xfrm>
          <a:prstGeom prst="rect">
            <a:avLst/>
          </a:prstGeom>
          <a:noFill/>
        </p:spPr>
        <p:txBody>
          <a:bodyPr wrap="square" anchor="t" lIns="0" rIns="0" tIns="0" bIns="0">
            <a:spAutoFit/>
          </a:bodyPr>
          <a:lstStyle/>
          <a:p>
            <a:pPr algn="l"/>
            <a:r>
              <a:rPr sz="1500" b="1" i="0">
                <a:solidFill>
                  <a:srgbClr val="FF1493"/>
                </a:solidFill>
                <a:latin typeface="Geist Mono"/>
              </a:rPr>
              <a:t>Cholesterol leads</a:t>
            </a:r>
          </a:p>
        </p:txBody>
      </p:sp>
      <p:sp>
        <p:nvSpPr>
          <p:cNvPr id="14" name="TextBox 13"/>
          <p:cNvSpPr txBox="1"/>
          <p:nvPr/>
        </p:nvSpPr>
        <p:spPr>
          <a:xfrm>
            <a:off x="7666329" y="3355848"/>
            <a:ext cx="4037990" cy="685800"/>
          </a:xfrm>
          <a:prstGeom prst="rect">
            <a:avLst/>
          </a:prstGeom>
          <a:noFill/>
        </p:spPr>
        <p:txBody>
          <a:bodyPr wrap="square" anchor="t" lIns="0" rIns="0" tIns="0" bIns="0">
            <a:spAutoFit/>
          </a:bodyPr>
          <a:lstStyle/>
          <a:p>
            <a:pPr algn="l"/>
            <a:r>
              <a:rPr sz="1350" b="0" i="0">
                <a:solidFill>
                  <a:srgbClr val="14141C"/>
                </a:solidFill>
                <a:latin typeface="Geist"/>
              </a:rPr>
              <a:t>Abnormal cholesterol sits near the top -- and it is one of our 13 features.</a:t>
            </a:r>
          </a:p>
        </p:txBody>
      </p:sp>
      <p:sp>
        <p:nvSpPr>
          <p:cNvPr id="15" name="Rectangle 14"/>
          <p:cNvSpPr/>
          <p:nvPr/>
        </p:nvSpPr>
        <p:spPr>
          <a:xfrm>
            <a:off x="7392009" y="4251959"/>
            <a:ext cx="109728" cy="84124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66329" y="4206240"/>
            <a:ext cx="4037990" cy="365760"/>
          </a:xfrm>
          <a:prstGeom prst="rect">
            <a:avLst/>
          </a:prstGeom>
          <a:noFill/>
        </p:spPr>
        <p:txBody>
          <a:bodyPr wrap="square" anchor="t" lIns="0" rIns="0" tIns="0" bIns="0">
            <a:spAutoFit/>
          </a:bodyPr>
          <a:lstStyle/>
          <a:p>
            <a:pPr algn="l"/>
            <a:r>
              <a:rPr sz="1500" b="1" i="0">
                <a:solidFill>
                  <a:srgbClr val="8A2BE2"/>
                </a:solidFill>
                <a:latin typeface="Geist Mono"/>
              </a:rPr>
              <a:t>So we measure many</a:t>
            </a:r>
          </a:p>
        </p:txBody>
      </p:sp>
      <p:sp>
        <p:nvSpPr>
          <p:cNvPr id="17" name="TextBox 16"/>
          <p:cNvSpPr txBox="1"/>
          <p:nvPr/>
        </p:nvSpPr>
        <p:spPr>
          <a:xfrm>
            <a:off x="7666329" y="4590288"/>
            <a:ext cx="4037990" cy="685800"/>
          </a:xfrm>
          <a:prstGeom prst="rect">
            <a:avLst/>
          </a:prstGeom>
          <a:noFill/>
        </p:spPr>
        <p:txBody>
          <a:bodyPr wrap="square" anchor="t" lIns="0" rIns="0" tIns="0" bIns="0">
            <a:spAutoFit/>
          </a:bodyPr>
          <a:lstStyle/>
          <a:p>
            <a:pPr algn="l"/>
            <a:r>
              <a:rPr sz="1350" b="0" i="0">
                <a:solidFill>
                  <a:srgbClr val="14141C"/>
                </a:solidFill>
                <a:latin typeface="Geist"/>
              </a:rPr>
              <a:t>A checkup captures several clues at once, never just one number.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textbook heart attack is the male one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intro_symptom_presentation.png"/>
          <p:cNvPicPr>
            <a:picLocks noChangeAspect="1"/>
          </p:cNvPicPr>
          <p:nvPr/>
        </p:nvPicPr>
        <p:blipFill>
          <a:blip r:embed="rId2"/>
          <a:stretch>
            <a:fillRect/>
          </a:stretch>
        </p:blipFill>
        <p:spPr>
          <a:xfrm>
            <a:off x="457200" y="1897279"/>
            <a:ext cx="6748272" cy="3520641"/>
          </a:xfrm>
          <a:prstGeom prst="rect">
            <a:avLst/>
          </a:prstGeom>
        </p:spPr>
      </p:pic>
      <p:sp>
        <p:nvSpPr>
          <p:cNvPr id="8" name="TextBox 7"/>
          <p:cNvSpPr txBox="1"/>
          <p:nvPr/>
        </p:nvSpPr>
        <p:spPr>
          <a:xfrm>
            <a:off x="7571231" y="1280160"/>
            <a:ext cx="4133088" cy="365760"/>
          </a:xfrm>
          <a:prstGeom prst="rect">
            <a:avLst/>
          </a:prstGeom>
          <a:noFill/>
        </p:spPr>
        <p:txBody>
          <a:bodyPr wrap="square" anchor="t" lIns="0" rIns="0" tIns="0" bIns="0">
            <a:spAutoFit/>
          </a:bodyPr>
          <a:lstStyle/>
          <a:p>
            <a:pPr algn="l"/>
            <a:r>
              <a:rPr sz="1500" b="1" i="0">
                <a:solidFill>
                  <a:srgbClr val="FF1493"/>
                </a:solidFill>
                <a:latin typeface="Geist Mono"/>
              </a:rPr>
              <a:t>THE TEXTBOOK IS MALE</a:t>
            </a:r>
          </a:p>
        </p:txBody>
      </p:sp>
      <p:sp>
        <p:nvSpPr>
          <p:cNvPr id="9" name="TextBox 8"/>
          <p:cNvSpPr txBox="1"/>
          <p:nvPr/>
        </p:nvSpPr>
        <p:spPr>
          <a:xfrm>
            <a:off x="7571231" y="1783080"/>
            <a:ext cx="4133088" cy="1188720"/>
          </a:xfrm>
          <a:prstGeom prst="rect">
            <a:avLst/>
          </a:prstGeom>
          <a:noFill/>
        </p:spPr>
        <p:txBody>
          <a:bodyPr wrap="square" anchor="t" lIns="0" rIns="0" tIns="0" bIns="0">
            <a:spAutoFit/>
          </a:bodyPr>
          <a:lstStyle/>
          <a:p>
            <a:pPr algn="l"/>
            <a:r>
              <a:rPr sz="1550" b="0" i="0">
                <a:solidFill>
                  <a:srgbClr val="14141C"/>
                </a:solidFill>
                <a:latin typeface="Geist"/>
              </a:rPr>
              <a:t>Men more often get the classic crushing chest pain. Women more often get back pain, nausea, or shortness of breath.</a:t>
            </a:r>
          </a:p>
        </p:txBody>
      </p:sp>
      <p:sp>
        <p:nvSpPr>
          <p:cNvPr id="10" name="TextBox 9"/>
          <p:cNvSpPr txBox="1"/>
          <p:nvPr/>
        </p:nvSpPr>
        <p:spPr>
          <a:xfrm>
            <a:off x="7571231" y="3017520"/>
            <a:ext cx="4133088" cy="1097280"/>
          </a:xfrm>
          <a:prstGeom prst="rect">
            <a:avLst/>
          </a:prstGeom>
          <a:noFill/>
        </p:spPr>
        <p:txBody>
          <a:bodyPr wrap="square" anchor="t" lIns="0" rIns="0" tIns="0" bIns="0">
            <a:spAutoFit/>
          </a:bodyPr>
          <a:lstStyle/>
          <a:p>
            <a:pPr algn="l"/>
            <a:r>
              <a:rPr sz="1550" b="0" i="1">
                <a:solidFill>
                  <a:srgbClr val="8A2BE2"/>
                </a:solidFill>
                <a:latin typeface="Geist"/>
              </a:rPr>
              <a:t>Because the classic picture is the male one, women's heart attacks are more often missed.</a:t>
            </a:r>
          </a:p>
        </p:txBody>
      </p:sp>
      <p:sp>
        <p:nvSpPr>
          <p:cNvPr id="11" name="TextBox 10"/>
          <p:cNvSpPr txBox="1"/>
          <p:nvPr/>
        </p:nvSpPr>
        <p:spPr>
          <a:xfrm>
            <a:off x="7571231" y="4251960"/>
            <a:ext cx="4133088" cy="640080"/>
          </a:xfrm>
          <a:prstGeom prst="rect">
            <a:avLst/>
          </a:prstGeom>
          <a:noFill/>
        </p:spPr>
        <p:txBody>
          <a:bodyPr wrap="square" anchor="t" lIns="0" rIns="0" tIns="0" bIns="0">
            <a:spAutoFit/>
          </a:bodyPr>
          <a:lstStyle/>
          <a:p>
            <a:pPr algn="l"/>
            <a:r>
              <a:rPr sz="1350" b="0" i="1">
                <a:solidFill>
                  <a:srgbClr val="555560"/>
                </a:solidFill>
                <a:latin typeface="Geist"/>
              </a:rPr>
              <a:t>Watch this thread -- it returns in our fairness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Predicting heart disease from a checkup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the Cleveland dataset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sp>
        <p:nvSpPr>
          <p:cNvPr id="7" name="Rectangle 6"/>
          <p:cNvSpPr/>
          <p:nvPr/>
        </p:nvSpPr>
        <p:spPr>
          <a:xfrm>
            <a:off x="457200" y="1051560"/>
            <a:ext cx="3535680" cy="5120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20239"/>
            <a:ext cx="3023616" cy="1371600"/>
          </a:xfrm>
          <a:prstGeom prst="rect">
            <a:avLst/>
          </a:prstGeom>
          <a:noFill/>
        </p:spPr>
        <p:txBody>
          <a:bodyPr wrap="square" anchor="ctr" lIns="0" rIns="0" tIns="0" bIns="0">
            <a:spAutoFit/>
          </a:bodyPr>
          <a:lstStyle/>
          <a:p>
            <a:pPr algn="l"/>
            <a:r>
              <a:rPr sz="5800" b="1" i="0">
                <a:solidFill>
                  <a:srgbClr val="FFFFFF"/>
                </a:solidFill>
                <a:latin typeface="Geist Mono"/>
              </a:rPr>
              <a:t>303</a:t>
            </a:r>
          </a:p>
        </p:txBody>
      </p:sp>
      <p:sp>
        <p:nvSpPr>
          <p:cNvPr id="9" name="TextBox 8"/>
          <p:cNvSpPr txBox="1"/>
          <p:nvPr/>
        </p:nvSpPr>
        <p:spPr>
          <a:xfrm>
            <a:off x="71323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real patient records from a 1980s coronary-disease study, each with a verified yes/no answer</a:t>
            </a:r>
          </a:p>
        </p:txBody>
      </p:sp>
      <p:sp>
        <p:nvSpPr>
          <p:cNvPr id="10" name="Rectangle 9"/>
          <p:cNvSpPr/>
          <p:nvPr/>
        </p:nvSpPr>
        <p:spPr>
          <a:xfrm>
            <a:off x="4312920" y="1051560"/>
            <a:ext cx="3535680" cy="51206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8952" y="1920239"/>
            <a:ext cx="3023616" cy="1371600"/>
          </a:xfrm>
          <a:prstGeom prst="rect">
            <a:avLst/>
          </a:prstGeom>
          <a:noFill/>
        </p:spPr>
        <p:txBody>
          <a:bodyPr wrap="square" anchor="ctr" lIns="0" rIns="0" tIns="0" bIns="0">
            <a:spAutoFit/>
          </a:bodyPr>
          <a:lstStyle/>
          <a:p>
            <a:pPr algn="l"/>
            <a:r>
              <a:rPr sz="5800" b="1" i="0">
                <a:solidFill>
                  <a:srgbClr val="FFFFFF"/>
                </a:solidFill>
                <a:latin typeface="Geist Mono"/>
              </a:rPr>
              <a:t>13</a:t>
            </a:r>
          </a:p>
        </p:txBody>
      </p:sp>
      <p:sp>
        <p:nvSpPr>
          <p:cNvPr id="12" name="TextBox 11"/>
          <p:cNvSpPr txBox="1"/>
          <p:nvPr/>
        </p:nvSpPr>
        <p:spPr>
          <a:xfrm>
            <a:off x="456895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routine checkup numbers -- age, blood pressure, cholesterol, chest-pain type, exercise-test results</a:t>
            </a:r>
          </a:p>
        </p:txBody>
      </p:sp>
      <p:sp>
        <p:nvSpPr>
          <p:cNvPr id="13" name="Rectangle 12"/>
          <p:cNvSpPr/>
          <p:nvPr/>
        </p:nvSpPr>
        <p:spPr>
          <a:xfrm>
            <a:off x="8168640" y="1051560"/>
            <a:ext cx="3535680" cy="5120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4672" y="1920239"/>
            <a:ext cx="3023616" cy="1371600"/>
          </a:xfrm>
          <a:prstGeom prst="rect">
            <a:avLst/>
          </a:prstGeom>
          <a:noFill/>
        </p:spPr>
        <p:txBody>
          <a:bodyPr wrap="square" anchor="ctr" lIns="0" rIns="0" tIns="0" bIns="0">
            <a:spAutoFit/>
          </a:bodyPr>
          <a:lstStyle/>
          <a:p>
            <a:pPr algn="l"/>
            <a:r>
              <a:rPr sz="5800" b="1" i="0">
                <a:solidFill>
                  <a:srgbClr val="14141C"/>
                </a:solidFill>
                <a:latin typeface="Geist Mono"/>
              </a:rPr>
              <a:t>free</a:t>
            </a:r>
          </a:p>
        </p:txBody>
      </p:sp>
      <p:sp>
        <p:nvSpPr>
          <p:cNvPr id="15" name="TextBox 14"/>
          <p:cNvSpPr txBox="1"/>
          <p:nvPr/>
        </p:nvSpPr>
        <p:spPr>
          <a:xfrm>
            <a:off x="8424672" y="3474720"/>
            <a:ext cx="3023616" cy="1828800"/>
          </a:xfrm>
          <a:prstGeom prst="rect">
            <a:avLst/>
          </a:prstGeom>
          <a:noFill/>
        </p:spPr>
        <p:txBody>
          <a:bodyPr wrap="square" anchor="t" lIns="0" rIns="0" tIns="0" bIns="0">
            <a:spAutoFit/>
          </a:bodyPr>
          <a:lstStyle/>
          <a:p>
            <a:pPr algn="l"/>
            <a:r>
              <a:rPr sz="1500" b="0" i="0">
                <a:solidFill>
                  <a:srgbClr val="14141C"/>
                </a:solidFill>
                <a:latin typeface="Geist"/>
              </a:rPr>
              <a:t>downloads straight from the UCI repository with no gate -- and it records sex, so we can audit fairness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Who is in the data?</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intro_dataset_sex_skew.png"/>
          <p:cNvPicPr>
            <a:picLocks noChangeAspect="1"/>
          </p:cNvPicPr>
          <p:nvPr/>
        </p:nvPicPr>
        <p:blipFill>
          <a:blip r:embed="rId2"/>
          <a:stretch>
            <a:fillRect/>
          </a:stretch>
        </p:blipFill>
        <p:spPr>
          <a:xfrm>
            <a:off x="2468413" y="1051560"/>
            <a:ext cx="7224693" cy="4069079"/>
          </a:xfrm>
          <a:prstGeom prst="rect">
            <a:avLst/>
          </a:prstGeom>
        </p:spPr>
      </p:pic>
      <p:sp>
        <p:nvSpPr>
          <p:cNvPr id="8" name="Rectangle 7"/>
          <p:cNvSpPr/>
          <p:nvPr/>
        </p:nvSpPr>
        <p:spPr>
          <a:xfrm>
            <a:off x="457200" y="5248655"/>
            <a:ext cx="5463540" cy="9144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248655"/>
            <a:ext cx="1554480" cy="914400"/>
          </a:xfrm>
          <a:prstGeom prst="rect">
            <a:avLst/>
          </a:prstGeom>
          <a:noFill/>
        </p:spPr>
        <p:txBody>
          <a:bodyPr wrap="square" anchor="ctr" lIns="0" rIns="0" tIns="0" bIns="0">
            <a:spAutoFit/>
          </a:bodyPr>
          <a:lstStyle/>
          <a:p>
            <a:pPr algn="l"/>
            <a:r>
              <a:rPr sz="3400" b="1" i="0">
                <a:solidFill>
                  <a:srgbClr val="14141C"/>
                </a:solidFill>
                <a:latin typeface="Geist Mono"/>
              </a:rPr>
              <a:t>2 : 1</a:t>
            </a:r>
          </a:p>
        </p:txBody>
      </p:sp>
      <p:sp>
        <p:nvSpPr>
          <p:cNvPr id="10" name="TextBox 9"/>
          <p:cNvSpPr txBox="1"/>
          <p:nvPr/>
        </p:nvSpPr>
        <p:spPr>
          <a:xfrm>
            <a:off x="2377440" y="5248655"/>
            <a:ext cx="3268980" cy="914400"/>
          </a:xfrm>
          <a:prstGeom prst="rect">
            <a:avLst/>
          </a:prstGeom>
          <a:noFill/>
        </p:spPr>
        <p:txBody>
          <a:bodyPr wrap="square" anchor="ctr" lIns="0" rIns="0" tIns="0" bIns="0">
            <a:spAutoFit/>
          </a:bodyPr>
          <a:lstStyle/>
          <a:p>
            <a:pPr algn="l"/>
            <a:r>
              <a:rPr sz="1350" b="0" i="0">
                <a:solidFill>
                  <a:srgbClr val="14141C"/>
                </a:solidFill>
                <a:latin typeface="Geist"/>
              </a:rPr>
              <a:t>men to women -- the model gets far more practice on men</a:t>
            </a:r>
          </a:p>
        </p:txBody>
      </p:sp>
      <p:sp>
        <p:nvSpPr>
          <p:cNvPr id="11" name="Rectangle 10"/>
          <p:cNvSpPr/>
          <p:nvPr/>
        </p:nvSpPr>
        <p:spPr>
          <a:xfrm>
            <a:off x="6240780" y="5248655"/>
            <a:ext cx="5463540" cy="9144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5100" y="5376671"/>
            <a:ext cx="4914900" cy="365760"/>
          </a:xfrm>
          <a:prstGeom prst="rect">
            <a:avLst/>
          </a:prstGeom>
          <a:noFill/>
        </p:spPr>
        <p:txBody>
          <a:bodyPr wrap="square" anchor="t" lIns="0" rIns="0" tIns="0" bIns="0">
            <a:spAutoFit/>
          </a:bodyPr>
          <a:lstStyle/>
          <a:p>
            <a:pPr algn="l"/>
            <a:r>
              <a:rPr sz="1600" b="1" i="0">
                <a:solidFill>
                  <a:srgbClr val="FFFFFF"/>
                </a:solidFill>
                <a:latin typeface="Geist Mono"/>
              </a:rPr>
              <a:t>the honest catch</a:t>
            </a:r>
          </a:p>
        </p:txBody>
      </p:sp>
      <p:sp>
        <p:nvSpPr>
          <p:cNvPr id="13" name="TextBox 12"/>
          <p:cNvSpPr txBox="1"/>
          <p:nvPr/>
        </p:nvSpPr>
        <p:spPr>
          <a:xfrm>
            <a:off x="6515100" y="5742431"/>
            <a:ext cx="4914900" cy="365760"/>
          </a:xfrm>
          <a:prstGeom prst="rect">
            <a:avLst/>
          </a:prstGeom>
          <a:noFill/>
        </p:spPr>
        <p:txBody>
          <a:bodyPr wrap="square" anchor="t" lIns="0" rIns="0" tIns="0" bIns="0">
            <a:spAutoFit/>
          </a:bodyPr>
          <a:lstStyle/>
          <a:p>
            <a:pPr algn="l"/>
            <a:r>
              <a:rPr sz="1250" b="0" i="0">
                <a:solidFill>
                  <a:srgbClr val="FFFFFF"/>
                </a:solidFill>
                <a:latin typeface="Geist"/>
              </a:rPr>
              <a:t>a model only learns from who is in its data -- this skew returns in our fairness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Predicting heart disease from a checkup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Four models, one bake-off</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model_comparison.png"/>
          <p:cNvPicPr>
            <a:picLocks noChangeAspect="1"/>
          </p:cNvPicPr>
          <p:nvPr/>
        </p:nvPicPr>
        <p:blipFill>
          <a:blip r:embed="rId2"/>
          <a:stretch>
            <a:fillRect/>
          </a:stretch>
        </p:blipFill>
        <p:spPr>
          <a:xfrm>
            <a:off x="457200" y="1842852"/>
            <a:ext cx="6298387" cy="3629495"/>
          </a:xfrm>
          <a:prstGeom prst="rect">
            <a:avLst/>
          </a:prstGeom>
        </p:spPr>
      </p:pic>
      <p:sp>
        <p:nvSpPr>
          <p:cNvPr id="8" name="TextBox 7"/>
          <p:cNvSpPr txBox="1"/>
          <p:nvPr/>
        </p:nvSpPr>
        <p:spPr>
          <a:xfrm>
            <a:off x="7167067" y="1234440"/>
            <a:ext cx="4537252" cy="365760"/>
          </a:xfrm>
          <a:prstGeom prst="rect">
            <a:avLst/>
          </a:prstGeom>
          <a:noFill/>
        </p:spPr>
        <p:txBody>
          <a:bodyPr wrap="square" anchor="t" lIns="0" rIns="0" tIns="0" bIns="0">
            <a:spAutoFit/>
          </a:bodyPr>
          <a:lstStyle/>
          <a:p>
            <a:pPr algn="l"/>
            <a:r>
              <a:rPr sz="1400" b="1" i="0">
                <a:solidFill>
                  <a:srgbClr val="8A2BE2"/>
                </a:solidFill>
                <a:latin typeface="Geist Mono"/>
              </a:rPr>
              <a:t>WE TESTED, WE DID NOT GUESS</a:t>
            </a:r>
          </a:p>
        </p:txBody>
      </p:sp>
      <p:sp>
        <p:nvSpPr>
          <p:cNvPr id="9" name="TextBox 8"/>
          <p:cNvSpPr txBox="1"/>
          <p:nvPr/>
        </p:nvSpPr>
        <p:spPr>
          <a:xfrm>
            <a:off x="7167067" y="1737360"/>
            <a:ext cx="4537252" cy="1005840"/>
          </a:xfrm>
          <a:prstGeom prst="rect">
            <a:avLst/>
          </a:prstGeom>
          <a:noFill/>
        </p:spPr>
        <p:txBody>
          <a:bodyPr wrap="square" anchor="t" lIns="0" rIns="0" tIns="0" bIns="0">
            <a:spAutoFit/>
          </a:bodyPr>
          <a:lstStyle/>
          <a:p>
            <a:pPr algn="l"/>
            <a:r>
              <a:rPr sz="7000" b="1" i="0">
                <a:solidFill>
                  <a:srgbClr val="14141C"/>
                </a:solidFill>
                <a:latin typeface="Geist Mono"/>
              </a:rPr>
              <a:t>~0.80</a:t>
            </a:r>
          </a:p>
        </p:txBody>
      </p:sp>
      <p:sp>
        <p:nvSpPr>
          <p:cNvPr id="10" name="TextBox 9"/>
          <p:cNvSpPr txBox="1"/>
          <p:nvPr/>
        </p:nvSpPr>
        <p:spPr>
          <a:xfrm>
            <a:off x="7167067" y="2880360"/>
            <a:ext cx="4537252" cy="914400"/>
          </a:xfrm>
          <a:prstGeom prst="rect">
            <a:avLst/>
          </a:prstGeom>
          <a:noFill/>
        </p:spPr>
        <p:txBody>
          <a:bodyPr wrap="square" anchor="t" lIns="0" rIns="0" tIns="0" bIns="0">
            <a:spAutoFit/>
          </a:bodyPr>
          <a:lstStyle/>
          <a:p>
            <a:pPr algn="l"/>
            <a:r>
              <a:rPr sz="1500" b="0" i="0">
                <a:solidFill>
                  <a:srgbClr val="14141C"/>
                </a:solidFill>
                <a:latin typeface="Geist"/>
              </a:rPr>
              <a:t>test accuracy -- and all four models land within a whisker of it.</a:t>
            </a:r>
          </a:p>
        </p:txBody>
      </p:sp>
      <p:sp>
        <p:nvSpPr>
          <p:cNvPr id="11" name="TextBox 10"/>
          <p:cNvSpPr txBox="1"/>
          <p:nvPr/>
        </p:nvSpPr>
        <p:spPr>
          <a:xfrm>
            <a:off x="7167067" y="3931920"/>
            <a:ext cx="4537252" cy="1371600"/>
          </a:xfrm>
          <a:prstGeom prst="rect">
            <a:avLst/>
          </a:prstGeom>
          <a:noFill/>
        </p:spPr>
        <p:txBody>
          <a:bodyPr wrap="square" anchor="t" lIns="0" rIns="0" tIns="0" bIns="0">
            <a:spAutoFit/>
          </a:bodyPr>
          <a:lstStyle/>
          <a:p>
            <a:pPr algn="l"/>
            <a:r>
              <a:rPr sz="1500" b="0" i="1">
                <a:solidFill>
                  <a:srgbClr val="8A2BE2"/>
                </a:solidFill>
                <a:latin typeface="Geist"/>
              </a:rPr>
              <a:t>On clean tabular data the model barely matters. The data sets the ceiling -- 300 patients hold only so much signal.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Model and data processing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sp>
        <p:nvSpPr>
          <p:cNvPr id="7" name="Rectangle 6"/>
          <p:cNvSpPr/>
          <p:nvPr/>
        </p:nvSpPr>
        <p:spPr>
          <a:xfrm>
            <a:off x="457200" y="1051560"/>
            <a:ext cx="822960" cy="111099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822960" cy="1110995"/>
          </a:xfrm>
          <a:prstGeom prst="rect">
            <a:avLst/>
          </a:prstGeom>
          <a:noFill/>
        </p:spPr>
        <p:txBody>
          <a:bodyPr wrap="square" anchor="ctr" lIns="0" rIns="0" tIns="0" bIns="0">
            <a:spAutoFit/>
          </a:bodyPr>
          <a:lstStyle/>
          <a:p>
            <a:pPr algn="ctr"/>
            <a:r>
              <a:rPr sz="2600" b="1" i="0">
                <a:solidFill>
                  <a:srgbClr val="14141C"/>
                </a:solidFill>
                <a:latin typeface="Geist Mono"/>
              </a:rPr>
              <a:t>1</a:t>
            </a:r>
          </a:p>
        </p:txBody>
      </p:sp>
      <p:sp>
        <p:nvSpPr>
          <p:cNvPr id="9" name="TextBox 8"/>
          <p:cNvSpPr txBox="1"/>
          <p:nvPr/>
        </p:nvSpPr>
        <p:spPr>
          <a:xfrm>
            <a:off x="1508760" y="1051560"/>
            <a:ext cx="2194560" cy="1110995"/>
          </a:xfrm>
          <a:prstGeom prst="rect">
            <a:avLst/>
          </a:prstGeom>
          <a:noFill/>
        </p:spPr>
        <p:txBody>
          <a:bodyPr wrap="square" anchor="ctr" lIns="0" rIns="0" tIns="0" bIns="0">
            <a:spAutoFit/>
          </a:bodyPr>
          <a:lstStyle/>
          <a:p>
            <a:pPr algn="l"/>
            <a:r>
              <a:rPr sz="1700" b="1" i="0">
                <a:solidFill>
                  <a:srgbClr val="40E0D0"/>
                </a:solidFill>
                <a:latin typeface="Geist Mono"/>
              </a:rPr>
              <a:t>SPLIT</a:t>
            </a:r>
          </a:p>
        </p:txBody>
      </p:sp>
      <p:sp>
        <p:nvSpPr>
          <p:cNvPr id="10" name="TextBox 9"/>
          <p:cNvSpPr txBox="1"/>
          <p:nvPr/>
        </p:nvSpPr>
        <p:spPr>
          <a:xfrm>
            <a:off x="3840480" y="1051560"/>
            <a:ext cx="7863840" cy="1110995"/>
          </a:xfrm>
          <a:prstGeom prst="rect">
            <a:avLst/>
          </a:prstGeom>
          <a:noFill/>
        </p:spPr>
        <p:txBody>
          <a:bodyPr wrap="square" anchor="ctr" lIns="0" rIns="0" tIns="0" bIns="0">
            <a:spAutoFit/>
          </a:bodyPr>
          <a:lstStyle/>
          <a:p>
            <a:pPr algn="l"/>
            <a:r>
              <a:rPr sz="1450" b="0" i="0">
                <a:solidFill>
                  <a:srgbClr val="14141C"/>
                </a:solidFill>
                <a:latin typeface="Geist"/>
              </a:rPr>
              <a:t>one clean 75/25 train-test split, fixed seed, stratified so both halves carry the same disease rate</a:t>
            </a:r>
          </a:p>
        </p:txBody>
      </p:sp>
      <p:sp>
        <p:nvSpPr>
          <p:cNvPr id="11" name="Rectangle 10"/>
          <p:cNvSpPr/>
          <p:nvPr/>
        </p:nvSpPr>
        <p:spPr>
          <a:xfrm>
            <a:off x="457200" y="2418588"/>
            <a:ext cx="822960" cy="111099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18588"/>
            <a:ext cx="822960" cy="1110995"/>
          </a:xfrm>
          <a:prstGeom prst="rect">
            <a:avLst/>
          </a:prstGeom>
          <a:noFill/>
        </p:spPr>
        <p:txBody>
          <a:bodyPr wrap="square" anchor="ctr" lIns="0" rIns="0" tIns="0" bIns="0">
            <a:spAutoFit/>
          </a:bodyPr>
          <a:lstStyle/>
          <a:p>
            <a:pPr algn="ctr"/>
            <a:r>
              <a:rPr sz="2600" b="1" i="0">
                <a:solidFill>
                  <a:srgbClr val="FFFFFF"/>
                </a:solidFill>
                <a:latin typeface="Geist Mono"/>
              </a:rPr>
              <a:t>2</a:t>
            </a:r>
          </a:p>
        </p:txBody>
      </p:sp>
      <p:sp>
        <p:nvSpPr>
          <p:cNvPr id="13" name="TextBox 12"/>
          <p:cNvSpPr txBox="1"/>
          <p:nvPr/>
        </p:nvSpPr>
        <p:spPr>
          <a:xfrm>
            <a:off x="1508760" y="2418588"/>
            <a:ext cx="2194560" cy="1110995"/>
          </a:xfrm>
          <a:prstGeom prst="rect">
            <a:avLst/>
          </a:prstGeom>
          <a:noFill/>
        </p:spPr>
        <p:txBody>
          <a:bodyPr wrap="square" anchor="ctr" lIns="0" rIns="0" tIns="0" bIns="0">
            <a:spAutoFit/>
          </a:bodyPr>
          <a:lstStyle/>
          <a:p>
            <a:pPr algn="l"/>
            <a:r>
              <a:rPr sz="1700" b="1" i="0">
                <a:solidFill>
                  <a:srgbClr val="FF1493"/>
                </a:solidFill>
                <a:latin typeface="Geist Mono"/>
              </a:rPr>
              <a:t>FEATURES</a:t>
            </a:r>
          </a:p>
        </p:txBody>
      </p:sp>
      <p:sp>
        <p:nvSpPr>
          <p:cNvPr id="14" name="TextBox 13"/>
          <p:cNvSpPr txBox="1"/>
          <p:nvPr/>
        </p:nvSpPr>
        <p:spPr>
          <a:xfrm>
            <a:off x="3840480" y="2418588"/>
            <a:ext cx="7863840" cy="1110995"/>
          </a:xfrm>
          <a:prstGeom prst="rect">
            <a:avLst/>
          </a:prstGeom>
          <a:noFill/>
        </p:spPr>
        <p:txBody>
          <a:bodyPr wrap="square" anchor="ctr" lIns="0" rIns="0" tIns="0" bIns="0">
            <a:spAutoFit/>
          </a:bodyPr>
          <a:lstStyle/>
          <a:p>
            <a:pPr algn="l"/>
            <a:r>
              <a:rPr sz="1450" b="0" i="0">
                <a:solidFill>
                  <a:srgbClr val="14141C"/>
                </a:solidFill>
                <a:latin typeface="Geist"/>
              </a:rPr>
              <a:t>all 13 checkup measurements, each read as a plain number -- no hand-picking</a:t>
            </a:r>
          </a:p>
        </p:txBody>
      </p:sp>
      <p:sp>
        <p:nvSpPr>
          <p:cNvPr id="15" name="Rectangle 14"/>
          <p:cNvSpPr/>
          <p:nvPr/>
        </p:nvSpPr>
        <p:spPr>
          <a:xfrm>
            <a:off x="457200" y="3785615"/>
            <a:ext cx="822960" cy="111099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785615"/>
            <a:ext cx="822960" cy="1110995"/>
          </a:xfrm>
          <a:prstGeom prst="rect">
            <a:avLst/>
          </a:prstGeom>
          <a:noFill/>
        </p:spPr>
        <p:txBody>
          <a:bodyPr wrap="square" anchor="ctr" lIns="0" rIns="0" tIns="0" bIns="0">
            <a:spAutoFit/>
          </a:bodyPr>
          <a:lstStyle/>
          <a:p>
            <a:pPr algn="ctr"/>
            <a:r>
              <a:rPr sz="2600" b="1" i="0">
                <a:solidFill>
                  <a:srgbClr val="14141C"/>
                </a:solidFill>
                <a:latin typeface="Geist Mono"/>
              </a:rPr>
              <a:t>3</a:t>
            </a:r>
          </a:p>
        </p:txBody>
      </p:sp>
      <p:sp>
        <p:nvSpPr>
          <p:cNvPr id="17" name="TextBox 16"/>
          <p:cNvSpPr txBox="1"/>
          <p:nvPr/>
        </p:nvSpPr>
        <p:spPr>
          <a:xfrm>
            <a:off x="1508760" y="3785615"/>
            <a:ext cx="2194560" cy="1110995"/>
          </a:xfrm>
          <a:prstGeom prst="rect">
            <a:avLst/>
          </a:prstGeom>
          <a:noFill/>
        </p:spPr>
        <p:txBody>
          <a:bodyPr wrap="square" anchor="ctr" lIns="0" rIns="0" tIns="0" bIns="0">
            <a:spAutoFit/>
          </a:bodyPr>
          <a:lstStyle/>
          <a:p>
            <a:pPr algn="l"/>
            <a:r>
              <a:rPr sz="1700" b="1" i="0">
                <a:solidFill>
                  <a:srgbClr val="F0C840"/>
                </a:solidFill>
                <a:latin typeface="Geist Mono"/>
              </a:rPr>
              <a:t>MODEL</a:t>
            </a:r>
          </a:p>
        </p:txBody>
      </p:sp>
      <p:sp>
        <p:nvSpPr>
          <p:cNvPr id="18" name="TextBox 17"/>
          <p:cNvSpPr txBox="1"/>
          <p:nvPr/>
        </p:nvSpPr>
        <p:spPr>
          <a:xfrm>
            <a:off x="3840480" y="3785615"/>
            <a:ext cx="7863840" cy="1110995"/>
          </a:xfrm>
          <a:prstGeom prst="rect">
            <a:avLst/>
          </a:prstGeom>
          <a:noFill/>
        </p:spPr>
        <p:txBody>
          <a:bodyPr wrap="square" anchor="ctr" lIns="0" rIns="0" tIns="0" bIns="0">
            <a:spAutoFit/>
          </a:bodyPr>
          <a:lstStyle/>
          <a:p>
            <a:pPr algn="l"/>
            <a:r>
              <a:rPr sz="1450" b="0" i="0">
                <a:solidFill>
                  <a:srgbClr val="14141C"/>
                </a:solidFill>
                <a:latin typeface="Geist"/>
              </a:rPr>
              <a:t>CatBoost for the headline score (a calibrated probability we grade by AUC); logistic regression for the clean feature tests</a:t>
            </a:r>
          </a:p>
        </p:txBody>
      </p:sp>
      <p:sp>
        <p:nvSpPr>
          <p:cNvPr id="19" name="Rectangle 18"/>
          <p:cNvSpPr/>
          <p:nvPr/>
        </p:nvSpPr>
        <p:spPr>
          <a:xfrm>
            <a:off x="457200" y="5152644"/>
            <a:ext cx="822960" cy="1110995"/>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52644"/>
            <a:ext cx="822960" cy="1110995"/>
          </a:xfrm>
          <a:prstGeom prst="rect">
            <a:avLst/>
          </a:prstGeom>
          <a:noFill/>
        </p:spPr>
        <p:txBody>
          <a:bodyPr wrap="square" anchor="ctr" lIns="0" rIns="0" tIns="0" bIns="0">
            <a:spAutoFit/>
          </a:bodyPr>
          <a:lstStyle/>
          <a:p>
            <a:pPr algn="ctr"/>
            <a:r>
              <a:rPr sz="2600" b="1" i="0">
                <a:solidFill>
                  <a:srgbClr val="FFFFFF"/>
                </a:solidFill>
                <a:latin typeface="Geist Mono"/>
              </a:rPr>
              <a:t>4</a:t>
            </a:r>
          </a:p>
        </p:txBody>
      </p:sp>
      <p:sp>
        <p:nvSpPr>
          <p:cNvPr id="21" name="TextBox 20"/>
          <p:cNvSpPr txBox="1"/>
          <p:nvPr/>
        </p:nvSpPr>
        <p:spPr>
          <a:xfrm>
            <a:off x="1508760" y="5152644"/>
            <a:ext cx="2194560" cy="1110995"/>
          </a:xfrm>
          <a:prstGeom prst="rect">
            <a:avLst/>
          </a:prstGeom>
          <a:noFill/>
        </p:spPr>
        <p:txBody>
          <a:bodyPr wrap="square" anchor="ctr" lIns="0" rIns="0" tIns="0" bIns="0">
            <a:spAutoFit/>
          </a:bodyPr>
          <a:lstStyle/>
          <a:p>
            <a:pPr algn="l"/>
            <a:r>
              <a:rPr sz="1700" b="1" i="0">
                <a:solidFill>
                  <a:srgbClr val="8A2BE2"/>
                </a:solidFill>
                <a:latin typeface="Geist Mono"/>
              </a:rPr>
              <a:t>GRADE</a:t>
            </a:r>
          </a:p>
        </p:txBody>
      </p:sp>
      <p:sp>
        <p:nvSpPr>
          <p:cNvPr id="22" name="TextBox 21"/>
          <p:cNvSpPr txBox="1"/>
          <p:nvPr/>
        </p:nvSpPr>
        <p:spPr>
          <a:xfrm>
            <a:off x="3840480" y="5152644"/>
            <a:ext cx="7863840" cy="1110995"/>
          </a:xfrm>
          <a:prstGeom prst="rect">
            <a:avLst/>
          </a:prstGeom>
          <a:noFill/>
        </p:spPr>
        <p:txBody>
          <a:bodyPr wrap="square" anchor="ctr" lIns="0" rIns="0" tIns="0" bIns="0">
            <a:spAutoFit/>
          </a:bodyPr>
          <a:lstStyle/>
          <a:p>
            <a:pPr algn="l"/>
            <a:r>
              <a:rPr sz="1450" b="0" i="0">
                <a:solidFill>
                  <a:srgbClr val="14141C"/>
                </a:solidFill>
                <a:latin typeface="Geist"/>
              </a:rPr>
              <a:t>every number reported on the held-out test set the model never trained on -- no leakage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Predicting heart disease from a checkup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 working risk tool</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roc.png"/>
          <p:cNvPicPr>
            <a:picLocks noChangeAspect="1"/>
          </p:cNvPicPr>
          <p:nvPr/>
        </p:nvPicPr>
        <p:blipFill>
          <a:blip r:embed="rId2"/>
          <a:stretch>
            <a:fillRect/>
          </a:stretch>
        </p:blipFill>
        <p:spPr>
          <a:xfrm>
            <a:off x="698761" y="1051560"/>
            <a:ext cx="5140436" cy="5212079"/>
          </a:xfrm>
          <a:prstGeom prst="rect">
            <a:avLst/>
          </a:prstGeom>
        </p:spPr>
      </p:pic>
      <p:sp>
        <p:nvSpPr>
          <p:cNvPr id="8" name="TextBox 7"/>
          <p:cNvSpPr txBox="1"/>
          <p:nvPr/>
        </p:nvSpPr>
        <p:spPr>
          <a:xfrm>
            <a:off x="6537960" y="1234440"/>
            <a:ext cx="5166360" cy="1188720"/>
          </a:xfrm>
          <a:prstGeom prst="rect">
            <a:avLst/>
          </a:prstGeom>
          <a:noFill/>
        </p:spPr>
        <p:txBody>
          <a:bodyPr wrap="square" anchor="t" lIns="0" rIns="0" tIns="0" bIns="0">
            <a:spAutoFit/>
          </a:bodyPr>
          <a:lstStyle/>
          <a:p>
            <a:pPr algn="l"/>
            <a:r>
              <a:rPr sz="8400" b="1" i="0">
                <a:solidFill>
                  <a:srgbClr val="F0C840"/>
                </a:solidFill>
                <a:latin typeface="Geist Mono"/>
              </a:rPr>
              <a:t>0.90</a:t>
            </a:r>
          </a:p>
        </p:txBody>
      </p:sp>
      <p:sp>
        <p:nvSpPr>
          <p:cNvPr id="9" name="TextBox 8"/>
          <p:cNvSpPr txBox="1"/>
          <p:nvPr/>
        </p:nvSpPr>
        <p:spPr>
          <a:xfrm>
            <a:off x="6537960" y="2468880"/>
            <a:ext cx="5166360" cy="457200"/>
          </a:xfrm>
          <a:prstGeom prst="rect">
            <a:avLst/>
          </a:prstGeom>
          <a:noFill/>
        </p:spPr>
        <p:txBody>
          <a:bodyPr wrap="square" anchor="t" lIns="0" rIns="0" tIns="0" bIns="0">
            <a:spAutoFit/>
          </a:bodyPr>
          <a:lstStyle/>
          <a:p>
            <a:pPr algn="l"/>
            <a:r>
              <a:rPr sz="1700" b="1" i="0">
                <a:solidFill>
                  <a:srgbClr val="14141C"/>
                </a:solidFill>
                <a:latin typeface="Geist Mono"/>
              </a:rPr>
              <a:t>AUC -- the area under the ROC curve</a:t>
            </a:r>
          </a:p>
        </p:txBody>
      </p:sp>
      <p:sp>
        <p:nvSpPr>
          <p:cNvPr id="10" name="TextBox 9"/>
          <p:cNvSpPr txBox="1"/>
          <p:nvPr/>
        </p:nvSpPr>
        <p:spPr>
          <a:xfrm>
            <a:off x="6537960" y="3063240"/>
            <a:ext cx="5166360" cy="1234440"/>
          </a:xfrm>
          <a:prstGeom prst="rect">
            <a:avLst/>
          </a:prstGeom>
          <a:noFill/>
        </p:spPr>
        <p:txBody>
          <a:bodyPr wrap="square" anchor="t" lIns="0" rIns="0" tIns="0" bIns="0">
            <a:spAutoFit/>
          </a:bodyPr>
          <a:lstStyle/>
          <a:p>
            <a:pPr algn="l"/>
            <a:r>
              <a:rPr sz="1500" b="0" i="0">
                <a:solidFill>
                  <a:srgbClr val="14141C"/>
                </a:solidFill>
                <a:latin typeface="Geist"/>
              </a:rPr>
              <a:t>The ROC curve sweeps every cut-off and plots disease caught against false alarms. AUC is the area underneath.</a:t>
            </a:r>
          </a:p>
        </p:txBody>
      </p:sp>
      <p:sp>
        <p:nvSpPr>
          <p:cNvPr id="11" name="TextBox 10"/>
          <p:cNvSpPr txBox="1"/>
          <p:nvPr/>
        </p:nvSpPr>
        <p:spPr>
          <a:xfrm>
            <a:off x="6537960" y="4297680"/>
            <a:ext cx="5166360" cy="457200"/>
          </a:xfrm>
          <a:prstGeom prst="rect">
            <a:avLst/>
          </a:prstGeom>
          <a:noFill/>
        </p:spPr>
        <p:txBody>
          <a:bodyPr wrap="square" anchor="t" lIns="0" rIns="0" tIns="0" bIns="0">
            <a:spAutoFit/>
          </a:bodyPr>
          <a:lstStyle/>
          <a:p>
            <a:pPr algn="l"/>
            <a:r>
              <a:rPr sz="1500" b="1" i="0">
                <a:solidFill>
                  <a:srgbClr val="8A2BE2"/>
                </a:solidFill>
                <a:latin typeface="Geist Mono"/>
              </a:rPr>
              <a:t>0.5 = a coin flip     1.0 = perfect</a:t>
            </a:r>
          </a:p>
        </p:txBody>
      </p:sp>
      <p:sp>
        <p:nvSpPr>
          <p:cNvPr id="12" name="TextBox 11"/>
          <p:cNvSpPr txBox="1"/>
          <p:nvPr/>
        </p:nvSpPr>
        <p:spPr>
          <a:xfrm>
            <a:off x="6537960" y="4846320"/>
            <a:ext cx="5166360" cy="731520"/>
          </a:xfrm>
          <a:prstGeom prst="rect">
            <a:avLst/>
          </a:prstGeom>
          <a:noFill/>
        </p:spPr>
        <p:txBody>
          <a:bodyPr wrap="square" anchor="t" lIns="0" rIns="0" tIns="0" bIns="0">
            <a:spAutoFit/>
          </a:bodyPr>
          <a:lstStyle/>
          <a:p>
            <a:pPr algn="l"/>
            <a:r>
              <a:rPr sz="1500" b="0" i="1">
                <a:solidFill>
                  <a:srgbClr val="14141C"/>
                </a:solidFill>
                <a:latin typeface="Geist"/>
              </a:rPr>
              <a:t>Plain accuracy was only 0.81 -- AUC credits the tool for ranking the sickest patients first.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Which clues drive the call</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shap_importance.png"/>
          <p:cNvPicPr>
            <a:picLocks noChangeAspect="1"/>
          </p:cNvPicPr>
          <p:nvPr/>
        </p:nvPicPr>
        <p:blipFill>
          <a:blip r:embed="rId2"/>
          <a:stretch>
            <a:fillRect/>
          </a:stretch>
        </p:blipFill>
        <p:spPr>
          <a:xfrm>
            <a:off x="612208" y="1143000"/>
            <a:ext cx="5538486" cy="5029199"/>
          </a:xfrm>
          <a:prstGeom prst="rect">
            <a:avLst/>
          </a:prstGeom>
        </p:spPr>
      </p:pic>
      <p:sp>
        <p:nvSpPr>
          <p:cNvPr id="8" name="Rectangle 7"/>
          <p:cNvSpPr/>
          <p:nvPr/>
        </p:nvSpPr>
        <p:spPr>
          <a:xfrm>
            <a:off x="6671462" y="1143000"/>
            <a:ext cx="128016" cy="9326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5782" y="1143000"/>
            <a:ext cx="1463040" cy="932688"/>
          </a:xfrm>
          <a:prstGeom prst="rect">
            <a:avLst/>
          </a:prstGeom>
          <a:noFill/>
        </p:spPr>
        <p:txBody>
          <a:bodyPr wrap="square" anchor="ctr" lIns="0" rIns="0" tIns="0" bIns="0">
            <a:spAutoFit/>
          </a:bodyPr>
          <a:lstStyle/>
          <a:p>
            <a:pPr algn="l"/>
            <a:r>
              <a:rPr sz="3000" b="1" i="0">
                <a:solidFill>
                  <a:srgbClr val="40E0D0"/>
                </a:solidFill>
                <a:latin typeface="Geist Mono"/>
              </a:rPr>
              <a:t>ca</a:t>
            </a:r>
          </a:p>
        </p:txBody>
      </p:sp>
      <p:sp>
        <p:nvSpPr>
          <p:cNvPr id="10" name="TextBox 9"/>
          <p:cNvSpPr txBox="1"/>
          <p:nvPr/>
        </p:nvSpPr>
        <p:spPr>
          <a:xfrm>
            <a:off x="8454542" y="1143000"/>
            <a:ext cx="3249777" cy="932688"/>
          </a:xfrm>
          <a:prstGeom prst="rect">
            <a:avLst/>
          </a:prstGeom>
          <a:noFill/>
        </p:spPr>
        <p:txBody>
          <a:bodyPr wrap="square" anchor="ctr" lIns="0" rIns="0" tIns="0" bIns="0">
            <a:spAutoFit/>
          </a:bodyPr>
          <a:lstStyle/>
          <a:p>
            <a:pPr algn="l"/>
            <a:r>
              <a:rPr sz="1350" b="0" i="0">
                <a:solidFill>
                  <a:srgbClr val="14141C"/>
                </a:solidFill>
                <a:latin typeface="Geist"/>
              </a:rPr>
              <a:t>vessels seen on imaging -- the top signal</a:t>
            </a:r>
          </a:p>
        </p:txBody>
      </p:sp>
      <p:sp>
        <p:nvSpPr>
          <p:cNvPr id="11" name="Rectangle 10"/>
          <p:cNvSpPr/>
          <p:nvPr/>
        </p:nvSpPr>
        <p:spPr>
          <a:xfrm>
            <a:off x="6671462" y="2185416"/>
            <a:ext cx="128016" cy="9326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5782" y="2185416"/>
            <a:ext cx="1463040" cy="932688"/>
          </a:xfrm>
          <a:prstGeom prst="rect">
            <a:avLst/>
          </a:prstGeom>
          <a:noFill/>
        </p:spPr>
        <p:txBody>
          <a:bodyPr wrap="square" anchor="ctr" lIns="0" rIns="0" tIns="0" bIns="0">
            <a:spAutoFit/>
          </a:bodyPr>
          <a:lstStyle/>
          <a:p>
            <a:pPr algn="l"/>
            <a:r>
              <a:rPr sz="3000" b="1" i="0">
                <a:solidFill>
                  <a:srgbClr val="FF1493"/>
                </a:solidFill>
                <a:latin typeface="Geist Mono"/>
              </a:rPr>
              <a:t>thal</a:t>
            </a:r>
          </a:p>
        </p:txBody>
      </p:sp>
      <p:sp>
        <p:nvSpPr>
          <p:cNvPr id="13" name="TextBox 12"/>
          <p:cNvSpPr txBox="1"/>
          <p:nvPr/>
        </p:nvSpPr>
        <p:spPr>
          <a:xfrm>
            <a:off x="8454542" y="2185416"/>
            <a:ext cx="3249777" cy="932688"/>
          </a:xfrm>
          <a:prstGeom prst="rect">
            <a:avLst/>
          </a:prstGeom>
          <a:noFill/>
        </p:spPr>
        <p:txBody>
          <a:bodyPr wrap="square" anchor="ctr" lIns="0" rIns="0" tIns="0" bIns="0">
            <a:spAutoFit/>
          </a:bodyPr>
          <a:lstStyle/>
          <a:p>
            <a:pPr algn="l"/>
            <a:r>
              <a:rPr sz="1350" b="0" i="0">
                <a:solidFill>
                  <a:srgbClr val="14141C"/>
                </a:solidFill>
                <a:latin typeface="Geist"/>
              </a:rPr>
              <a:t>a heart stress-test result</a:t>
            </a:r>
          </a:p>
        </p:txBody>
      </p:sp>
      <p:sp>
        <p:nvSpPr>
          <p:cNvPr id="14" name="Rectangle 13"/>
          <p:cNvSpPr/>
          <p:nvPr/>
        </p:nvSpPr>
        <p:spPr>
          <a:xfrm>
            <a:off x="6671462" y="3227832"/>
            <a:ext cx="128016" cy="9326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5782" y="3227832"/>
            <a:ext cx="1463040" cy="932688"/>
          </a:xfrm>
          <a:prstGeom prst="rect">
            <a:avLst/>
          </a:prstGeom>
          <a:noFill/>
        </p:spPr>
        <p:txBody>
          <a:bodyPr wrap="square" anchor="ctr" lIns="0" rIns="0" tIns="0" bIns="0">
            <a:spAutoFit/>
          </a:bodyPr>
          <a:lstStyle/>
          <a:p>
            <a:pPr algn="l"/>
            <a:r>
              <a:rPr sz="3000" b="1" i="0">
                <a:solidFill>
                  <a:srgbClr val="F0C840"/>
                </a:solidFill>
                <a:latin typeface="Geist Mono"/>
              </a:rPr>
              <a:t>cp</a:t>
            </a:r>
          </a:p>
        </p:txBody>
      </p:sp>
      <p:sp>
        <p:nvSpPr>
          <p:cNvPr id="16" name="TextBox 15"/>
          <p:cNvSpPr txBox="1"/>
          <p:nvPr/>
        </p:nvSpPr>
        <p:spPr>
          <a:xfrm>
            <a:off x="8454542" y="3227832"/>
            <a:ext cx="3249777" cy="932688"/>
          </a:xfrm>
          <a:prstGeom prst="rect">
            <a:avLst/>
          </a:prstGeom>
          <a:noFill/>
        </p:spPr>
        <p:txBody>
          <a:bodyPr wrap="square" anchor="ctr" lIns="0" rIns="0" tIns="0" bIns="0">
            <a:spAutoFit/>
          </a:bodyPr>
          <a:lstStyle/>
          <a:p>
            <a:pPr algn="l"/>
            <a:r>
              <a:rPr sz="1350" b="0" i="0">
                <a:solidFill>
                  <a:srgbClr val="14141C"/>
                </a:solidFill>
                <a:latin typeface="Geist"/>
              </a:rPr>
              <a:t>chest-pain type -- the cue a cardiologist weighs</a:t>
            </a:r>
          </a:p>
        </p:txBody>
      </p:sp>
      <p:sp>
        <p:nvSpPr>
          <p:cNvPr id="17" name="Rectangle 16"/>
          <p:cNvSpPr/>
          <p:nvPr/>
        </p:nvSpPr>
        <p:spPr>
          <a:xfrm>
            <a:off x="6671462" y="4270248"/>
            <a:ext cx="5032857" cy="1810511"/>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0062" y="4270248"/>
            <a:ext cx="4575657" cy="1810511"/>
          </a:xfrm>
          <a:prstGeom prst="rect">
            <a:avLst/>
          </a:prstGeom>
          <a:noFill/>
        </p:spPr>
        <p:txBody>
          <a:bodyPr wrap="square" anchor="ctr" lIns="0" rIns="0" tIns="0" bIns="0">
            <a:spAutoFit/>
          </a:bodyPr>
          <a:lstStyle/>
          <a:p>
            <a:pPr algn="l"/>
            <a:r>
              <a:rPr sz="1450" b="0" i="1">
                <a:solidFill>
                  <a:srgbClr val="FFFFFF"/>
                </a:solidFill>
                <a:latin typeface="Geist"/>
              </a:rPr>
              <a:t>And cholesterol (chol) sits near the bottom -- a real surprise we test next.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Cholesterol alone is a weak clue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feature_ablation.png"/>
          <p:cNvPicPr>
            <a:picLocks noChangeAspect="1"/>
          </p:cNvPicPr>
          <p:nvPr/>
        </p:nvPicPr>
        <p:blipFill>
          <a:blip r:embed="rId2"/>
          <a:stretch>
            <a:fillRect/>
          </a:stretch>
        </p:blipFill>
        <p:spPr>
          <a:xfrm>
            <a:off x="457200" y="1453784"/>
            <a:ext cx="6298387" cy="4407631"/>
          </a:xfrm>
          <a:prstGeom prst="rect">
            <a:avLst/>
          </a:prstGeom>
        </p:spPr>
      </p:pic>
      <p:sp>
        <p:nvSpPr>
          <p:cNvPr id="8" name="Rectangle 7"/>
          <p:cNvSpPr/>
          <p:nvPr/>
        </p:nvSpPr>
        <p:spPr>
          <a:xfrm>
            <a:off x="7167067" y="1234440"/>
            <a:ext cx="4537252" cy="13716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3099" y="1344168"/>
            <a:ext cx="4025188" cy="713232"/>
          </a:xfrm>
          <a:prstGeom prst="rect">
            <a:avLst/>
          </a:prstGeom>
          <a:noFill/>
        </p:spPr>
        <p:txBody>
          <a:bodyPr wrap="square" anchor="t" lIns="0" rIns="0" tIns="0" bIns="0">
            <a:spAutoFit/>
          </a:bodyPr>
          <a:lstStyle/>
          <a:p>
            <a:pPr algn="l"/>
            <a:r>
              <a:rPr sz="4000" b="1" i="0">
                <a:solidFill>
                  <a:srgbClr val="14141C"/>
                </a:solidFill>
                <a:latin typeface="Geist Mono"/>
              </a:rPr>
              <a:t>0.52</a:t>
            </a:r>
          </a:p>
        </p:txBody>
      </p:sp>
      <p:sp>
        <p:nvSpPr>
          <p:cNvPr id="10" name="TextBox 9"/>
          <p:cNvSpPr txBox="1"/>
          <p:nvPr/>
        </p:nvSpPr>
        <p:spPr>
          <a:xfrm>
            <a:off x="7423099" y="2075688"/>
            <a:ext cx="4025188" cy="457200"/>
          </a:xfrm>
          <a:prstGeom prst="rect">
            <a:avLst/>
          </a:prstGeom>
          <a:noFill/>
        </p:spPr>
        <p:txBody>
          <a:bodyPr wrap="square" anchor="t" lIns="0" rIns="0" tIns="0" bIns="0">
            <a:spAutoFit/>
          </a:bodyPr>
          <a:lstStyle/>
          <a:p>
            <a:pPr algn="l"/>
            <a:r>
              <a:rPr sz="1400" b="0" i="0">
                <a:solidFill>
                  <a:srgbClr val="14141C"/>
                </a:solidFill>
                <a:latin typeface="Geist"/>
              </a:rPr>
              <a:t>cholesterol ALONE -- barely better than a coin flip</a:t>
            </a:r>
          </a:p>
        </p:txBody>
      </p:sp>
      <p:sp>
        <p:nvSpPr>
          <p:cNvPr id="11" name="Rectangle 10"/>
          <p:cNvSpPr/>
          <p:nvPr/>
        </p:nvSpPr>
        <p:spPr>
          <a:xfrm>
            <a:off x="7167067" y="2770632"/>
            <a:ext cx="4537252" cy="13716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3099" y="2880360"/>
            <a:ext cx="4025188" cy="713232"/>
          </a:xfrm>
          <a:prstGeom prst="rect">
            <a:avLst/>
          </a:prstGeom>
          <a:noFill/>
        </p:spPr>
        <p:txBody>
          <a:bodyPr wrap="square" anchor="t" lIns="0" rIns="0" tIns="0" bIns="0">
            <a:spAutoFit/>
          </a:bodyPr>
          <a:lstStyle/>
          <a:p>
            <a:pPr algn="l"/>
            <a:r>
              <a:rPr sz="4000" b="1" i="0">
                <a:solidFill>
                  <a:srgbClr val="14141C"/>
                </a:solidFill>
                <a:latin typeface="Geist Mono"/>
              </a:rPr>
              <a:t>0.80</a:t>
            </a:r>
          </a:p>
        </p:txBody>
      </p:sp>
      <p:sp>
        <p:nvSpPr>
          <p:cNvPr id="13" name="TextBox 12"/>
          <p:cNvSpPr txBox="1"/>
          <p:nvPr/>
        </p:nvSpPr>
        <p:spPr>
          <a:xfrm>
            <a:off x="7423099" y="3611880"/>
            <a:ext cx="4025188" cy="457200"/>
          </a:xfrm>
          <a:prstGeom prst="rect">
            <a:avLst/>
          </a:prstGeom>
          <a:noFill/>
        </p:spPr>
        <p:txBody>
          <a:bodyPr wrap="square" anchor="t" lIns="0" rIns="0" tIns="0" bIns="0">
            <a:spAutoFit/>
          </a:bodyPr>
          <a:lstStyle/>
          <a:p>
            <a:pPr algn="l"/>
            <a:r>
              <a:rPr sz="1400" b="0" i="0">
                <a:solidFill>
                  <a:srgbClr val="14141C"/>
                </a:solidFill>
                <a:latin typeface="Geist"/>
              </a:rPr>
              <a:t>the checkup WITHOUT cholesterol -- still strong</a:t>
            </a:r>
          </a:p>
        </p:txBody>
      </p:sp>
      <p:sp>
        <p:nvSpPr>
          <p:cNvPr id="14" name="TextBox 13"/>
          <p:cNvSpPr txBox="1"/>
          <p:nvPr/>
        </p:nvSpPr>
        <p:spPr>
          <a:xfrm>
            <a:off x="7167067" y="4389120"/>
            <a:ext cx="4537252" cy="914400"/>
          </a:xfrm>
          <a:prstGeom prst="rect">
            <a:avLst/>
          </a:prstGeom>
          <a:noFill/>
        </p:spPr>
        <p:txBody>
          <a:bodyPr wrap="square" anchor="t" lIns="0" rIns="0" tIns="0" bIns="0">
            <a:spAutoFit/>
          </a:bodyPr>
          <a:lstStyle/>
          <a:p>
            <a:pPr algn="l"/>
            <a:r>
              <a:rPr sz="1500" b="0" i="1">
                <a:solidFill>
                  <a:srgbClr val="14141C"/>
                </a:solidFill>
                <a:latin typeface="Geist"/>
              </a:rPr>
              <a:t>Causing disease slowly is not the same as detecting it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Does it work for women and men?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pic>
        <p:nvPicPr>
          <p:cNvPr id="7" name="Picture 6" descr="fairness_by_sex.png"/>
          <p:cNvPicPr>
            <a:picLocks noChangeAspect="1"/>
          </p:cNvPicPr>
          <p:nvPr/>
        </p:nvPicPr>
        <p:blipFill>
          <a:blip r:embed="rId2"/>
          <a:stretch>
            <a:fillRect/>
          </a:stretch>
        </p:blipFill>
        <p:spPr>
          <a:xfrm>
            <a:off x="457200" y="1974172"/>
            <a:ext cx="6073444" cy="3366855"/>
          </a:xfrm>
          <a:prstGeom prst="rect">
            <a:avLst/>
          </a:prstGeom>
        </p:spPr>
      </p:pic>
      <p:sp>
        <p:nvSpPr>
          <p:cNvPr id="8" name="Rectangle 7"/>
          <p:cNvSpPr/>
          <p:nvPr/>
        </p:nvSpPr>
        <p:spPr>
          <a:xfrm>
            <a:off x="6942124" y="1143000"/>
            <a:ext cx="4762195" cy="128016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98156" y="1234440"/>
            <a:ext cx="4250131" cy="777240"/>
          </a:xfrm>
          <a:prstGeom prst="rect">
            <a:avLst/>
          </a:prstGeom>
          <a:noFill/>
        </p:spPr>
        <p:txBody>
          <a:bodyPr wrap="square" anchor="ctr" lIns="0" rIns="0" tIns="0" bIns="0">
            <a:spAutoFit/>
          </a:bodyPr>
          <a:lstStyle/>
          <a:p>
            <a:pPr algn="l"/>
            <a:r>
              <a:rPr sz="3800" b="1" i="0">
                <a:solidFill>
                  <a:srgbClr val="FFFFFF"/>
                </a:solidFill>
                <a:latin typeface="Geist Mono"/>
              </a:rPr>
              <a:t>0.88</a:t>
            </a:r>
          </a:p>
        </p:txBody>
      </p:sp>
      <p:sp>
        <p:nvSpPr>
          <p:cNvPr id="10" name="TextBox 9"/>
          <p:cNvSpPr txBox="1"/>
          <p:nvPr/>
        </p:nvSpPr>
        <p:spPr>
          <a:xfrm>
            <a:off x="7198156" y="1965960"/>
            <a:ext cx="4250131" cy="411480"/>
          </a:xfrm>
          <a:prstGeom prst="rect">
            <a:avLst/>
          </a:prstGeom>
          <a:noFill/>
        </p:spPr>
        <p:txBody>
          <a:bodyPr wrap="square" anchor="t" lIns="0" rIns="0" tIns="0" bIns="0">
            <a:spAutoFit/>
          </a:bodyPr>
          <a:lstStyle/>
          <a:p>
            <a:pPr algn="l"/>
            <a:r>
              <a:rPr sz="1400" b="0" i="0">
                <a:solidFill>
                  <a:srgbClr val="FFFFFF"/>
                </a:solidFill>
                <a:latin typeface="Geist"/>
              </a:rPr>
              <a:t>accuracy for women</a:t>
            </a:r>
          </a:p>
        </p:txBody>
      </p:sp>
      <p:sp>
        <p:nvSpPr>
          <p:cNvPr id="11" name="Rectangle 10"/>
          <p:cNvSpPr/>
          <p:nvPr/>
        </p:nvSpPr>
        <p:spPr>
          <a:xfrm>
            <a:off x="6942124" y="2560320"/>
            <a:ext cx="4762195" cy="128016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98156" y="2651760"/>
            <a:ext cx="4250131" cy="777240"/>
          </a:xfrm>
          <a:prstGeom prst="rect">
            <a:avLst/>
          </a:prstGeom>
          <a:noFill/>
        </p:spPr>
        <p:txBody>
          <a:bodyPr wrap="square" anchor="ctr" lIns="0" rIns="0" tIns="0" bIns="0">
            <a:spAutoFit/>
          </a:bodyPr>
          <a:lstStyle/>
          <a:p>
            <a:pPr algn="l"/>
            <a:r>
              <a:rPr sz="3800" b="1" i="0">
                <a:solidFill>
                  <a:srgbClr val="14141C"/>
                </a:solidFill>
                <a:latin typeface="Geist Mono"/>
              </a:rPr>
              <a:t>0.78</a:t>
            </a:r>
          </a:p>
        </p:txBody>
      </p:sp>
      <p:sp>
        <p:nvSpPr>
          <p:cNvPr id="13" name="TextBox 12"/>
          <p:cNvSpPr txBox="1"/>
          <p:nvPr/>
        </p:nvSpPr>
        <p:spPr>
          <a:xfrm>
            <a:off x="7198156" y="3383280"/>
            <a:ext cx="4250131" cy="411480"/>
          </a:xfrm>
          <a:prstGeom prst="rect">
            <a:avLst/>
          </a:prstGeom>
          <a:noFill/>
        </p:spPr>
        <p:txBody>
          <a:bodyPr wrap="square" anchor="t" lIns="0" rIns="0" tIns="0" bIns="0">
            <a:spAutoFit/>
          </a:bodyPr>
          <a:lstStyle/>
          <a:p>
            <a:pPr algn="l"/>
            <a:r>
              <a:rPr sz="1400" b="0" i="0">
                <a:solidFill>
                  <a:srgbClr val="14141C"/>
                </a:solidFill>
                <a:latin typeface="Geist"/>
              </a:rPr>
              <a:t>accuracy for men</a:t>
            </a:r>
          </a:p>
        </p:txBody>
      </p:sp>
      <p:sp>
        <p:nvSpPr>
          <p:cNvPr id="14" name="TextBox 13"/>
          <p:cNvSpPr txBox="1"/>
          <p:nvPr/>
        </p:nvSpPr>
        <p:spPr>
          <a:xfrm>
            <a:off x="6942124" y="4160520"/>
            <a:ext cx="4762195" cy="1188720"/>
          </a:xfrm>
          <a:prstGeom prst="rect">
            <a:avLst/>
          </a:prstGeom>
          <a:noFill/>
        </p:spPr>
        <p:txBody>
          <a:bodyPr wrap="square" anchor="t" lIns="0" rIns="0" tIns="0" bIns="0">
            <a:spAutoFit/>
          </a:bodyPr>
          <a:lstStyle/>
          <a:p>
            <a:pPr algn="l"/>
            <a:r>
              <a:rPr sz="1500" b="0" i="1">
                <a:solidFill>
                  <a:srgbClr val="14141C"/>
                </a:solidFill>
                <a:latin typeface="Geist"/>
              </a:rPr>
              <a:t>A 0.09 gap -- and the honest cause is the 2:1 male data. One overall number would have hidden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HONEST PICTURE</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Predicting heart disease from a checkup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it can and cannot do</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sp>
        <p:nvSpPr>
          <p:cNvPr id="7" name="Rectangle 6"/>
          <p:cNvSpPr/>
          <p:nvPr/>
        </p:nvSpPr>
        <p:spPr>
          <a:xfrm>
            <a:off x="50292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00200"/>
            <a:ext cx="3023616" cy="457200"/>
          </a:xfrm>
          <a:prstGeom prst="rect">
            <a:avLst/>
          </a:prstGeom>
          <a:noFill/>
        </p:spPr>
        <p:txBody>
          <a:bodyPr wrap="square" anchor="t" lIns="0" rIns="0" tIns="0" bIns="0">
            <a:spAutoFit/>
          </a:bodyPr>
          <a:lstStyle/>
          <a:p>
            <a:pPr algn="l"/>
            <a:r>
              <a:rPr sz="1700" b="1" i="0">
                <a:solidFill>
                  <a:srgbClr val="40E0D0"/>
                </a:solidFill>
                <a:latin typeface="Geist Mono"/>
              </a:rPr>
              <a:t>IT WORKS</a:t>
            </a:r>
          </a:p>
        </p:txBody>
      </p:sp>
      <p:sp>
        <p:nvSpPr>
          <p:cNvPr id="11" name="TextBox 10"/>
          <p:cNvSpPr txBox="1"/>
          <p:nvPr/>
        </p:nvSpPr>
        <p:spPr>
          <a:xfrm>
            <a:off x="71323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A real risk tool on real checkup data: AUC 0.90, leaning on the same cues (ca, thal, chest-pain type) a cardiologist uses.</a:t>
            </a:r>
          </a:p>
        </p:txBody>
      </p:sp>
      <p:sp>
        <p:nvSpPr>
          <p:cNvPr id="12" name="Rectangle 11"/>
          <p:cNvSpPr/>
          <p:nvPr/>
        </p:nvSpPr>
        <p:spPr>
          <a:xfrm>
            <a:off x="45720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349240"/>
            <a:ext cx="3023616" cy="548640"/>
          </a:xfrm>
          <a:prstGeom prst="rect">
            <a:avLst/>
          </a:prstGeom>
          <a:noFill/>
        </p:spPr>
        <p:txBody>
          <a:bodyPr wrap="square" anchor="ctr" lIns="0" rIns="0" tIns="0" bIns="0">
            <a:spAutoFit/>
          </a:bodyPr>
          <a:lstStyle/>
          <a:p>
            <a:pPr algn="l"/>
            <a:r>
              <a:rPr sz="1500" b="1" i="0">
                <a:solidFill>
                  <a:srgbClr val="40E0D0"/>
                </a:solidFill>
                <a:latin typeface="Geist Mono"/>
              </a:rPr>
              <a:t>AUC 0.90</a:t>
            </a:r>
          </a:p>
        </p:txBody>
      </p:sp>
      <p:sp>
        <p:nvSpPr>
          <p:cNvPr id="14" name="Rectangle 13"/>
          <p:cNvSpPr/>
          <p:nvPr/>
        </p:nvSpPr>
        <p:spPr>
          <a:xfrm>
            <a:off x="435864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1600200"/>
            <a:ext cx="3023616" cy="457200"/>
          </a:xfrm>
          <a:prstGeom prst="rect">
            <a:avLst/>
          </a:prstGeom>
          <a:noFill/>
        </p:spPr>
        <p:txBody>
          <a:bodyPr wrap="square" anchor="t" lIns="0" rIns="0" tIns="0" bIns="0">
            <a:spAutoFit/>
          </a:bodyPr>
          <a:lstStyle/>
          <a:p>
            <a:pPr algn="l"/>
            <a:r>
              <a:rPr sz="1700" b="1" i="0">
                <a:solidFill>
                  <a:srgbClr val="FF1493"/>
                </a:solidFill>
                <a:latin typeface="Geist Mono"/>
              </a:rPr>
              <a:t>BUT IT IS SKEWED</a:t>
            </a:r>
          </a:p>
        </p:txBody>
      </p:sp>
      <p:sp>
        <p:nvSpPr>
          <p:cNvPr id="18" name="TextBox 17"/>
          <p:cNvSpPr txBox="1"/>
          <p:nvPr/>
        </p:nvSpPr>
        <p:spPr>
          <a:xfrm>
            <a:off x="456895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The accuracy gap by sex is real, and the data is about 2:1 male -- so it may serve women worse in the real world.</a:t>
            </a:r>
          </a:p>
        </p:txBody>
      </p:sp>
      <p:sp>
        <p:nvSpPr>
          <p:cNvPr id="19" name="Rectangle 18"/>
          <p:cNvSpPr/>
          <p:nvPr/>
        </p:nvSpPr>
        <p:spPr>
          <a:xfrm>
            <a:off x="431292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8952" y="5349240"/>
            <a:ext cx="3023616" cy="548640"/>
          </a:xfrm>
          <a:prstGeom prst="rect">
            <a:avLst/>
          </a:prstGeom>
          <a:noFill/>
        </p:spPr>
        <p:txBody>
          <a:bodyPr wrap="square" anchor="ctr" lIns="0" rIns="0" tIns="0" bIns="0">
            <a:spAutoFit/>
          </a:bodyPr>
          <a:lstStyle/>
          <a:p>
            <a:pPr algn="l"/>
            <a:r>
              <a:rPr sz="1500" b="1" i="0">
                <a:solidFill>
                  <a:srgbClr val="FF1493"/>
                </a:solidFill>
                <a:latin typeface="Geist Mono"/>
              </a:rPr>
              <a:t>0.09 gap by sex</a:t>
            </a:r>
          </a:p>
        </p:txBody>
      </p:sp>
      <p:sp>
        <p:nvSpPr>
          <p:cNvPr id="21" name="Rectangle 20"/>
          <p:cNvSpPr/>
          <p:nvPr/>
        </p:nvSpPr>
        <p:spPr>
          <a:xfrm>
            <a:off x="821436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6864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4672" y="1600200"/>
            <a:ext cx="3023616" cy="457200"/>
          </a:xfrm>
          <a:prstGeom prst="rect">
            <a:avLst/>
          </a:prstGeom>
          <a:noFill/>
        </p:spPr>
        <p:txBody>
          <a:bodyPr wrap="square" anchor="t" lIns="0" rIns="0" tIns="0" bIns="0">
            <a:spAutoFit/>
          </a:bodyPr>
          <a:lstStyle/>
          <a:p>
            <a:pPr algn="l"/>
            <a:r>
              <a:rPr sz="1700" b="1" i="0">
                <a:solidFill>
                  <a:srgbClr val="8A2BE2"/>
                </a:solidFill>
                <a:latin typeface="Geist Mono"/>
              </a:rPr>
              <a:t>A REAL TOOL</a:t>
            </a:r>
          </a:p>
        </p:txBody>
      </p:sp>
      <p:sp>
        <p:nvSpPr>
          <p:cNvPr id="25" name="TextBox 24"/>
          <p:cNvSpPr txBox="1"/>
          <p:nvPr/>
        </p:nvSpPr>
        <p:spPr>
          <a:xfrm>
            <a:off x="842467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Would use today's diverse patients, a sex-specific design, multi-hospital validation, and a clinician in the loop.</a:t>
            </a:r>
          </a:p>
        </p:txBody>
      </p:sp>
      <p:sp>
        <p:nvSpPr>
          <p:cNvPr id="26" name="Rectangle 25"/>
          <p:cNvSpPr/>
          <p:nvPr/>
        </p:nvSpPr>
        <p:spPr>
          <a:xfrm>
            <a:off x="816864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24672" y="5349240"/>
            <a:ext cx="3023616" cy="548640"/>
          </a:xfrm>
          <a:prstGeom prst="rect">
            <a:avLst/>
          </a:prstGeom>
          <a:noFill/>
        </p:spPr>
        <p:txBody>
          <a:bodyPr wrap="square" anchor="ctr" lIns="0" rIns="0" tIns="0" bIns="0">
            <a:spAutoFit/>
          </a:bodyPr>
          <a:lstStyle/>
          <a:p>
            <a:pPr algn="l"/>
            <a:r>
              <a:rPr sz="1500" b="1" i="0">
                <a:solidFill>
                  <a:srgbClr val="8A2BE2"/>
                </a:solidFill>
                <a:latin typeface="Geist Mono"/>
              </a:rPr>
              <a:t>not ready for a patient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sp>
        <p:nvSpPr>
          <p:cNvPr id="7" name="TextBox 6"/>
          <p:cNvSpPr txBox="1"/>
          <p:nvPr/>
        </p:nvSpPr>
        <p:spPr>
          <a:xfrm>
            <a:off x="457200" y="1097280"/>
            <a:ext cx="5349240" cy="365760"/>
          </a:xfrm>
          <a:prstGeom prst="rect">
            <a:avLst/>
          </a:prstGeom>
          <a:noFill/>
        </p:spPr>
        <p:txBody>
          <a:bodyPr wrap="square" anchor="t" lIns="0" rIns="0" tIns="0" bIns="0">
            <a:spAutoFit/>
          </a:bodyPr>
          <a:lstStyle/>
          <a:p>
            <a:pPr algn="l"/>
            <a:r>
              <a:rPr sz="1600" b="1" i="0">
                <a:solidFill>
                  <a:srgbClr val="40E0D0"/>
                </a:solidFill>
                <a:latin typeface="Geist Mono"/>
              </a:rPr>
              <a:t>FOUNDATIONS &amp; DATA</a:t>
            </a:r>
          </a:p>
        </p:txBody>
      </p:sp>
      <p:sp>
        <p:nvSpPr>
          <p:cNvPr id="8" name="TextBox 7"/>
          <p:cNvSpPr txBox="1"/>
          <p:nvPr/>
        </p:nvSpPr>
        <p:spPr>
          <a:xfrm>
            <a:off x="45720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[1] Detrano et al. 1989, Am J Cardiol -- the Cleveland dataset we use.
[2] Wilson et al. 1998, Circulation -- the Framingham Risk Score.
[3] Yusuf et al. 2004, Lancet -- INTERHEART: nine factors, 90% of risk.
[7] UCI Machine Learning Repository -- Heart Disease Data Set.</a:t>
            </a:r>
          </a:p>
        </p:txBody>
      </p:sp>
      <p:sp>
        <p:nvSpPr>
          <p:cNvPr id="9" name="TextBox 8"/>
          <p:cNvSpPr txBox="1"/>
          <p:nvPr/>
        </p:nvSpPr>
        <p:spPr>
          <a:xfrm>
            <a:off x="6355080" y="1097280"/>
            <a:ext cx="5349240" cy="365760"/>
          </a:xfrm>
          <a:prstGeom prst="rect">
            <a:avLst/>
          </a:prstGeom>
          <a:noFill/>
        </p:spPr>
        <p:txBody>
          <a:bodyPr wrap="square" anchor="t" lIns="0" rIns="0" tIns="0" bIns="0">
            <a:spAutoFit/>
          </a:bodyPr>
          <a:lstStyle/>
          <a:p>
            <a:pPr algn="l"/>
            <a:r>
              <a:rPr sz="1600" b="1" i="0">
                <a:solidFill>
                  <a:srgbClr val="FF1493"/>
                </a:solidFill>
                <a:latin typeface="Geist Mono"/>
              </a:rPr>
              <a:t>SEX DIFFERENCES &amp; UNDER-DIAGNOSIS</a:t>
            </a:r>
          </a:p>
        </p:txBody>
      </p:sp>
      <p:sp>
        <p:nvSpPr>
          <p:cNvPr id="10" name="TextBox 9"/>
          <p:cNvSpPr txBox="1"/>
          <p:nvPr/>
        </p:nvSpPr>
        <p:spPr>
          <a:xfrm>
            <a:off x="635508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[4] Mehta et al. 2016, Circulation -- AHA statement on heart attacks in women.
[5] van Oosterhout et al. 2020, JAHA -- sex differences in symptoms.
[6] Bugiardini &amp; Bairey Merz 2005, JAMA -- angina with "normal" arteries.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bottom 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Predicting heart disease from a checkup  ·  2026-07-08</a:t>
            </a:r>
          </a:p>
        </p:txBody>
      </p:sp>
      <p:sp>
        <p:nvSpPr>
          <p:cNvPr id="7" name="TextBox 6"/>
          <p:cNvSpPr txBox="1"/>
          <p:nvPr/>
        </p:nvSpPr>
        <p:spPr>
          <a:xfrm>
            <a:off x="457200" y="2198217"/>
            <a:ext cx="11247120" cy="1371600"/>
          </a:xfrm>
          <a:prstGeom prst="rect">
            <a:avLst/>
          </a:prstGeom>
          <a:noFill/>
        </p:spPr>
        <p:txBody>
          <a:bodyPr wrap="square" anchor="t" lIns="0" rIns="0" tIns="0" bIns="0">
            <a:spAutoFit/>
          </a:bodyPr>
          <a:lstStyle/>
          <a:p>
            <a:pPr algn="ctr"/>
            <a:r>
              <a:rPr sz="3000" b="1" i="0">
                <a:solidFill>
                  <a:srgbClr val="40E0D0"/>
                </a:solidFill>
                <a:latin typeface="Geist Mono"/>
              </a:rPr>
              <a:t>Grade with the right metric. Ask which clues matter. Check who it works for.</a:t>
            </a:r>
          </a:p>
        </p:txBody>
      </p:sp>
      <p:sp>
        <p:nvSpPr>
          <p:cNvPr id="8" name="Rectangle 7"/>
          <p:cNvSpPr/>
          <p:nvPr/>
        </p:nvSpPr>
        <p:spPr>
          <a:xfrm>
            <a:off x="4983480" y="3752697"/>
            <a:ext cx="2194560" cy="457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255617"/>
            <a:ext cx="9418320" cy="1188720"/>
          </a:xfrm>
          <a:prstGeom prst="rect">
            <a:avLst/>
          </a:prstGeom>
          <a:noFill/>
        </p:spPr>
        <p:txBody>
          <a:bodyPr wrap="square" anchor="t" lIns="0" rIns="0" tIns="0" bIns="0">
            <a:spAutoFit/>
          </a:bodyPr>
          <a:lstStyle/>
          <a:p>
            <a:pPr algn="ctr"/>
            <a:r>
              <a:rPr sz="1900" b="0" i="0">
                <a:solidFill>
                  <a:srgbClr val="14141C"/>
                </a:solidFill>
                <a:latin typeface="Geist"/>
              </a:rPr>
              <a:t>That is how a risk tool earns trust. Use this to learn the judgment -- then use a validated, sex-specific tool and a real clinician to actually care for a patient.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