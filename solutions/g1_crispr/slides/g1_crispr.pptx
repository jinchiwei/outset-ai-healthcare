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Background</a:t>
            </a:r>
          </a:p>
          <a:p>
            <a:r>
              <a:rPr b="0" sz="1100">
                <a:latin typeface="Geist"/>
              </a:rPr>
              <a:t>We open with the biology so the modeling lands later. Three ideas to plant here: CRISPR is a 20-letter guided cut, real scientists SCORE a guide from its sequence instead of testing every one, and the seed region next to the PAM matters most. Transition: let's start with what a guide actually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What CRISPR actually is</a:t>
            </a:r>
          </a:p>
          <a:p>
            <a:r>
              <a:rPr b="0" sz="1100">
                <a:latin typeface="Geist"/>
              </a:rPr>
              <a:t>Open concrete and physical. CRISPR-Cas9 is scissors plus a 20-letter address label. Point at the
figure: the turquoise block is the guide/protospacer, the pink block just to its right is the PAM
(always NGG), and Cas9 snips a few letters upstream. Every guide in our dataset is one of these
20-letter strings. Do not mention machine learning yet -- just make sure they can read the picture.
Transition: so how do real scientists decide which 20 letters to use?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How real scientists pick a guide</a:t>
            </a:r>
          </a:p>
          <a:p>
            <a:r>
              <a:rPr b="0" sz="1100">
                <a:latin typeface="Geist"/>
              </a:rPr>
              <a:t>This is the professional context. Real guide selection is a scoring problem, not a guessing game.
Name-drop the three ideas the way the field actually thinks about them: (1) the Doench Rule Set 2 /
Azimuth model scores sequence directly [1][2]; (2) the seed region near the PAM dominates [3][4]; and
(3) modern neural nets like DeepCRISPR push accuracy further with more data [5][6]. Students should
leave knowing the seed idea. Transition: let's look at that seed effect as a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seed region matters most</a:t>
            </a:r>
          </a:p>
          <a:p>
            <a:r>
              <a:rPr b="0" sz="1100">
                <a:latin typeface="Geist"/>
              </a:rPr>
              <a:t>Plant the single most important intuition: the 20 letters are not equal. The chart rises toward the
PAM end -- that block is the seed. This is a redraw of the Zheng 2017 / Doench 2016 finding [4][1].
Tell them to remember the shape, because the payoff slide later shows OUR model reproducing it from
scratch. Transition: now to our actual project -- the task and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Methods</a:t>
            </a:r>
          </a:p>
          <a:p>
            <a:r>
              <a:rPr b="0" sz="1100">
                <a:latin typeface="Geist"/>
              </a:rPr>
              <a:t>Now we turn that biology into a machine-learning task. Coming up: the exact dataset, the class imbalance, and the single decision that dominates everything -- how we turn DNA letters into numbers. Keep the seed idea handy, because it drives the prediction we are about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question we are asking</a:t>
            </a:r>
          </a:p>
          <a:p>
            <a:r>
              <a:rPr b="0" sz="1100">
                <a:latin typeface="Geist"/>
              </a:rPr>
              <a:t>Set up the task in numbers. 5,310 real, lab-measured guides across 17 genes -- the same data behind
the Rule Set 2 model [1]. The number to dwell on is the last one: only about 1 in 5 guides is a good
cutter. That class imbalance is why, two slides from now, we refuse to trust plain accuracy. Say it
out loud: an 'always low' model would be 80 percent accurate and completely useless. Transition: the
first real decision -- how do we hand DNA letters to a model?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Turning letters into numbers</a:t>
            </a:r>
          </a:p>
          <a:p>
            <a:r>
              <a:rPr b="0" sz="1100">
                <a:latin typeface="Geist"/>
              </a:rPr>
              <a:t>The conceptual heart of the project. Featurizing = turning letters into numbers, and the choice
encodes what you think matters. one-hot keeps position (80 numbers); k-mer keeps only counts (21
numbers) and throws order away. The LISTEN/SILENT analogy is the whole lesson in two words: same
letters, different meaning -- order matters. Because the seed is a POSITION effect, we predict one-hot
wins. Make them commit to that prediction before the next slide. Transition: let's test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Results</a:t>
            </a:r>
          </a:p>
          <a:p>
            <a:r>
              <a:rPr b="0" sz="1100">
                <a:latin typeface="Geist"/>
              </a:rPr>
              <a:t>Time for what we found. Three beats here: keeping the letter order (one-hot) wins, why we grade with AUC instead of accuracy, and the payoff -- the model rediscovering the seed on its own. Then a harder task, predicting the exact cutting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Keeping the letter order wins</a:t>
            </a:r>
          </a:p>
          <a:p>
            <a:r>
              <a:rPr b="0" sz="1100">
                <a:latin typeface="Geist"/>
              </a:rPr>
              <a:t>First result, and the transferable one. Same four models, two featurizations; one-hot wins across the
board. The takeaway is bigger than CRISPR: data representation beat model choice. The prediction they
made last slide came true, and for the right reason -- one-hot kept the position information where the
signal lives. Best score is Random Forest on one-hot at AUC 0.77. Transition: wait, why AUC and not
just accuracy?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Why we grade with AUC, not accuracy</a:t>
            </a:r>
          </a:p>
          <a:p>
            <a:r>
              <a:rPr b="0" sz="1100">
                <a:latin typeface="Geist"/>
              </a:rPr>
              <a:t>The judgment slide. On imbalanced data accuracy lies: an 'always low' model scores 80 percent and is
worthless because it never flags a usable guide. AUC sidesteps the trick -- it measures whether the
model RANKS good guides above bad ones, so 0.5 is a coin flip and 1.0 is perfect. Our 0.77 means real
ranking skill. This same trap (accuracy on imbalanced data) shows up everywhere in medical AI, so it
is worth over-teaching. Transition: now the most satisfying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model rediscovered the seed</a:t>
            </a:r>
          </a:p>
          <a:p>
            <a:r>
              <a:rPr b="0" sz="1100">
                <a:latin typeface="Geist"/>
              </a:rPr>
              <a:t>The wow moment -- put it up and pause. We asked a plain logistic-regression model which of the 20
positions it relied on, and the importance peaks at position 20, right at the PAM: the seed. Flip back
to the background seed chart -- same shape. Nobody encoded that; the model recovered decades of CRISPR
biology from sequences and cut-scores alone. Tie it to trust: an explainable model that matches known
science is one clinicians and biologists will believe. Transition: can it predict the exact score,
not just high vs low?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Predicting the exact score</a:t>
            </a:r>
          </a:p>
          <a:p>
            <a:r>
              <a:rPr b="0" sz="1100">
                <a:latin typeface="Geist"/>
              </a:rPr>
              <a:t>Second, harder task: predict the exact 0-to-1 score, not just a yes/no. Explain R-squared plainly --
the fraction of the real variation the model captures, 0 is guessing the mean, 1 is perfect. We get
0.36 (correlation 0.61): a real but loose trend, visible as a tilted cloud around the diagonal. The
honest point: the professional predicted-vs-measured plots scatter just like ours [1][5][6]. Useful
does not mean perfect. Transition: so let's be clear-eyed about what this toy can and cannot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Being honest</a:t>
            </a:r>
          </a:p>
          <a:p>
            <a:r>
              <a:rPr b="0" sz="1100">
                <a:latin typeface="Geist"/>
              </a:rPr>
              <a:t>Good science states its own limits out loud. We lay out what this toy model genuinely shows, what it cannot do, and the off-target-safety question it says nothing about. Then the references and the one-sentence takeaway. This is the section the rubric rewards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What this toy model can and cannot do</a:t>
            </a:r>
          </a:p>
          <a:p>
            <a:r>
              <a:rPr b="0" sz="1100">
                <a:latin typeface="Geist"/>
              </a:rPr>
              <a:t>Model the intellectual honesty the rubric rewards. Green light: it genuinely shows sequence carries
signal and the seed matters, on the pros' own data [1]. Red lights: it will not beat a production tool
and cannot see cell-type or chromatin effects [7]; and crucially it says NOTHING about off-target
safety [8] -- the single most important question for real CRISPR use. State plainly: this builds
intuition, it does not choose a clinical guide. Transition: the papers, then the bottom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References</a:t>
            </a:r>
          </a:p>
          <a:p>
            <a:r>
              <a:rPr b="0" sz="1100">
                <a:latin typeface="Geist"/>
              </a:rPr>
              <a:t>Give credit and show the trail. Left column is the foundation: the two Doench Rule Sets [1][2], the
Hsu/Lander/Zhang review [3], and the Zheng seed paper [4]. Right column is the modern neural-net line
and the surveys [5][6][7][8]. Do not read every line -- point out that [1] gave us the data, [4] is
the seed evidence our model reproduced, and [8] is the off-target-safety gap we cannot address.
Transition: the one sentence to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honest bottom line</a:t>
            </a:r>
          </a:p>
          <a:p>
            <a:r>
              <a:rPr b="0" sz="1100">
                <a:latin typeface="Geist"/>
              </a:rPr>
              <a:t>Land the whole deck on one idea: explainability builds trust. Our toy model earned a little trust by
agreeing with known biology and by being honest about R-squared 0.36 and about off-target safety.
Leave them with the working rule for all of medical AI: a simple model you can explain and honestly
evaluate beats a fancy black box nobody can check. Then use the real tools and the lab to actually
pick a guide. Thank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0"/>
            <a:ext cx="22860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Outset · AI in Healthcare · Day 3 · Group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ist Mono"/>
              </a:rPr>
              <a:t>Predicting good CRISPR guides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7033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E5E5EA"/>
                </a:solidFill>
                <a:latin typeface="Geist"/>
              </a:rPr>
              <a:t>Can a model read 20 letters of DNA and guess how well the molecular scissors will cut?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480559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937759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5440679"/>
            <a:ext cx="3657600" cy="1828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5778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0C840"/>
                </a:solidFill>
                <a:latin typeface="Geist Mono"/>
              </a:rPr>
              <a:t>2026-07-08</a:t>
            </a:r>
          </a:p>
        </p:txBody>
      </p:sp>
      <p:pic>
        <p:nvPicPr>
          <p:cNvPr id="12" name="Picture 11" descr="ucsf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0379" y="5248656"/>
            <a:ext cx="1163329" cy="1152144"/>
          </a:xfrm>
          <a:prstGeom prst="rect">
            <a:avLst/>
          </a:prstGeom>
        </p:spPr>
      </p:pic>
      <p:pic>
        <p:nvPicPr>
          <p:cNvPr id="13" name="Picture 12" descr="cal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2308" y="5413248"/>
            <a:ext cx="1032187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BACKGROUND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Predicting good CRISPR guides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What CRISPR actually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7404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CRISPR-Cas9 is a pair of molecular scissors you aim at one spot in DNA using a short 20-letter guide (the letters are A, C, G, T). Where the guide matches, the scissors cut -- and that cut turns a gene off or repairs a mutation.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pic>
        <p:nvPicPr>
          <p:cNvPr id="8" name="Picture 7" descr="intro_guide_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743" y="1837753"/>
            <a:ext cx="8022032" cy="35114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5468112"/>
            <a:ext cx="94183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14141C"/>
                </a:solidFill>
                <a:latin typeface="Geist"/>
              </a:rPr>
              <a:t>The 20 letters in our dataset ARE this guide sequence. Cas9 locks onto the PAM (the NGG landmark), then cuts a few letters upstream.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How real scientists pick a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7404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Two guides that look almost identical can behave completely differently -- one cutting beautifully, the other barely at all. Testing each one in the lab takes weeks, so scientists predict cutting efficiency from the 20 letters instead of measuring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46897"/>
            <a:ext cx="3535680" cy="4334446"/>
          </a:xfrm>
          <a:prstGeom prst="rect">
            <a:avLst/>
          </a:prstGeom>
          <a:solidFill>
            <a:srgbClr val="E4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92033"/>
            <a:ext cx="3535680" cy="433444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792033"/>
            <a:ext cx="3535680" cy="73152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090576"/>
            <a:ext cx="302361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0E0D0"/>
                </a:solidFill>
                <a:latin typeface="Geist Mono"/>
              </a:rPr>
              <a:t>SCORE, DO NOT EYEBALL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620928"/>
            <a:ext cx="3023616" cy="2231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The go-to tool is Doench 2016 Rule Set 2 / Azimuth, which scores a guide straight from its sequence [1], built on the earlier position-and-PAM rules of Rule Set 1 [2].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8640" y="1846897"/>
            <a:ext cx="3535680" cy="4334446"/>
          </a:xfrm>
          <a:prstGeom prst="rect">
            <a:avLst/>
          </a:prstGeom>
          <a:solidFill>
            <a:srgbClr val="E4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920" y="1792033"/>
            <a:ext cx="3535680" cy="433444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1792033"/>
            <a:ext cx="3535680" cy="73152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8952" y="3090576"/>
            <a:ext cx="302361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1493"/>
                </a:solidFill>
                <a:latin typeface="Geist Mono"/>
              </a:rPr>
              <a:t>THE SEED IS 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8952" y="3620928"/>
            <a:ext cx="3023616" cy="2231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Cas9 grabs a landmark called the PAM, then checks the handful of letters right next to it -- the seed. Guides that mismatch there usually fail to cut [3][4].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14360" y="1846897"/>
            <a:ext cx="3535680" cy="4334446"/>
          </a:xfrm>
          <a:prstGeom prst="rect">
            <a:avLst/>
          </a:prstGeom>
          <a:solidFill>
            <a:srgbClr val="E4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68640" y="1792033"/>
            <a:ext cx="3535680" cy="433444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68640" y="1792033"/>
            <a:ext cx="3535680" cy="73152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4672" y="3090576"/>
            <a:ext cx="302361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A2BE2"/>
                </a:solidFill>
                <a:latin typeface="Geist Mono"/>
              </a:rPr>
              <a:t>NEURAL NETS PUSH FURTHER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4672" y="3620928"/>
            <a:ext cx="3023616" cy="2231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Newer tools like DeepCRISPR learn the same job with a neural network and far more data, beating hand-built rules [5][6].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seed region matters most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493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Not all 20 letters count the same. The letters nearest the PAM -- the seed, roughly positions 13 to 20 -- carry far more of the signal about whether a guide will cut.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pic>
        <p:nvPicPr>
          <p:cNvPr id="8" name="Picture 7" descr="intro_seed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48186"/>
            <a:ext cx="6748272" cy="43124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25512" y="1636649"/>
            <a:ext cx="41788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1493"/>
                </a:solidFill>
                <a:latin typeface="Geist Mono"/>
              </a:rPr>
              <a:t>READ THE SHAPE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25512" y="2112137"/>
            <a:ext cx="417880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The bars stay low across the far end of the guide, then rise sharply toward the PAM. That rising block is the seed, or core region.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25512" y="3785489"/>
            <a:ext cx="417880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Keep this picture in mind. With no biology lessons at all, our own model is about to rediscover this exact shape.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1493"/>
                </a:solidFill>
                <a:latin typeface="Geist Mono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METHODS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Predicting good CRISPR guides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question we are asking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7404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We use the exact dataset behind the famous Rule Set 2 model [1]: real guides that scientists actually measured in the lab. Our job is to predict, from the 20 letters alone, whether a guide is a strong cutter.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92033"/>
            <a:ext cx="3535680" cy="4380166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404776"/>
            <a:ext cx="3023616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200" b="1" i="0">
                <a:solidFill>
                  <a:srgbClr val="FFFFFF"/>
                </a:solidFill>
                <a:latin typeface="Geist Mono"/>
              </a:rPr>
              <a:t>5,310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959256"/>
            <a:ext cx="3023616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Geist"/>
              </a:rPr>
              <a:t>real 20-letter guides, each with a measured cutting score from 0 to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2920" y="1792033"/>
            <a:ext cx="3535680" cy="4380166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8952" y="2404776"/>
            <a:ext cx="3023616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200" b="1" i="0">
                <a:solidFill>
                  <a:srgbClr val="FFFFFF"/>
                </a:solidFill>
                <a:latin typeface="Geist Mono"/>
              </a:rPr>
              <a:t>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8952" y="3959256"/>
            <a:ext cx="3023616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Geist"/>
              </a:rPr>
              <a:t>different human genes, so the model must learn sequence rules, not memorize one gene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68640" y="1792033"/>
            <a:ext cx="3535680" cy="4380166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24672" y="2404776"/>
            <a:ext cx="3023616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200" b="1" i="0">
                <a:solidFill>
                  <a:srgbClr val="14141C"/>
                </a:solidFill>
                <a:latin typeface="Geist Mono"/>
              </a:rPr>
              <a:t>~20%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4672" y="3959256"/>
            <a:ext cx="3023616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4141C"/>
                </a:solidFill>
                <a:latin typeface="Geist"/>
              </a:rPr>
              <a:t>of guides cut well, so a lazy "always low" guesser looks 80 percent accurate and is useless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Turning letters into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7404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A computer cannot do math on the letter A, so we turn each guide into numbers -- and how we do that is the single most important choice in the whole project. We tried two ways and let the results decide.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46897"/>
            <a:ext cx="5463540" cy="2551366"/>
          </a:xfrm>
          <a:prstGeom prst="rect">
            <a:avLst/>
          </a:prstGeom>
          <a:solidFill>
            <a:srgbClr val="E4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92033"/>
            <a:ext cx="5463540" cy="25513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792033"/>
            <a:ext cx="5463540" cy="73152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450496"/>
            <a:ext cx="495147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40E0D0"/>
                </a:solidFill>
                <a:latin typeface="Geist Mono"/>
              </a:rPr>
              <a:t>ONE-HOT  (keeps the order)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99136"/>
            <a:ext cx="4951476" cy="1115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Four on/off switches per position, so the model always knows which letter sits where. That is 20 positions times 4 = 80 numbers per guide.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6500" y="1846897"/>
            <a:ext cx="5463540" cy="2551366"/>
          </a:xfrm>
          <a:prstGeom prst="rect">
            <a:avLst/>
          </a:prstGeom>
          <a:solidFill>
            <a:srgbClr val="E4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0780" y="1792033"/>
            <a:ext cx="5463540" cy="25513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0780" y="1792033"/>
            <a:ext cx="5463540" cy="73152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6812" y="2450496"/>
            <a:ext cx="495147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0C840"/>
                </a:solidFill>
                <a:latin typeface="Geist Mono"/>
              </a:rPr>
              <a:t>K-MER  (ignores the order)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6812" y="2999136"/>
            <a:ext cx="4951476" cy="1115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Just counts how many of each letter and letter-pair appear, throwing the position away. Only 21 numbers per guide.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709160"/>
            <a:ext cx="11247120" cy="141732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928616"/>
            <a:ext cx="10661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ist Mono"/>
              </a:rPr>
              <a:t>LISTEN   vs   SILENT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513832"/>
            <a:ext cx="106619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Geist"/>
              </a:rPr>
              <a:t>Same letters, different words. k-mer cannot tell them apart, but one-hot can -- and since biology cares exactly WHERE a letter sits (the seed!), one-hot should win.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C840"/>
                </a:solidFill>
                <a:latin typeface="Geist Mono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Predicting good CRISPR guides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Keeping the letter order wins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493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We trained the same four models on each way of making numbers and compared them. Every single model did better with one-hot than with k-mer.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pic>
        <p:nvPicPr>
          <p:cNvPr id="8" name="Picture 7" descr="representation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3853"/>
            <a:ext cx="6973214" cy="43011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50454" y="1636649"/>
            <a:ext cx="39538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1493"/>
                </a:solidFill>
                <a:latin typeface="Geist Mono"/>
              </a:rPr>
              <a:t>THE REAL LESSON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50454" y="2112137"/>
            <a:ext cx="395386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The one-hot bars (turquoise) top the k-mer bars (gold) for every one of the four models. How you prepared the data mattered more than which fancy model you picked.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50454" y="4059809"/>
            <a:ext cx="395386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8A2BE2"/>
                </a:solidFill>
                <a:latin typeface="Geist Mono"/>
              </a:rPr>
              <a:t>0.77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0454" y="4974209"/>
            <a:ext cx="395386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best AUC -- Random Forest on one-hot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Why we grade with AUC, not accuracy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493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Because only about 20 percent of guides cut well, plain accuracy is easy to fake. AUC asks a fairer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45209"/>
            <a:ext cx="5440680" cy="4626991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44204"/>
            <a:ext cx="48920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600" b="1" i="0">
                <a:solidFill>
                  <a:srgbClr val="FFFFFF"/>
                </a:solidFill>
                <a:latin typeface="Geist Mono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35844"/>
            <a:ext cx="4892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Geist"/>
              </a:rPr>
              <a:t>accuracy of a lazy model that ALWAYS guesses "low" -- and never finds a single good guide. Accuracy is fooled by the imbalance.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545209"/>
            <a:ext cx="5440680" cy="4626991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144204"/>
            <a:ext cx="48920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600" b="1" i="0">
                <a:solidFill>
                  <a:srgbClr val="FFFFFF"/>
                </a:solidFill>
                <a:latin typeface="Geist Mono"/>
              </a:rPr>
              <a:t>0.77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835844"/>
            <a:ext cx="4892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Geist"/>
              </a:rPr>
              <a:t>AUC of our best model. AUC asks a fairer question: does it rank GOOD guides above bad ones? 0.5 is a coin flip, 1.0 is perfect.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model rediscovered the seed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493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Now the payoff. We asked a simple, explainable model which positions along the guide it leaned on. Nobody ever told it about seeds.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pic>
        <p:nvPicPr>
          <p:cNvPr id="8" name="Picture 7" descr="position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73223"/>
            <a:ext cx="6973214" cy="36624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50454" y="1636649"/>
            <a:ext cx="39538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1493"/>
                </a:solidFill>
                <a:latin typeface="Geist Mono"/>
              </a:rPr>
              <a:t>WHAT IT FOUND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50454" y="2112137"/>
            <a:ext cx="395386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Its importance climbs toward the right end of the guide and peaks at position 20, right next to the PAM. That is the seed region -- exactly where the biology said the action 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50454" y="4151249"/>
            <a:ext cx="395386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The model learned real CRISPR biology from nothing but sequences and cut-scores. A model that agrees with known science is one people will trust.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Predicting the exact score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493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High versus low throws away detail, so we also tried to predict the exact 0-to-1 cutting score. R-squared says how much of the real variation we explained.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pic>
        <p:nvPicPr>
          <p:cNvPr id="8" name="Picture 7" descr="regression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878" y="1545209"/>
            <a:ext cx="5376088" cy="47184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96404" y="1590929"/>
            <a:ext cx="48079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8A2BE2"/>
                </a:solidFill>
                <a:latin typeface="Geist Mono"/>
              </a:rPr>
              <a:t>0.36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96404" y="2505329"/>
            <a:ext cx="48079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R-squared: the share of the ups-and-downs the model explained (0 = guessing the average, 1 = perfect).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6404" y="3511169"/>
            <a:ext cx="48079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FF1493"/>
                </a:solidFill>
                <a:latin typeface="Geist Mono"/>
              </a:rPr>
              <a:t>0.61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96404" y="4425569"/>
            <a:ext cx="48079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correlation between predicted and true efficiency.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6404" y="5157089"/>
            <a:ext cx="48079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14141C"/>
                </a:solidFill>
                <a:latin typeface="Geist"/>
              </a:rPr>
              <a:t>Real signal, but far from perfect -- and that is honest. The pro tools scatter the same way [1][5][6].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2BE2"/>
                </a:solidFill>
                <a:latin typeface="Geist Mono"/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BEING HONEST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Predicting good CRISPR guides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What this toy model can and cannot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493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A good project names its own limits out loud. Ours is a demonstration of an idea, not a design tool -- and here is exactly where the line sits.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00073"/>
            <a:ext cx="3535680" cy="4581270"/>
          </a:xfrm>
          <a:prstGeom prst="rect">
            <a:avLst/>
          </a:prstGeom>
          <a:solidFill>
            <a:srgbClr val="E4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45209"/>
            <a:ext cx="3535680" cy="45812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45209"/>
            <a:ext cx="3535680" cy="73152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058604"/>
            <a:ext cx="302361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0E0D0"/>
                </a:solidFill>
                <a:latin typeface="Geist Mono"/>
              </a:rPr>
              <a:t>IT CAN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588956"/>
            <a:ext cx="3023616" cy="22632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Show that a guide's sequence really carries signal, and that the seed region matters -- on the very same data the professionals use [1].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8640" y="1600073"/>
            <a:ext cx="3535680" cy="4581270"/>
          </a:xfrm>
          <a:prstGeom prst="rect">
            <a:avLst/>
          </a:prstGeom>
          <a:solidFill>
            <a:srgbClr val="E4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920" y="1545209"/>
            <a:ext cx="3535680" cy="45812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1545209"/>
            <a:ext cx="3535680" cy="73152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8952" y="3058604"/>
            <a:ext cx="302361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1493"/>
                </a:solidFill>
                <a:latin typeface="Geist Mono"/>
              </a:rPr>
              <a:t>IT CANNOT MATCH THE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8952" y="3588956"/>
            <a:ext cx="3023616" cy="22632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It will not beat a production tool, and it ignores the cell-type and chromatin effects that change cutting inside a living cell [7].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14360" y="1600073"/>
            <a:ext cx="3535680" cy="4581270"/>
          </a:xfrm>
          <a:prstGeom prst="rect">
            <a:avLst/>
          </a:prstGeom>
          <a:solidFill>
            <a:srgbClr val="E4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68640" y="1545209"/>
            <a:ext cx="3535680" cy="45812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68640" y="1545209"/>
            <a:ext cx="3535680" cy="73152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4672" y="3058604"/>
            <a:ext cx="302361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A2BE2"/>
                </a:solidFill>
                <a:latin typeface="Geist Mono"/>
              </a:rPr>
              <a:t>IT CANNOT JUDGE SAFETY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4672" y="3588956"/>
            <a:ext cx="3023616" cy="22632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It says nothing about off-target risk -- whether the guide also cuts the wrong places elsewhere in the genome [8].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493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The eight papers behind this project -- from the plain-English CRISPR reviews to the models we measured ourselves against.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90929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8A2BE2"/>
                </a:solidFill>
                <a:latin typeface="Geist Mono"/>
              </a:rPr>
              <a:t>FOUNDATIONS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93849"/>
            <a:ext cx="5349240" cy="407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[1] Doench et al. 2016, Nat Biotechnol -- Rule Set 2 / Azimuth; source of our dataset.
[2] Doench et al. 2014, Nat Biotechnol -- Rule Set 1; position + PAM rules.
[3] Hsu, Lander &amp; Zhang 2014, Cell -- landmark plain-English CRISPR review.
[4] Zheng et al. 2017, Sci Rep -- direct evidence the seed / core matters most.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590929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1493"/>
                </a:solidFill>
                <a:latin typeface="Geist Mono"/>
              </a:rPr>
              <a:t>MODERN MODELS &amp; REVIEWS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93849"/>
            <a:ext cx="5349240" cy="407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[5] Chuai et al. 2018, Genome Biol -- DeepCRISPR, a CNN guide-efficiency model.
[6] Kim et al. 2019, Sci Adv -- DeepSpCas9, trained on 12,832 sites.
[7] Konstantakos et al. 2022, NAR -- survey comparing guide predictors.
[8] Abbaszadeh &amp; Shahlai 2025, arXiv -- explainable AI + off-target safety.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honest bottom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0942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8A2BE2"/>
                </a:solidFill>
                <a:latin typeface="Geist Mono"/>
              </a:rPr>
              <a:t>A model you can explain is a model people trust.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80" y="3745382"/>
            <a:ext cx="2194560" cy="4572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248302"/>
            <a:ext cx="9418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0" i="0">
                <a:solidFill>
                  <a:srgbClr val="14141C"/>
                </a:solidFill>
                <a:latin typeface="Geist"/>
              </a:rPr>
              <a:t>Use this project to build intuition -- then use a validated tool and the lab to actually choose a guide.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0"/>
            <a:ext cx="22860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4173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FF1493"/>
                </a:solidFill>
                <a:latin typeface="Geist Mono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461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0" i="0">
                <a:solidFill>
                  <a:srgbClr val="40E0D0"/>
                </a:solidFill>
                <a:latin typeface="Noto Sans CJK TC"/>
              </a:rPr>
              <a:t>魏晉祺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9227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39826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Geist"/>
              </a:rPr>
              <a:t>Outset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8371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0C840"/>
                </a:solidFill>
                <a:latin typeface="Geist Mono"/>
              </a:rPr>
              <a:t>jinchikwei@gmail.com</a:t>
            </a:r>
          </a:p>
        </p:txBody>
      </p:sp>
      <p:pic>
        <p:nvPicPr>
          <p:cNvPr id="10" name="Picture 9" descr="m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6477" y="5486400"/>
            <a:ext cx="690906" cy="914400"/>
          </a:xfrm>
          <a:prstGeom prst="rect">
            <a:avLst/>
          </a:prstGeom>
        </p:spPr>
      </p:pic>
      <p:pic>
        <p:nvPicPr>
          <p:cNvPr id="11" name="Picture 10" descr="xi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8551" y="5486400"/>
            <a:ext cx="755944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