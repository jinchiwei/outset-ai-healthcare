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Background</a:t>
            </a:r>
          </a:p>
          <a:p>
            <a:r>
              <a:rPr b="0" sz="1100">
                <a:latin typeface="Geist"/>
              </a:rPr>
              <a:t>Open with the clinical scene, no ML yet. Three ideas to plant: CRISPR is molecular scissors aimed by 20 letters; that cut is already a real therapy; and only guides that truly cut are useful. Transition: meet the scissors.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Molecular scissors, aimed by 20 letters</a:t>
            </a:r>
          </a:p>
          <a:p>
            <a:r>
              <a:rPr b="0" sz="1100">
                <a:latin typeface="Geist"/>
              </a:rPr>
              <a:t>Start concrete and physical. CRISPR-Cas9 is a protein (purple blob) that carries a 20-letter guide RNA (turquoise). The guide base-pairs to a matching DNA target; Cas9 grabs the PAM landmark (pink, NGG) and cuts about 3 letters upstream (amber). The pink bracket marks the seed -- the letters nearest the PAM, which matter most. Those 20 letters are exactly the input our model reads. No machine learning yet. Transition: why does that cut matter?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CRISPR as therapy: fixing a broken gene</a:t>
            </a:r>
          </a:p>
          <a:p>
            <a:r>
              <a:rPr b="0" sz="1100">
                <a:latin typeface="Geist"/>
              </a:rPr>
              <a:t>Make the stakes real. This is not a toy: the same Cas9 cut is now an approved therapy for sickle-cell disease (2023). A broken letter in a disease gene is cut and corrected into a healthy one -- but only if the guide actually cuts. A dud guide fixes nothing. The three chips name the clinical setting the rubric asks for: who (patients with genetic disease), where (labs and clinics), and the decision (which 20-letter guide to build). Transition: so which guides cut? Not all letters count the same.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Not all 20 letters count equally</a:t>
            </a:r>
          </a:p>
          <a:p>
            <a:r>
              <a:rPr b="0" sz="1100">
                <a:latin typeface="Geist"/>
              </a:rPr>
              <a:t>The single biological intuition that makes the whole project work. Cas9 checks the seed -- the letters nearest the PAM -- most carefully, so mismatches there break cutting (Zheng 2017; Doench 2016). The bars rise toward position 20 (next to the PAM): those positions matter most, the far end barely at all. Plant this now, because in the Results section the model -- given only sequences and cut-scores -- will rediscover exactly this shape on its own. Transition: but there is a catch that makes a predictor worth building.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catch: most candidate guides are duds</a:t>
            </a:r>
          </a:p>
          <a:p>
            <a:r>
              <a:rPr b="0" sz="1100">
                <a:latin typeface="Geist"/>
              </a:rPr>
              <a:t>This is the motivation for the whole tool. For one gene there are dozens of possible guides, and many barely cut. The funnel shows the fix: instead of testing each candidate in the lab (weeks of work, mostly duds -- the pink band), score them all from their letters in seconds and order only the top few (the turquoise band). That shortlist is what saves real lab time. Transition: to build that scorer, we need data -- guides whose cutting was actually measured.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data</a:t>
            </a:r>
          </a:p>
          <a:p>
            <a:r>
              <a:rPr b="0" sz="1100">
                <a:latin typeface="Geist"/>
              </a:rPr>
              <a:t>Now the raw material. Why Doench 2016 is the right dataset -- real measured cut-scores, a spread of genes, and the benchmark the whole field trusts. Transition: what makes 5,300 lab-measured guides enough?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Why Doench 2016</a:t>
            </a:r>
          </a:p>
          <a:p>
            <a:r>
              <a:rPr b="0" sz="1100">
                <a:latin typeface="Geist"/>
              </a:rPr>
              <a:t>Justify the dataset in three facts. 5,310 guides, each one really tested in a lab, so the cut-scores are ground truth, not guesses. 17 different genes, so the model has to learn rules about the sequence itself rather than memorizing one gene. And it is THE benchmark -- the exact data behind Doench's Rule Set 2 / Azimuth, which the field still measures itself against. Real, broad, and trusted. Transition: even that landmark model is not perfect -- and that sets our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benchmark that set the standard</a:t>
            </a:r>
          </a:p>
          <a:p>
            <a:r>
              <a:rPr b="0" sz="1100">
                <a:latin typeface="Geist"/>
              </a:rPr>
              <a:t>A redraw of the landmark result, and a reality check. Doench 2016's Rule Set 2 is the best-known guide scorer, built on this very data -- yet its predicted-vs-measured plot scatters (correlation ~0.77), not a tight line. That is honest and important: guide cutting is only partly predictable from sequence, so a good model captures the signal without nailing every guide. It frames what counts as success for us. Transition: now our turn -- and the first job is turning letters into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model</a:t>
            </a:r>
          </a:p>
          <a:p>
            <a:r>
              <a:rPr b="0" sz="1100">
                <a:latin typeface="Geist"/>
              </a:rPr>
              <a:t>How we turn a DNA sequence into a prediction. First encode the letters as numbers, then let a bake-off pick the model, then pin down the exact recipe. Transition: a computer cannot multiply the letter 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First, turn letters into numbers</a:t>
            </a:r>
          </a:p>
          <a:p>
            <a:r>
              <a:rPr b="0" sz="1100">
                <a:latin typeface="Geist"/>
              </a:rPr>
              <a:t>The core new idea of a sequence task: text has to become numbers before any model can touch it. Read the grid as a truth table -- each column is one position of the guide, and exactly one of the four rows (A/C/G/T) is switched ON. Twenty positions times four switches gives 80 numbers, and crucially they KEEP the order, so the seed near the PAM is still visible. The alternative, k-mer, just counts letters and loses the order -- useless when position is the whole point. Transition: with numbers in hand, which model reads them best?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We tested four models – we did not guess</a:t>
            </a:r>
          </a:p>
          <a:p>
            <a:r>
              <a:rPr b="0" sz="1100">
                <a:latin typeface="Geist"/>
              </a:rPr>
              <a:t>The which-tool decision, made honestly. We ran four candidate models on held-out guides and let AUC judge: logistic regression (a straight-line rule) lagged at 0.75, TabPFN reached 0.83, and the two tree models -- CatBoost and Random Forest -- tied at the top, 0.88. Trees win because they can combine letters at different positions, which is exactly how seed biology works. Both tree models are essentially equal, so we pick CatBoost for speed and reproducibility. The habit to teach: measure, do not guess. Transition: here is the exact recipe.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Model and data processing</a:t>
            </a:r>
          </a:p>
          <a:p>
            <a:r>
              <a:rPr b="0" sz="1100">
                <a:latin typeface="Geist"/>
              </a:rPr>
              <a:t>The reproducibility slide -- read it as a recipe, not trivia. One, we ask a clean question: clearly-good vs clearly-poor cutters, dropping the ambiguous middle third. Two, one-hot encode each guide into 80 order-preserving numbers. Three, a stratified 75/25 split so we always test on unseen guides. Four, the exact CatBoost settings, seeded for reproducibility. Five, grade on AUC, not accuracy, so nothing can be gamed. Any one of these done wrong quietly breaks the result. Transition: so how well does it actually pick?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Results</a:t>
            </a:r>
          </a:p>
          <a:p>
            <a:r>
              <a:rPr b="0" sz="1100">
                <a:latin typeface="Geist"/>
              </a:rPr>
              <a:t>The payoff, every number named by how we measured it. A working AUC, the concrete 97 percent win, the biology the model rediscovered, and an honest word on fairness. Transition: first, how do you even grade a picker?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How we grade it: ROC and AUC</a:t>
            </a:r>
          </a:p>
          <a:p>
            <a:r>
              <a:rPr b="0" sz="1100">
                <a:latin typeface="Geist"/>
              </a:rPr>
              <a:t>Name the metric before the number. A picker outputs a score, so we grade it with the ROC curve -- every possible cut-off, plotting good guides correctly flagged against false alarms -- and AUC, the area underneath, where 0.5 is a coin flip and 1.0 is perfect. We use AUC, not accuracy, because our classes are balanced and AUC rewards good ranking. Ours is 0.88 and the curve hugs the top-left corner: a genuinely working picker. Transition: but what does 0.88 mean for a scientist at the bench?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win: order its top picks</a:t>
            </a:r>
          </a:p>
          <a:p>
            <a:r>
              <a:rPr b="0" sz="1100">
                <a:latin typeface="Geist"/>
              </a:rPr>
              <a:t>The number a scientist actually feels. Rank every guide by the model's score and order only the top 10 percent: 97 percent of those really do cut well, versus 50 percent if you picked at random. The chart shows the shortlist stays clean even as you widen it (94 percent at the top 20 percent, 89 percent at 30). Put plainly: the tool hands you a shortlist that is almost all winners, which is weeks of bench work saved. This is the concrete, usable win. Transition: and it did not just work -- it worked for the right reason.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It rediscovered the biology</a:t>
            </a:r>
          </a:p>
          <a:p>
            <a:r>
              <a:rPr b="0" sz="1100">
                <a:latin typeface="Geist"/>
              </a:rPr>
              <a:t>The trust-building payoff, and the callback to the Background. Feature importance for this model asks which positions it relied on -- the sequence-task version of SHAP. The tall bars cluster at the PAM end, peaking at position 20: the seed. Compare it to the seed slide from the intro -- the model, given only sequences and cut-scores, independently rediscovered biology that took the field years to establish. A model that is accurate AND agrees with known science is one people can trust. Transition: one honest word on fairness.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Fairness? There is nothing to audit – honestly</a:t>
            </a:r>
          </a:p>
          <a:p>
            <a:r>
              <a:rPr b="0" sz="1100">
                <a:latin typeface="Geist"/>
              </a:rPr>
              <a:t>Handle fairness honestly instead of performatively. The rubric asks about fairness across demographic groups -- but this task has none. The input is a DNA sequence: no patient, no sex, no age, nothing to be unfair about. The right move is to say that plainly rather than invent a hollow analysis. Then point to where equity really does matter for CRISPR -- which patients a therapy reaches -- which sits one step beyond this sequence model. Naming the limit of the question is itself good science. Transition: so where does this leave 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bottom line</a:t>
            </a:r>
          </a:p>
          <a:p>
            <a:r>
              <a:rPr b="0" sz="1100">
                <a:latin typeface="Geist"/>
              </a:rPr>
              <a:t>Good science states its own limits out loud. What the picker genuinely does, where the line sits, the papers behind it, and the one sentence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What it can and cannot do</a:t>
            </a:r>
          </a:p>
          <a:p>
            <a:r>
              <a:rPr b="0" sz="1100">
                <a:latin typeface="Geist"/>
              </a:rPr>
              <a:t>Model the honesty the rubric rewards. Green: it genuinely works -- AUC 0.88 on benchmark data and a 97-percent-clean top-10-percent shortlist, which saves real lab time. Purple: it learned real biology, peaking at the seed, so we trust why it works, not just that it works. Pink: it is still a demo -- it cannot match a production tool like Azimuth, handle cell-type or chromatin effects, or judge off-target safety. State plainly: use it to build intuition and shortlist, not to finalize a guide. Transition: the papers behind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References</a:t>
            </a:r>
          </a:p>
          <a:p>
            <a:r>
              <a:rPr b="0" sz="1100">
                <a:latin typeface="Geist"/>
              </a:rPr>
              <a:t>Give credit and show the trail. Left column, the foundations and the data: Doench's Rule Set 2 and the dataset [1], the earlier position/PAM rules [2], the Hsu review that explains the seed [3], and the direct seed evidence [4] -- [1], [3] and [4] are the papers we redrew in the intro. Right column, the methods and reviews: the deep-learning tools that push further [5][6], a survey of predictors [7], and a recent explainable-AI + off-target piece [8]. Transition: the one sentence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300">
                <a:latin typeface="Geist Mono"/>
              </a:rPr>
              <a:t>The honest bottom line</a:t>
            </a:r>
          </a:p>
          <a:p>
            <a:r>
              <a:rPr b="0" sz="1100">
                <a:latin typeface="Geist"/>
              </a:rPr>
              <a:t>Land the deck on one idea: a guide-picker is worth building when it both shortlists the winners AND explains itself -- ours did both, with AUC 0.88, a 97-percent-clean top slice, and importance that peaks at the seed. Leave them with the working habit of medical AI: a model you can measure and explain beats a fancy one nobody can check. Then hand the real decision back to a validated tool and the lab. Thank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28016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Outset · AI in Healthcare · Day 3 · Group 1</a:t>
            </a:r>
          </a:p>
        </p:txBody>
      </p:sp>
      <p:sp>
        <p:nvSpPr>
          <p:cNvPr id="6" name="TextBox 5"/>
          <p:cNvSpPr txBox="1"/>
          <p:nvPr/>
        </p:nvSpPr>
        <p:spPr>
          <a:xfrm>
            <a:off x="1188720" y="1737360"/>
            <a:ext cx="10058400" cy="1828800"/>
          </a:xfrm>
          <a:prstGeom prst="rect">
            <a:avLst/>
          </a:prstGeom>
          <a:noFill/>
        </p:spPr>
        <p:txBody>
          <a:bodyPr wrap="square" anchor="t" lIns="0" rIns="0" tIns="0" bIns="0">
            <a:spAutoFit/>
          </a:bodyPr>
          <a:lstStyle/>
          <a:p>
            <a:pPr algn="l"/>
            <a:r>
              <a:rPr sz="4800" b="1" i="0">
                <a:solidFill>
                  <a:srgbClr val="FFFFFF"/>
                </a:solidFill>
                <a:latin typeface="Geist Mono"/>
              </a:rPr>
              <a:t>Picking good CRISPR guides before the lab</a:t>
            </a:r>
          </a:p>
        </p:txBody>
      </p:sp>
      <p:sp>
        <p:nvSpPr>
          <p:cNvPr id="7" name="TextBox 6"/>
          <p:cNvSpPr txBox="1"/>
          <p:nvPr/>
        </p:nvSpPr>
        <p:spPr>
          <a:xfrm>
            <a:off x="1188720" y="3703320"/>
            <a:ext cx="10058400" cy="640080"/>
          </a:xfrm>
          <a:prstGeom prst="rect">
            <a:avLst/>
          </a:prstGeom>
          <a:noFill/>
        </p:spPr>
        <p:txBody>
          <a:bodyPr wrap="square" anchor="t" lIns="0" rIns="0" tIns="0" bIns="0">
            <a:spAutoFit/>
          </a:bodyPr>
          <a:lstStyle/>
          <a:p>
            <a:pPr algn="l"/>
            <a:r>
              <a:rPr sz="1800" b="0" i="0">
                <a:solidFill>
                  <a:srgbClr val="E5E5EA"/>
                </a:solidFill>
                <a:latin typeface="Geist"/>
              </a:rPr>
              <a:t>Given the 20 letters of a guide RNA, can a model tell -- before any lab work -- whether CRISPR-Cas9 will actually cut?</a:t>
            </a:r>
          </a:p>
        </p:txBody>
      </p:sp>
      <p:sp>
        <p:nvSpPr>
          <p:cNvPr id="8" name="TextBox 7"/>
          <p:cNvSpPr txBox="1"/>
          <p:nvPr/>
        </p:nvSpPr>
        <p:spPr>
          <a:xfrm>
            <a:off x="1188720" y="4480559"/>
            <a:ext cx="10058400" cy="365760"/>
          </a:xfrm>
          <a:prstGeom prst="rect">
            <a:avLst/>
          </a:prstGeom>
          <a:noFill/>
        </p:spPr>
        <p:txBody>
          <a:bodyPr wrap="square" anchor="t" lIns="0" rIns="0" tIns="0" bIns="0">
            <a:spAutoFit/>
          </a:bodyPr>
          <a:lstStyle/>
          <a:p>
            <a:pPr algn="l"/>
            <a:r>
              <a:rPr sz="2200" b="1" i="0">
                <a:solidFill>
                  <a:srgbClr val="40E0D0"/>
                </a:solidFill>
                <a:latin typeface="Geist Mono"/>
              </a:rPr>
              <a:t>Jinchi Wei</a:t>
            </a:r>
          </a:p>
        </p:txBody>
      </p:sp>
      <p:sp>
        <p:nvSpPr>
          <p:cNvPr id="9" name="TextBox 8"/>
          <p:cNvSpPr txBox="1"/>
          <p:nvPr/>
        </p:nvSpPr>
        <p:spPr>
          <a:xfrm>
            <a:off x="1188720" y="4937759"/>
            <a:ext cx="10058400" cy="320040"/>
          </a:xfrm>
          <a:prstGeom prst="rect">
            <a:avLst/>
          </a:prstGeom>
          <a:noFill/>
        </p:spPr>
        <p:txBody>
          <a:bodyPr wrap="square" anchor="t" lIns="0" rIns="0" tIns="0" bIns="0">
            <a:spAutoFit/>
          </a:bodyPr>
          <a:lstStyle/>
          <a:p>
            <a:pPr algn="l"/>
            <a:r>
              <a:rPr sz="1600" b="1" i="0">
                <a:solidFill>
                  <a:srgbClr val="FF1493"/>
                </a:solidFill>
                <a:latin typeface="Geist Mono"/>
              </a:rPr>
              <a:t>Outset</a:t>
            </a:r>
          </a:p>
        </p:txBody>
      </p:sp>
      <p:sp>
        <p:nvSpPr>
          <p:cNvPr id="10" name="Rectangle 9"/>
          <p:cNvSpPr/>
          <p:nvPr/>
        </p:nvSpPr>
        <p:spPr>
          <a:xfrm>
            <a:off x="1188720" y="5440679"/>
            <a:ext cx="3657600" cy="18288"/>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5577840"/>
            <a:ext cx="10058400" cy="274320"/>
          </a:xfrm>
          <a:prstGeom prst="rect">
            <a:avLst/>
          </a:prstGeom>
          <a:noFill/>
        </p:spPr>
        <p:txBody>
          <a:bodyPr wrap="square" anchor="t" lIns="0" rIns="0" tIns="0" bIns="0">
            <a:spAutoFit/>
          </a:bodyPr>
          <a:lstStyle/>
          <a:p>
            <a:pPr algn="l"/>
            <a:r>
              <a:rPr sz="1200" b="0" i="0">
                <a:solidFill>
                  <a:srgbClr val="F0C840"/>
                </a:solidFill>
                <a:latin typeface="Geist Mono"/>
              </a:rPr>
              <a:t>2026-07-08</a:t>
            </a:r>
          </a:p>
        </p:txBody>
      </p:sp>
      <p:pic>
        <p:nvPicPr>
          <p:cNvPr id="12" name="Picture 11" descr="outset-logo-white.png"/>
          <p:cNvPicPr>
            <a:picLocks noChangeAspect="1"/>
          </p:cNvPicPr>
          <p:nvPr/>
        </p:nvPicPr>
        <p:blipFill>
          <a:blip r:embed="rId2"/>
          <a:stretch>
            <a:fillRect/>
          </a:stretch>
        </p:blipFill>
        <p:spPr>
          <a:xfrm>
            <a:off x="9951415" y="5897880"/>
            <a:ext cx="1737360" cy="457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Overview</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BACKGROUND</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Picking good CRISPR guides before the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Molecular scissors, aimed by 20 letters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pic>
        <p:nvPicPr>
          <p:cNvPr id="7" name="Picture 6" descr="intro_cas9_cutting.png"/>
          <p:cNvPicPr>
            <a:picLocks noChangeAspect="1"/>
          </p:cNvPicPr>
          <p:nvPr/>
        </p:nvPicPr>
        <p:blipFill>
          <a:blip r:embed="rId2"/>
          <a:stretch>
            <a:fillRect/>
          </a:stretch>
        </p:blipFill>
        <p:spPr>
          <a:xfrm>
            <a:off x="2033910" y="1051560"/>
            <a:ext cx="8093699" cy="4709159"/>
          </a:xfrm>
          <a:prstGeom prst="rect">
            <a:avLst/>
          </a:prstGeom>
        </p:spPr>
      </p:pic>
      <p:sp>
        <p:nvSpPr>
          <p:cNvPr id="8" name="TextBox 7"/>
          <p:cNvSpPr txBox="1"/>
          <p:nvPr/>
        </p:nvSpPr>
        <p:spPr>
          <a:xfrm>
            <a:off x="1188720" y="5870448"/>
            <a:ext cx="9784080" cy="457200"/>
          </a:xfrm>
          <a:prstGeom prst="rect">
            <a:avLst/>
          </a:prstGeom>
          <a:noFill/>
        </p:spPr>
        <p:txBody>
          <a:bodyPr wrap="square" anchor="t" lIns="0" rIns="0" tIns="0" bIns="0">
            <a:spAutoFit/>
          </a:bodyPr>
          <a:lstStyle/>
          <a:p>
            <a:pPr algn="ctr"/>
            <a:r>
              <a:rPr sz="1400" b="0" i="1">
                <a:solidFill>
                  <a:srgbClr val="14141C"/>
                </a:solidFill>
                <a:latin typeface="Geist"/>
              </a:rPr>
              <a:t>A 20-letter guide RNA steers Cas9 to one spot in DNA; it cuts about three letters from the PAM -- and the letters in the seed, next to the PAM, matter most.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CRISPR as therapy: fixing a broken gene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pic>
        <p:nvPicPr>
          <p:cNvPr id="7" name="Picture 6" descr="intro_therapy_stakes.png"/>
          <p:cNvPicPr>
            <a:picLocks noChangeAspect="1"/>
          </p:cNvPicPr>
          <p:nvPr/>
        </p:nvPicPr>
        <p:blipFill>
          <a:blip r:embed="rId2"/>
          <a:stretch>
            <a:fillRect/>
          </a:stretch>
        </p:blipFill>
        <p:spPr>
          <a:xfrm>
            <a:off x="457200" y="1950801"/>
            <a:ext cx="6298387" cy="3413596"/>
          </a:xfrm>
          <a:prstGeom prst="rect">
            <a:avLst/>
          </a:prstGeom>
        </p:spPr>
      </p:pic>
      <p:sp>
        <p:nvSpPr>
          <p:cNvPr id="8" name="TextBox 7"/>
          <p:cNvSpPr txBox="1"/>
          <p:nvPr/>
        </p:nvSpPr>
        <p:spPr>
          <a:xfrm>
            <a:off x="7212787" y="1143000"/>
            <a:ext cx="4491532" cy="365760"/>
          </a:xfrm>
          <a:prstGeom prst="rect">
            <a:avLst/>
          </a:prstGeom>
          <a:noFill/>
        </p:spPr>
        <p:txBody>
          <a:bodyPr wrap="square" anchor="t" lIns="0" rIns="0" tIns="0" bIns="0">
            <a:spAutoFit/>
          </a:bodyPr>
          <a:lstStyle/>
          <a:p>
            <a:pPr algn="l"/>
            <a:r>
              <a:rPr sz="1400" b="1" i="0">
                <a:solidFill>
                  <a:srgbClr val="FF1493"/>
                </a:solidFill>
                <a:latin typeface="Geist Mono"/>
              </a:rPr>
              <a:t>THE CLINICAL SETTING</a:t>
            </a:r>
          </a:p>
        </p:txBody>
      </p:sp>
      <p:sp>
        <p:nvSpPr>
          <p:cNvPr id="9" name="Rectangle 8"/>
          <p:cNvSpPr/>
          <p:nvPr/>
        </p:nvSpPr>
        <p:spPr>
          <a:xfrm>
            <a:off x="7212787" y="1746504"/>
            <a:ext cx="109728" cy="1203959"/>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87107" y="1691640"/>
            <a:ext cx="4217212" cy="411480"/>
          </a:xfrm>
          <a:prstGeom prst="rect">
            <a:avLst/>
          </a:prstGeom>
          <a:noFill/>
        </p:spPr>
        <p:txBody>
          <a:bodyPr wrap="square" anchor="t" lIns="0" rIns="0" tIns="0" bIns="0">
            <a:spAutoFit/>
          </a:bodyPr>
          <a:lstStyle/>
          <a:p>
            <a:pPr algn="l"/>
            <a:r>
              <a:rPr sz="1700" b="1" i="0">
                <a:solidFill>
                  <a:srgbClr val="14141C"/>
                </a:solidFill>
                <a:latin typeface="Geist Mono"/>
              </a:rPr>
              <a:t>Who</a:t>
            </a:r>
          </a:p>
        </p:txBody>
      </p:sp>
      <p:sp>
        <p:nvSpPr>
          <p:cNvPr id="11" name="TextBox 10"/>
          <p:cNvSpPr txBox="1"/>
          <p:nvPr/>
        </p:nvSpPr>
        <p:spPr>
          <a:xfrm>
            <a:off x="7487107" y="2148840"/>
            <a:ext cx="4217212" cy="883919"/>
          </a:xfrm>
          <a:prstGeom prst="rect">
            <a:avLst/>
          </a:prstGeom>
          <a:noFill/>
        </p:spPr>
        <p:txBody>
          <a:bodyPr wrap="square" anchor="t" lIns="0" rIns="0" tIns="0" bIns="0">
            <a:spAutoFit/>
          </a:bodyPr>
          <a:lstStyle/>
          <a:p>
            <a:pPr algn="l"/>
            <a:r>
              <a:rPr sz="1500" b="0" i="0">
                <a:solidFill>
                  <a:srgbClr val="14141C"/>
                </a:solidFill>
                <a:latin typeface="Geist"/>
              </a:rPr>
              <a:t>patients with a genetic disease -- sickle-cell today, many more in trials</a:t>
            </a:r>
          </a:p>
        </p:txBody>
      </p:sp>
      <p:sp>
        <p:nvSpPr>
          <p:cNvPr id="12" name="Rectangle 11"/>
          <p:cNvSpPr/>
          <p:nvPr/>
        </p:nvSpPr>
        <p:spPr>
          <a:xfrm>
            <a:off x="7212787" y="3270504"/>
            <a:ext cx="109728" cy="1203959"/>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87107" y="3215640"/>
            <a:ext cx="4217212" cy="411480"/>
          </a:xfrm>
          <a:prstGeom prst="rect">
            <a:avLst/>
          </a:prstGeom>
          <a:noFill/>
        </p:spPr>
        <p:txBody>
          <a:bodyPr wrap="square" anchor="t" lIns="0" rIns="0" tIns="0" bIns="0">
            <a:spAutoFit/>
          </a:bodyPr>
          <a:lstStyle/>
          <a:p>
            <a:pPr algn="l"/>
            <a:r>
              <a:rPr sz="1700" b="1" i="0">
                <a:solidFill>
                  <a:srgbClr val="14141C"/>
                </a:solidFill>
                <a:latin typeface="Geist Mono"/>
              </a:rPr>
              <a:t>Where</a:t>
            </a:r>
          </a:p>
        </p:txBody>
      </p:sp>
      <p:sp>
        <p:nvSpPr>
          <p:cNvPr id="14" name="TextBox 13"/>
          <p:cNvSpPr txBox="1"/>
          <p:nvPr/>
        </p:nvSpPr>
        <p:spPr>
          <a:xfrm>
            <a:off x="7487107" y="3672840"/>
            <a:ext cx="4217212" cy="883919"/>
          </a:xfrm>
          <a:prstGeom prst="rect">
            <a:avLst/>
          </a:prstGeom>
          <a:noFill/>
        </p:spPr>
        <p:txBody>
          <a:bodyPr wrap="square" anchor="t" lIns="0" rIns="0" tIns="0" bIns="0">
            <a:spAutoFit/>
          </a:bodyPr>
          <a:lstStyle/>
          <a:p>
            <a:pPr algn="l"/>
            <a:r>
              <a:rPr sz="1500" b="0" i="0">
                <a:solidFill>
                  <a:srgbClr val="14141C"/>
                </a:solidFill>
                <a:latin typeface="Geist"/>
              </a:rPr>
              <a:t>research labs and gene-therapy clinics deciding what to build</a:t>
            </a:r>
          </a:p>
        </p:txBody>
      </p:sp>
      <p:sp>
        <p:nvSpPr>
          <p:cNvPr id="15" name="Rectangle 14"/>
          <p:cNvSpPr/>
          <p:nvPr/>
        </p:nvSpPr>
        <p:spPr>
          <a:xfrm>
            <a:off x="7212787" y="4794503"/>
            <a:ext cx="109728" cy="1203959"/>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7107" y="4739639"/>
            <a:ext cx="4217212" cy="411480"/>
          </a:xfrm>
          <a:prstGeom prst="rect">
            <a:avLst/>
          </a:prstGeom>
          <a:noFill/>
        </p:spPr>
        <p:txBody>
          <a:bodyPr wrap="square" anchor="t" lIns="0" rIns="0" tIns="0" bIns="0">
            <a:spAutoFit/>
          </a:bodyPr>
          <a:lstStyle/>
          <a:p>
            <a:pPr algn="l"/>
            <a:r>
              <a:rPr sz="1700" b="1" i="0">
                <a:solidFill>
                  <a:srgbClr val="14141C"/>
                </a:solidFill>
                <a:latin typeface="Geist Mono"/>
              </a:rPr>
              <a:t>The decision</a:t>
            </a:r>
          </a:p>
        </p:txBody>
      </p:sp>
      <p:sp>
        <p:nvSpPr>
          <p:cNvPr id="17" name="TextBox 16"/>
          <p:cNvSpPr txBox="1"/>
          <p:nvPr/>
        </p:nvSpPr>
        <p:spPr>
          <a:xfrm>
            <a:off x="7487107" y="5196839"/>
            <a:ext cx="4217212" cy="883919"/>
          </a:xfrm>
          <a:prstGeom prst="rect">
            <a:avLst/>
          </a:prstGeom>
          <a:noFill/>
        </p:spPr>
        <p:txBody>
          <a:bodyPr wrap="square" anchor="t" lIns="0" rIns="0" tIns="0" bIns="0">
            <a:spAutoFit/>
          </a:bodyPr>
          <a:lstStyle/>
          <a:p>
            <a:pPr algn="l"/>
            <a:r>
              <a:rPr sz="1500" b="0" i="0">
                <a:solidFill>
                  <a:srgbClr val="14141C"/>
                </a:solidFill>
                <a:latin typeface="Geist"/>
              </a:rPr>
              <a:t>which 20-letter guide to make -- the one that will actually cut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Not all 20 letters count equally</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sp>
        <p:nvSpPr>
          <p:cNvPr id="7" name="TextBox 6"/>
          <p:cNvSpPr txBox="1"/>
          <p:nvPr/>
        </p:nvSpPr>
        <p:spPr>
          <a:xfrm>
            <a:off x="457200" y="1188720"/>
            <a:ext cx="4498848" cy="365760"/>
          </a:xfrm>
          <a:prstGeom prst="rect">
            <a:avLst/>
          </a:prstGeom>
          <a:noFill/>
        </p:spPr>
        <p:txBody>
          <a:bodyPr wrap="square" anchor="t" lIns="0" rIns="0" tIns="0" bIns="0">
            <a:spAutoFit/>
          </a:bodyPr>
          <a:lstStyle/>
          <a:p>
            <a:pPr algn="l"/>
            <a:r>
              <a:rPr sz="1400" b="1" i="0">
                <a:solidFill>
                  <a:srgbClr val="FF1493"/>
                </a:solidFill>
                <a:latin typeface="Geist Mono"/>
              </a:rPr>
              <a:t>THE ONE BIT OF BIOLOGY</a:t>
            </a:r>
          </a:p>
        </p:txBody>
      </p:sp>
      <p:sp>
        <p:nvSpPr>
          <p:cNvPr id="8" name="TextBox 7"/>
          <p:cNvSpPr txBox="1"/>
          <p:nvPr/>
        </p:nvSpPr>
        <p:spPr>
          <a:xfrm>
            <a:off x="457200" y="1737360"/>
            <a:ext cx="4498848" cy="1188720"/>
          </a:xfrm>
          <a:prstGeom prst="rect">
            <a:avLst/>
          </a:prstGeom>
          <a:noFill/>
        </p:spPr>
        <p:txBody>
          <a:bodyPr wrap="square" anchor="t" lIns="0" rIns="0" tIns="0" bIns="0">
            <a:spAutoFit/>
          </a:bodyPr>
          <a:lstStyle/>
          <a:p>
            <a:pPr algn="l"/>
            <a:r>
              <a:rPr sz="1700" b="0" i="0">
                <a:solidFill>
                  <a:srgbClr val="14141C"/>
                </a:solidFill>
                <a:latin typeface="Geist"/>
              </a:rPr>
              <a:t>Cas9 lands on the PAM, then reads the handful of letters right beside it -- the seed.</a:t>
            </a:r>
          </a:p>
        </p:txBody>
      </p:sp>
      <p:sp>
        <p:nvSpPr>
          <p:cNvPr id="9" name="TextBox 8"/>
          <p:cNvSpPr txBox="1"/>
          <p:nvPr/>
        </p:nvSpPr>
        <p:spPr>
          <a:xfrm>
            <a:off x="457200" y="2926080"/>
            <a:ext cx="4498848" cy="1828800"/>
          </a:xfrm>
          <a:prstGeom prst="rect">
            <a:avLst/>
          </a:prstGeom>
          <a:noFill/>
        </p:spPr>
        <p:txBody>
          <a:bodyPr wrap="square" anchor="t" lIns="0" rIns="0" tIns="0" bIns="0">
            <a:spAutoFit/>
          </a:bodyPr>
          <a:lstStyle/>
          <a:p>
            <a:pPr algn="l"/>
            <a:r>
              <a:rPr sz="1700" b="0" i="0">
                <a:solidFill>
                  <a:srgbClr val="14141C"/>
                </a:solidFill>
                <a:latin typeface="Geist"/>
              </a:rPr>
              <a:t>Mismatch a seed letter and the guide usually fails to cut. So the letters near the PAM should carry the most signal -- far more than the ones at the far end.</a:t>
            </a:r>
          </a:p>
        </p:txBody>
      </p:sp>
      <p:sp>
        <p:nvSpPr>
          <p:cNvPr id="10" name="TextBox 9"/>
          <p:cNvSpPr txBox="1"/>
          <p:nvPr/>
        </p:nvSpPr>
        <p:spPr>
          <a:xfrm>
            <a:off x="457200" y="5532120"/>
            <a:ext cx="4498848" cy="640080"/>
          </a:xfrm>
          <a:prstGeom prst="rect">
            <a:avLst/>
          </a:prstGeom>
          <a:noFill/>
        </p:spPr>
        <p:txBody>
          <a:bodyPr wrap="square" anchor="t" lIns="0" rIns="0" tIns="0" bIns="0">
            <a:spAutoFit/>
          </a:bodyPr>
          <a:lstStyle/>
          <a:p>
            <a:pPr algn="l"/>
            <a:r>
              <a:rPr sz="1500" b="0" i="1">
                <a:solidFill>
                  <a:srgbClr val="8A2BE2"/>
                </a:solidFill>
                <a:latin typeface="Geist"/>
              </a:rPr>
              <a:t>Remember this -- our model will rediscover it.</a:t>
            </a:r>
          </a:p>
        </p:txBody>
      </p:sp>
      <p:pic>
        <p:nvPicPr>
          <p:cNvPr id="11" name="Picture 10" descr="intro_seed_importance.png"/>
          <p:cNvPicPr>
            <a:picLocks noChangeAspect="1"/>
          </p:cNvPicPr>
          <p:nvPr/>
        </p:nvPicPr>
        <p:blipFill>
          <a:blip r:embed="rId2"/>
          <a:stretch>
            <a:fillRect/>
          </a:stretch>
        </p:blipFill>
        <p:spPr>
          <a:xfrm>
            <a:off x="5367528" y="1691009"/>
            <a:ext cx="6336792" cy="393318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catch: most candidate guides are duds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pic>
        <p:nvPicPr>
          <p:cNvPr id="7" name="Picture 6" descr="intro_pick_before_lab.png"/>
          <p:cNvPicPr>
            <a:picLocks noChangeAspect="1"/>
          </p:cNvPicPr>
          <p:nvPr/>
        </p:nvPicPr>
        <p:blipFill>
          <a:blip r:embed="rId2"/>
          <a:stretch>
            <a:fillRect/>
          </a:stretch>
        </p:blipFill>
        <p:spPr>
          <a:xfrm>
            <a:off x="2336376" y="1051560"/>
            <a:ext cx="7488766" cy="3977639"/>
          </a:xfrm>
          <a:prstGeom prst="rect">
            <a:avLst/>
          </a:prstGeom>
        </p:spPr>
      </p:pic>
      <p:sp>
        <p:nvSpPr>
          <p:cNvPr id="8" name="Rectangle 7"/>
          <p:cNvSpPr/>
          <p:nvPr/>
        </p:nvSpPr>
        <p:spPr>
          <a:xfrm>
            <a:off x="457200" y="5166360"/>
            <a:ext cx="5440680" cy="1051559"/>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276088"/>
            <a:ext cx="4892040" cy="365760"/>
          </a:xfrm>
          <a:prstGeom prst="rect">
            <a:avLst/>
          </a:prstGeom>
          <a:noFill/>
        </p:spPr>
        <p:txBody>
          <a:bodyPr wrap="square" anchor="t" lIns="0" rIns="0" tIns="0" bIns="0">
            <a:spAutoFit/>
          </a:bodyPr>
          <a:lstStyle/>
          <a:p>
            <a:pPr algn="l"/>
            <a:r>
              <a:rPr sz="1500" b="1" i="0">
                <a:solidFill>
                  <a:srgbClr val="FFFFFF"/>
                </a:solidFill>
                <a:latin typeface="Geist Mono"/>
              </a:rPr>
              <a:t>the old way</a:t>
            </a:r>
          </a:p>
        </p:txBody>
      </p:sp>
      <p:sp>
        <p:nvSpPr>
          <p:cNvPr id="10" name="TextBox 9"/>
          <p:cNvSpPr txBox="1"/>
          <p:nvPr/>
        </p:nvSpPr>
        <p:spPr>
          <a:xfrm>
            <a:off x="731520" y="5669280"/>
            <a:ext cx="4892040" cy="457199"/>
          </a:xfrm>
          <a:prstGeom prst="rect">
            <a:avLst/>
          </a:prstGeom>
          <a:noFill/>
        </p:spPr>
        <p:txBody>
          <a:bodyPr wrap="square" anchor="t" lIns="0" rIns="0" tIns="0" bIns="0">
            <a:spAutoFit/>
          </a:bodyPr>
          <a:lstStyle/>
          <a:p>
            <a:pPr algn="l"/>
            <a:r>
              <a:rPr sz="1400" b="0" i="0">
                <a:solidFill>
                  <a:srgbClr val="FFFFFF"/>
                </a:solidFill>
                <a:latin typeface="Geist"/>
              </a:rPr>
              <a:t>test dozens of guides in the lab, one by one -- weeks of work, and most turn out to be duds</a:t>
            </a:r>
          </a:p>
        </p:txBody>
      </p:sp>
      <p:sp>
        <p:nvSpPr>
          <p:cNvPr id="11" name="Rectangle 10"/>
          <p:cNvSpPr/>
          <p:nvPr/>
        </p:nvSpPr>
        <p:spPr>
          <a:xfrm>
            <a:off x="6263640" y="5166360"/>
            <a:ext cx="5440680" cy="1051559"/>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5276088"/>
            <a:ext cx="4892040" cy="365760"/>
          </a:xfrm>
          <a:prstGeom prst="rect">
            <a:avLst/>
          </a:prstGeom>
          <a:noFill/>
        </p:spPr>
        <p:txBody>
          <a:bodyPr wrap="square" anchor="t" lIns="0" rIns="0" tIns="0" bIns="0">
            <a:spAutoFit/>
          </a:bodyPr>
          <a:lstStyle/>
          <a:p>
            <a:pPr algn="l"/>
            <a:r>
              <a:rPr sz="1500" b="1" i="0">
                <a:solidFill>
                  <a:srgbClr val="14141C"/>
                </a:solidFill>
                <a:latin typeface="Geist Mono"/>
              </a:rPr>
              <a:t>the tool</a:t>
            </a:r>
          </a:p>
        </p:txBody>
      </p:sp>
      <p:sp>
        <p:nvSpPr>
          <p:cNvPr id="13" name="TextBox 12"/>
          <p:cNvSpPr txBox="1"/>
          <p:nvPr/>
        </p:nvSpPr>
        <p:spPr>
          <a:xfrm>
            <a:off x="6537960" y="5669280"/>
            <a:ext cx="4892040" cy="457199"/>
          </a:xfrm>
          <a:prstGeom prst="rect">
            <a:avLst/>
          </a:prstGeom>
          <a:noFill/>
        </p:spPr>
        <p:txBody>
          <a:bodyPr wrap="square" anchor="t" lIns="0" rIns="0" tIns="0" bIns="0">
            <a:spAutoFit/>
          </a:bodyPr>
          <a:lstStyle/>
          <a:p>
            <a:pPr algn="l"/>
            <a:r>
              <a:rPr sz="1400" b="0" i="0">
                <a:solidFill>
                  <a:srgbClr val="14141C"/>
                </a:solidFill>
                <a:latin typeface="Geist"/>
              </a:rPr>
              <a:t>score all of them from the letters in seconds, then order only the top few most likely to cut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F1493"/>
                </a:solidFill>
                <a:latin typeface="Geist Mono"/>
              </a:rPr>
              <a:t>Methodology</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DATA</a:t>
            </a:r>
          </a:p>
        </p:txBody>
      </p:sp>
      <p:sp>
        <p:nvSpPr>
          <p:cNvPr id="7" name="Rectangle 6"/>
          <p:cNvSpPr/>
          <p:nvPr/>
        </p:nvSpPr>
        <p:spPr>
          <a:xfrm>
            <a:off x="777240" y="5120640"/>
            <a:ext cx="1828800" cy="18288"/>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Picking good CRISPR guides before the lab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Why Doench 2016</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sp>
        <p:nvSpPr>
          <p:cNvPr id="7" name="Rectangle 6"/>
          <p:cNvSpPr/>
          <p:nvPr/>
        </p:nvSpPr>
        <p:spPr>
          <a:xfrm>
            <a:off x="457200" y="1051560"/>
            <a:ext cx="3535680" cy="51206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08760"/>
            <a:ext cx="2987040" cy="1280160"/>
          </a:xfrm>
          <a:prstGeom prst="rect">
            <a:avLst/>
          </a:prstGeom>
          <a:noFill/>
        </p:spPr>
        <p:txBody>
          <a:bodyPr wrap="square" anchor="t" lIns="0" rIns="0" tIns="0" bIns="0">
            <a:spAutoFit/>
          </a:bodyPr>
          <a:lstStyle/>
          <a:p>
            <a:pPr algn="l"/>
            <a:r>
              <a:rPr sz="5800" b="1" i="0">
                <a:solidFill>
                  <a:srgbClr val="FFFFFF"/>
                </a:solidFill>
                <a:latin typeface="Geist Mono"/>
              </a:rPr>
              <a:t>5,310</a:t>
            </a:r>
          </a:p>
        </p:txBody>
      </p:sp>
      <p:sp>
        <p:nvSpPr>
          <p:cNvPr id="9" name="TextBox 8"/>
          <p:cNvSpPr txBox="1"/>
          <p:nvPr/>
        </p:nvSpPr>
        <p:spPr>
          <a:xfrm>
            <a:off x="731520" y="2880360"/>
            <a:ext cx="2987040" cy="2011680"/>
          </a:xfrm>
          <a:prstGeom prst="rect">
            <a:avLst/>
          </a:prstGeom>
          <a:noFill/>
        </p:spPr>
        <p:txBody>
          <a:bodyPr wrap="square" anchor="t" lIns="0" rIns="0" tIns="0" bIns="0">
            <a:spAutoFit/>
          </a:bodyPr>
          <a:lstStyle/>
          <a:p>
            <a:pPr algn="l"/>
            <a:r>
              <a:rPr sz="1500" b="0" i="0">
                <a:solidFill>
                  <a:srgbClr val="FFFFFF"/>
                </a:solidFill>
                <a:latin typeface="Geist"/>
              </a:rPr>
              <a:t>guides, each ACTUALLY tested in the lab -- so every cut-score is a real measurement, not a simulation</a:t>
            </a:r>
          </a:p>
        </p:txBody>
      </p:sp>
      <p:sp>
        <p:nvSpPr>
          <p:cNvPr id="10" name="Rectangle 9"/>
          <p:cNvSpPr/>
          <p:nvPr/>
        </p:nvSpPr>
        <p:spPr>
          <a:xfrm>
            <a:off x="4312920" y="1051560"/>
            <a:ext cx="3535680" cy="512064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7240" y="1508760"/>
            <a:ext cx="2987040" cy="1280160"/>
          </a:xfrm>
          <a:prstGeom prst="rect">
            <a:avLst/>
          </a:prstGeom>
          <a:noFill/>
        </p:spPr>
        <p:txBody>
          <a:bodyPr wrap="square" anchor="t" lIns="0" rIns="0" tIns="0" bIns="0">
            <a:spAutoFit/>
          </a:bodyPr>
          <a:lstStyle/>
          <a:p>
            <a:pPr algn="l"/>
            <a:r>
              <a:rPr sz="5800" b="1" i="0">
                <a:solidFill>
                  <a:srgbClr val="FFFFFF"/>
                </a:solidFill>
                <a:latin typeface="Geist Mono"/>
              </a:rPr>
              <a:t>17</a:t>
            </a:r>
          </a:p>
        </p:txBody>
      </p:sp>
      <p:sp>
        <p:nvSpPr>
          <p:cNvPr id="12" name="TextBox 11"/>
          <p:cNvSpPr txBox="1"/>
          <p:nvPr/>
        </p:nvSpPr>
        <p:spPr>
          <a:xfrm>
            <a:off x="4587240" y="2880360"/>
            <a:ext cx="2987040" cy="2011680"/>
          </a:xfrm>
          <a:prstGeom prst="rect">
            <a:avLst/>
          </a:prstGeom>
          <a:noFill/>
        </p:spPr>
        <p:txBody>
          <a:bodyPr wrap="square" anchor="t" lIns="0" rIns="0" tIns="0" bIns="0">
            <a:spAutoFit/>
          </a:bodyPr>
          <a:lstStyle/>
          <a:p>
            <a:pPr algn="l"/>
            <a:r>
              <a:rPr sz="1500" b="0" i="0">
                <a:solidFill>
                  <a:srgbClr val="FFFFFF"/>
                </a:solidFill>
                <a:latin typeface="Geist"/>
              </a:rPr>
              <a:t>genes targeted, a spread wide enough that the model learns sequence rules, not the quirks of one gene</a:t>
            </a:r>
          </a:p>
        </p:txBody>
      </p:sp>
      <p:sp>
        <p:nvSpPr>
          <p:cNvPr id="13" name="Rectangle 12"/>
          <p:cNvSpPr/>
          <p:nvPr/>
        </p:nvSpPr>
        <p:spPr>
          <a:xfrm>
            <a:off x="8168640" y="1051560"/>
            <a:ext cx="3535680" cy="51206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42960" y="1508760"/>
            <a:ext cx="2987040" cy="1280160"/>
          </a:xfrm>
          <a:prstGeom prst="rect">
            <a:avLst/>
          </a:prstGeom>
          <a:noFill/>
        </p:spPr>
        <p:txBody>
          <a:bodyPr wrap="square" anchor="t" lIns="0" rIns="0" tIns="0" bIns="0">
            <a:spAutoFit/>
          </a:bodyPr>
          <a:lstStyle/>
          <a:p>
            <a:pPr algn="l"/>
            <a:r>
              <a:rPr sz="5800" b="1" i="0">
                <a:solidFill>
                  <a:srgbClr val="14141C"/>
                </a:solidFill>
                <a:latin typeface="Geist Mono"/>
              </a:rPr>
              <a:t>the</a:t>
            </a:r>
          </a:p>
        </p:txBody>
      </p:sp>
      <p:sp>
        <p:nvSpPr>
          <p:cNvPr id="15" name="TextBox 14"/>
          <p:cNvSpPr txBox="1"/>
          <p:nvPr/>
        </p:nvSpPr>
        <p:spPr>
          <a:xfrm>
            <a:off x="8442960" y="2880360"/>
            <a:ext cx="2987040" cy="2011680"/>
          </a:xfrm>
          <a:prstGeom prst="rect">
            <a:avLst/>
          </a:prstGeom>
          <a:noFill/>
        </p:spPr>
        <p:txBody>
          <a:bodyPr wrap="square" anchor="t" lIns="0" rIns="0" tIns="0" bIns="0">
            <a:spAutoFit/>
          </a:bodyPr>
          <a:lstStyle/>
          <a:p>
            <a:pPr algn="l"/>
            <a:r>
              <a:rPr sz="1500" b="0" i="0">
                <a:solidFill>
                  <a:srgbClr val="14141C"/>
                </a:solidFill>
                <a:latin typeface="Geist"/>
              </a:rPr>
              <a:t>benchmark: the dataset Doench built Rule Set 2 / Azimuth on -- what the whole field still compares against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benchmark that set the standard</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sp>
        <p:nvSpPr>
          <p:cNvPr id="7" name="TextBox 6"/>
          <p:cNvSpPr txBox="1"/>
          <p:nvPr/>
        </p:nvSpPr>
        <p:spPr>
          <a:xfrm>
            <a:off x="457200" y="1188720"/>
            <a:ext cx="4723790" cy="365760"/>
          </a:xfrm>
          <a:prstGeom prst="rect">
            <a:avLst/>
          </a:prstGeom>
          <a:noFill/>
        </p:spPr>
        <p:txBody>
          <a:bodyPr wrap="square" anchor="t" lIns="0" rIns="0" tIns="0" bIns="0">
            <a:spAutoFit/>
          </a:bodyPr>
          <a:lstStyle/>
          <a:p>
            <a:pPr algn="l"/>
            <a:r>
              <a:rPr sz="1400" b="1" i="0">
                <a:solidFill>
                  <a:srgbClr val="FF1493"/>
                </a:solidFill>
                <a:latin typeface="Geist Mono"/>
              </a:rPr>
              <a:t>SET HONEST EXPECTATIONS</a:t>
            </a:r>
          </a:p>
        </p:txBody>
      </p:sp>
      <p:sp>
        <p:nvSpPr>
          <p:cNvPr id="8" name="TextBox 7"/>
          <p:cNvSpPr txBox="1"/>
          <p:nvPr/>
        </p:nvSpPr>
        <p:spPr>
          <a:xfrm>
            <a:off x="457200" y="1737360"/>
            <a:ext cx="4723790" cy="1188720"/>
          </a:xfrm>
          <a:prstGeom prst="rect">
            <a:avLst/>
          </a:prstGeom>
          <a:noFill/>
        </p:spPr>
        <p:txBody>
          <a:bodyPr wrap="square" anchor="t" lIns="0" rIns="0" tIns="0" bIns="0">
            <a:spAutoFit/>
          </a:bodyPr>
          <a:lstStyle/>
          <a:p>
            <a:pPr algn="l"/>
            <a:r>
              <a:rPr sz="1700" b="0" i="0">
                <a:solidFill>
                  <a:srgbClr val="14141C"/>
                </a:solidFill>
                <a:latin typeface="Geist"/>
              </a:rPr>
              <a:t>Doench 2016 built Rule Set 2 (Azimuth) on exactly these guides -- the state of the art.</a:t>
            </a:r>
          </a:p>
        </p:txBody>
      </p:sp>
      <p:sp>
        <p:nvSpPr>
          <p:cNvPr id="9" name="TextBox 8"/>
          <p:cNvSpPr txBox="1"/>
          <p:nvPr/>
        </p:nvSpPr>
        <p:spPr>
          <a:xfrm>
            <a:off x="457200" y="2880360"/>
            <a:ext cx="4723790" cy="1371600"/>
          </a:xfrm>
          <a:prstGeom prst="rect">
            <a:avLst/>
          </a:prstGeom>
          <a:noFill/>
        </p:spPr>
        <p:txBody>
          <a:bodyPr wrap="square" anchor="t" lIns="0" rIns="0" tIns="0" bIns="0">
            <a:spAutoFit/>
          </a:bodyPr>
          <a:lstStyle/>
          <a:p>
            <a:pPr algn="l"/>
            <a:r>
              <a:rPr sz="1700" b="0" i="0">
                <a:solidFill>
                  <a:srgbClr val="14141C"/>
                </a:solidFill>
                <a:latin typeface="Geist"/>
              </a:rPr>
              <a:t>Even so, its predicted scores only loosely track the measured ones (the cloud scatters around the line).</a:t>
            </a:r>
          </a:p>
        </p:txBody>
      </p:sp>
      <p:sp>
        <p:nvSpPr>
          <p:cNvPr id="10" name="TextBox 9"/>
          <p:cNvSpPr txBox="1"/>
          <p:nvPr/>
        </p:nvSpPr>
        <p:spPr>
          <a:xfrm>
            <a:off x="457200" y="5349240"/>
            <a:ext cx="4723790" cy="822960"/>
          </a:xfrm>
          <a:prstGeom prst="rect">
            <a:avLst/>
          </a:prstGeom>
          <a:noFill/>
        </p:spPr>
        <p:txBody>
          <a:bodyPr wrap="square" anchor="t" lIns="0" rIns="0" tIns="0" bIns="0">
            <a:spAutoFit/>
          </a:bodyPr>
          <a:lstStyle/>
          <a:p>
            <a:pPr algn="l"/>
            <a:r>
              <a:rPr sz="1500" b="0" i="1">
                <a:solidFill>
                  <a:srgbClr val="8A2BE2"/>
                </a:solidFill>
                <a:latin typeface="Geist"/>
              </a:rPr>
              <a:t>So our goal is to capture the real signal -- not to expect a perfect predictor.</a:t>
            </a:r>
          </a:p>
        </p:txBody>
      </p:sp>
      <p:pic>
        <p:nvPicPr>
          <p:cNvPr id="11" name="Picture 10" descr="intro_doench_scatter.png"/>
          <p:cNvPicPr>
            <a:picLocks noChangeAspect="1"/>
          </p:cNvPicPr>
          <p:nvPr/>
        </p:nvPicPr>
        <p:blipFill>
          <a:blip r:embed="rId2"/>
          <a:stretch>
            <a:fillRect/>
          </a:stretch>
        </p:blipFill>
        <p:spPr>
          <a:xfrm>
            <a:off x="5964893" y="1051560"/>
            <a:ext cx="5367003" cy="521207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F0C840"/>
                </a:solidFill>
                <a:latin typeface="Geist Mono"/>
              </a:rPr>
              <a:t>Results</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MODEL</a:t>
            </a:r>
          </a:p>
        </p:txBody>
      </p:sp>
      <p:sp>
        <p:nvSpPr>
          <p:cNvPr id="7" name="Rectangle 6"/>
          <p:cNvSpPr/>
          <p:nvPr/>
        </p:nvSpPr>
        <p:spPr>
          <a:xfrm>
            <a:off x="777240" y="5120640"/>
            <a:ext cx="1828800" cy="18288"/>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Picking good CRISPR guides before the lab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First, turn letters into numbers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sp>
        <p:nvSpPr>
          <p:cNvPr id="7" name="TextBox 6"/>
          <p:cNvSpPr txBox="1"/>
          <p:nvPr/>
        </p:nvSpPr>
        <p:spPr>
          <a:xfrm>
            <a:off x="457200" y="1143000"/>
            <a:ext cx="11247120" cy="411480"/>
          </a:xfrm>
          <a:prstGeom prst="rect">
            <a:avLst/>
          </a:prstGeom>
          <a:noFill/>
        </p:spPr>
        <p:txBody>
          <a:bodyPr wrap="square" anchor="t" lIns="0" rIns="0" tIns="0" bIns="0">
            <a:spAutoFit/>
          </a:bodyPr>
          <a:lstStyle/>
          <a:p>
            <a:pPr algn="l"/>
            <a:r>
              <a:rPr sz="1600" b="1" i="0">
                <a:solidFill>
                  <a:srgbClr val="8A2BE2"/>
                </a:solidFill>
                <a:latin typeface="Geist Mono"/>
              </a:rPr>
              <a:t>a computer cannot do math on the letter A -- so one-hot flips 4 switches per position:</a:t>
            </a:r>
          </a:p>
        </p:txBody>
      </p:sp>
      <p:sp>
        <p:nvSpPr>
          <p:cNvPr id="8" name="TextBox 7"/>
          <p:cNvSpPr txBox="1"/>
          <p:nvPr/>
        </p:nvSpPr>
        <p:spPr>
          <a:xfrm>
            <a:off x="3474720" y="1691640"/>
            <a:ext cx="566928" cy="457200"/>
          </a:xfrm>
          <a:prstGeom prst="rect">
            <a:avLst/>
          </a:prstGeom>
          <a:noFill/>
        </p:spPr>
        <p:txBody>
          <a:bodyPr wrap="square" anchor="t" lIns="0" rIns="0" tIns="0" bIns="0">
            <a:spAutoFit/>
          </a:bodyPr>
          <a:lstStyle/>
          <a:p>
            <a:pPr algn="ctr"/>
            <a:r>
              <a:rPr sz="1700" b="1" i="0">
                <a:solidFill>
                  <a:srgbClr val="14141C"/>
                </a:solidFill>
                <a:latin typeface="Geist Mono"/>
              </a:rPr>
              <a:t>G</a:t>
            </a:r>
          </a:p>
        </p:txBody>
      </p:sp>
      <p:sp>
        <p:nvSpPr>
          <p:cNvPr id="9" name="TextBox 8"/>
          <p:cNvSpPr txBox="1"/>
          <p:nvPr/>
        </p:nvSpPr>
        <p:spPr>
          <a:xfrm>
            <a:off x="4041648" y="1691640"/>
            <a:ext cx="566928" cy="457200"/>
          </a:xfrm>
          <a:prstGeom prst="rect">
            <a:avLst/>
          </a:prstGeom>
          <a:noFill/>
        </p:spPr>
        <p:txBody>
          <a:bodyPr wrap="square" anchor="t" lIns="0" rIns="0" tIns="0" bIns="0">
            <a:spAutoFit/>
          </a:bodyPr>
          <a:lstStyle/>
          <a:p>
            <a:pPr algn="ctr"/>
            <a:r>
              <a:rPr sz="1700" b="1" i="0">
                <a:solidFill>
                  <a:srgbClr val="14141C"/>
                </a:solidFill>
                <a:latin typeface="Geist Mono"/>
              </a:rPr>
              <a:t>A</a:t>
            </a:r>
          </a:p>
        </p:txBody>
      </p:sp>
      <p:sp>
        <p:nvSpPr>
          <p:cNvPr id="10" name="TextBox 9"/>
          <p:cNvSpPr txBox="1"/>
          <p:nvPr/>
        </p:nvSpPr>
        <p:spPr>
          <a:xfrm>
            <a:off x="4608576" y="1691640"/>
            <a:ext cx="566928" cy="457200"/>
          </a:xfrm>
          <a:prstGeom prst="rect">
            <a:avLst/>
          </a:prstGeom>
          <a:noFill/>
        </p:spPr>
        <p:txBody>
          <a:bodyPr wrap="square" anchor="t" lIns="0" rIns="0" tIns="0" bIns="0">
            <a:spAutoFit/>
          </a:bodyPr>
          <a:lstStyle/>
          <a:p>
            <a:pPr algn="ctr"/>
            <a:r>
              <a:rPr sz="1700" b="1" i="0">
                <a:solidFill>
                  <a:srgbClr val="14141C"/>
                </a:solidFill>
                <a:latin typeface="Geist Mono"/>
              </a:rPr>
              <a:t>C</a:t>
            </a:r>
          </a:p>
        </p:txBody>
      </p:sp>
      <p:sp>
        <p:nvSpPr>
          <p:cNvPr id="11" name="TextBox 10"/>
          <p:cNvSpPr txBox="1"/>
          <p:nvPr/>
        </p:nvSpPr>
        <p:spPr>
          <a:xfrm>
            <a:off x="5175504" y="1691640"/>
            <a:ext cx="566928" cy="457200"/>
          </a:xfrm>
          <a:prstGeom prst="rect">
            <a:avLst/>
          </a:prstGeom>
          <a:noFill/>
        </p:spPr>
        <p:txBody>
          <a:bodyPr wrap="square" anchor="t" lIns="0" rIns="0" tIns="0" bIns="0">
            <a:spAutoFit/>
          </a:bodyPr>
          <a:lstStyle/>
          <a:p>
            <a:pPr algn="ctr"/>
            <a:r>
              <a:rPr sz="1700" b="1" i="0">
                <a:solidFill>
                  <a:srgbClr val="14141C"/>
                </a:solidFill>
                <a:latin typeface="Geist Mono"/>
              </a:rPr>
              <a:t>T</a:t>
            </a:r>
          </a:p>
        </p:txBody>
      </p:sp>
      <p:sp>
        <p:nvSpPr>
          <p:cNvPr id="12" name="TextBox 11"/>
          <p:cNvSpPr txBox="1"/>
          <p:nvPr/>
        </p:nvSpPr>
        <p:spPr>
          <a:xfrm>
            <a:off x="5742432" y="1691640"/>
            <a:ext cx="566928" cy="457200"/>
          </a:xfrm>
          <a:prstGeom prst="rect">
            <a:avLst/>
          </a:prstGeom>
          <a:noFill/>
        </p:spPr>
        <p:txBody>
          <a:bodyPr wrap="square" anchor="t" lIns="0" rIns="0" tIns="0" bIns="0">
            <a:spAutoFit/>
          </a:bodyPr>
          <a:lstStyle/>
          <a:p>
            <a:pPr algn="ctr"/>
            <a:r>
              <a:rPr sz="1700" b="1" i="0">
                <a:solidFill>
                  <a:srgbClr val="14141C"/>
                </a:solidFill>
                <a:latin typeface="Geist Mono"/>
              </a:rPr>
              <a:t>G</a:t>
            </a:r>
          </a:p>
        </p:txBody>
      </p:sp>
      <p:sp>
        <p:nvSpPr>
          <p:cNvPr id="13" name="TextBox 12"/>
          <p:cNvSpPr txBox="1"/>
          <p:nvPr/>
        </p:nvSpPr>
        <p:spPr>
          <a:xfrm>
            <a:off x="6309360" y="1691640"/>
            <a:ext cx="566928" cy="457200"/>
          </a:xfrm>
          <a:prstGeom prst="rect">
            <a:avLst/>
          </a:prstGeom>
          <a:noFill/>
        </p:spPr>
        <p:txBody>
          <a:bodyPr wrap="square" anchor="t" lIns="0" rIns="0" tIns="0" bIns="0">
            <a:spAutoFit/>
          </a:bodyPr>
          <a:lstStyle/>
          <a:p>
            <a:pPr algn="ctr"/>
            <a:r>
              <a:rPr sz="1700" b="1" i="0">
                <a:solidFill>
                  <a:srgbClr val="14141C"/>
                </a:solidFill>
                <a:latin typeface="Geist Mono"/>
              </a:rPr>
              <a:t>A</a:t>
            </a:r>
          </a:p>
        </p:txBody>
      </p:sp>
      <p:sp>
        <p:nvSpPr>
          <p:cNvPr id="14" name="TextBox 13"/>
          <p:cNvSpPr txBox="1"/>
          <p:nvPr/>
        </p:nvSpPr>
        <p:spPr>
          <a:xfrm>
            <a:off x="6876288" y="1691640"/>
            <a:ext cx="566928" cy="457200"/>
          </a:xfrm>
          <a:prstGeom prst="rect">
            <a:avLst/>
          </a:prstGeom>
          <a:noFill/>
        </p:spPr>
        <p:txBody>
          <a:bodyPr wrap="square" anchor="t" lIns="0" rIns="0" tIns="0" bIns="0">
            <a:spAutoFit/>
          </a:bodyPr>
          <a:lstStyle/>
          <a:p>
            <a:pPr algn="ctr"/>
            <a:r>
              <a:rPr sz="1700" b="1" i="0">
                <a:solidFill>
                  <a:srgbClr val="14141C"/>
                </a:solidFill>
                <a:latin typeface="Geist Mono"/>
              </a:rPr>
              <a:t>A</a:t>
            </a:r>
          </a:p>
        </p:txBody>
      </p:sp>
      <p:sp>
        <p:nvSpPr>
          <p:cNvPr id="15" name="TextBox 14"/>
          <p:cNvSpPr txBox="1"/>
          <p:nvPr/>
        </p:nvSpPr>
        <p:spPr>
          <a:xfrm>
            <a:off x="7443216" y="1691640"/>
            <a:ext cx="566928" cy="457200"/>
          </a:xfrm>
          <a:prstGeom prst="rect">
            <a:avLst/>
          </a:prstGeom>
          <a:noFill/>
        </p:spPr>
        <p:txBody>
          <a:bodyPr wrap="square" anchor="t" lIns="0" rIns="0" tIns="0" bIns="0">
            <a:spAutoFit/>
          </a:bodyPr>
          <a:lstStyle/>
          <a:p>
            <a:pPr algn="ctr"/>
            <a:r>
              <a:rPr sz="1700" b="1" i="0">
                <a:solidFill>
                  <a:srgbClr val="14141C"/>
                </a:solidFill>
                <a:latin typeface="Geist Mono"/>
              </a:rPr>
              <a:t>C</a:t>
            </a:r>
          </a:p>
        </p:txBody>
      </p:sp>
      <p:sp>
        <p:nvSpPr>
          <p:cNvPr id="16" name="TextBox 15"/>
          <p:cNvSpPr txBox="1"/>
          <p:nvPr/>
        </p:nvSpPr>
        <p:spPr>
          <a:xfrm>
            <a:off x="8010144" y="1691640"/>
            <a:ext cx="566928" cy="457200"/>
          </a:xfrm>
          <a:prstGeom prst="rect">
            <a:avLst/>
          </a:prstGeom>
          <a:noFill/>
        </p:spPr>
        <p:txBody>
          <a:bodyPr wrap="square" anchor="t" lIns="0" rIns="0" tIns="0" bIns="0">
            <a:spAutoFit/>
          </a:bodyPr>
          <a:lstStyle/>
          <a:p>
            <a:pPr algn="ctr"/>
            <a:r>
              <a:rPr sz="1700" b="1" i="0">
                <a:solidFill>
                  <a:srgbClr val="14141C"/>
                </a:solidFill>
                <a:latin typeface="Geist Mono"/>
              </a:rPr>
              <a:t>A</a:t>
            </a:r>
          </a:p>
        </p:txBody>
      </p:sp>
      <p:sp>
        <p:nvSpPr>
          <p:cNvPr id="17" name="TextBox 16"/>
          <p:cNvSpPr txBox="1"/>
          <p:nvPr/>
        </p:nvSpPr>
        <p:spPr>
          <a:xfrm>
            <a:off x="8577072" y="1691640"/>
            <a:ext cx="566928" cy="457200"/>
          </a:xfrm>
          <a:prstGeom prst="rect">
            <a:avLst/>
          </a:prstGeom>
          <a:noFill/>
        </p:spPr>
        <p:txBody>
          <a:bodyPr wrap="square" anchor="t" lIns="0" rIns="0" tIns="0" bIns="0">
            <a:spAutoFit/>
          </a:bodyPr>
          <a:lstStyle/>
          <a:p>
            <a:pPr algn="ctr"/>
            <a:r>
              <a:rPr sz="1700" b="1" i="0">
                <a:solidFill>
                  <a:srgbClr val="14141C"/>
                </a:solidFill>
                <a:latin typeface="Geist Mono"/>
              </a:rPr>
              <a:t>G</a:t>
            </a:r>
          </a:p>
        </p:txBody>
      </p:sp>
      <p:sp>
        <p:nvSpPr>
          <p:cNvPr id="18" name="TextBox 17"/>
          <p:cNvSpPr txBox="1"/>
          <p:nvPr/>
        </p:nvSpPr>
        <p:spPr>
          <a:xfrm>
            <a:off x="2926080" y="2194560"/>
            <a:ext cx="411480" cy="566928"/>
          </a:xfrm>
          <a:prstGeom prst="rect">
            <a:avLst/>
          </a:prstGeom>
          <a:noFill/>
        </p:spPr>
        <p:txBody>
          <a:bodyPr wrap="square" anchor="ctr" lIns="0" rIns="0" tIns="0" bIns="0">
            <a:spAutoFit/>
          </a:bodyPr>
          <a:lstStyle/>
          <a:p>
            <a:pPr algn="r"/>
            <a:r>
              <a:rPr sz="1500" b="1" i="0">
                <a:solidFill>
                  <a:srgbClr val="555560"/>
                </a:solidFill>
                <a:latin typeface="Geist Mono"/>
              </a:rPr>
              <a:t>A</a:t>
            </a:r>
          </a:p>
        </p:txBody>
      </p:sp>
      <p:sp>
        <p:nvSpPr>
          <p:cNvPr id="19" name="Rectangle 18"/>
          <p:cNvSpPr/>
          <p:nvPr/>
        </p:nvSpPr>
        <p:spPr>
          <a:xfrm>
            <a:off x="3502152" y="2221992"/>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69080" y="2221992"/>
            <a:ext cx="512064" cy="512064"/>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41648" y="2194560"/>
            <a:ext cx="566928" cy="566928"/>
          </a:xfrm>
          <a:prstGeom prst="rect">
            <a:avLst/>
          </a:prstGeom>
          <a:noFill/>
        </p:spPr>
        <p:txBody>
          <a:bodyPr wrap="square" anchor="ctr" lIns="0" rIns="0" tIns="0" bIns="0">
            <a:spAutoFit/>
          </a:bodyPr>
          <a:lstStyle/>
          <a:p>
            <a:pPr algn="ctr"/>
            <a:r>
              <a:rPr sz="1300" b="1" i="0">
                <a:solidFill>
                  <a:srgbClr val="14141C"/>
                </a:solidFill>
                <a:latin typeface="Geist Mono"/>
              </a:rPr>
              <a:t>1</a:t>
            </a:r>
          </a:p>
        </p:txBody>
      </p:sp>
      <p:sp>
        <p:nvSpPr>
          <p:cNvPr id="22" name="Rectangle 21"/>
          <p:cNvSpPr/>
          <p:nvPr/>
        </p:nvSpPr>
        <p:spPr>
          <a:xfrm>
            <a:off x="4636008" y="2221992"/>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02936" y="2221992"/>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769864" y="2221992"/>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36792" y="2221992"/>
            <a:ext cx="512064" cy="512064"/>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2194560"/>
            <a:ext cx="566928" cy="566928"/>
          </a:xfrm>
          <a:prstGeom prst="rect">
            <a:avLst/>
          </a:prstGeom>
          <a:noFill/>
        </p:spPr>
        <p:txBody>
          <a:bodyPr wrap="square" anchor="ctr" lIns="0" rIns="0" tIns="0" bIns="0">
            <a:spAutoFit/>
          </a:bodyPr>
          <a:lstStyle/>
          <a:p>
            <a:pPr algn="ctr"/>
            <a:r>
              <a:rPr sz="1300" b="1" i="0">
                <a:solidFill>
                  <a:srgbClr val="14141C"/>
                </a:solidFill>
                <a:latin typeface="Geist Mono"/>
              </a:rPr>
              <a:t>1</a:t>
            </a:r>
          </a:p>
        </p:txBody>
      </p:sp>
      <p:sp>
        <p:nvSpPr>
          <p:cNvPr id="27" name="Rectangle 26"/>
          <p:cNvSpPr/>
          <p:nvPr/>
        </p:nvSpPr>
        <p:spPr>
          <a:xfrm>
            <a:off x="6903720" y="2221992"/>
            <a:ext cx="512064" cy="512064"/>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76288" y="2194560"/>
            <a:ext cx="566928" cy="566928"/>
          </a:xfrm>
          <a:prstGeom prst="rect">
            <a:avLst/>
          </a:prstGeom>
          <a:noFill/>
        </p:spPr>
        <p:txBody>
          <a:bodyPr wrap="square" anchor="ctr" lIns="0" rIns="0" tIns="0" bIns="0">
            <a:spAutoFit/>
          </a:bodyPr>
          <a:lstStyle/>
          <a:p>
            <a:pPr algn="ctr"/>
            <a:r>
              <a:rPr sz="1300" b="1" i="0">
                <a:solidFill>
                  <a:srgbClr val="14141C"/>
                </a:solidFill>
                <a:latin typeface="Geist Mono"/>
              </a:rPr>
              <a:t>1</a:t>
            </a:r>
          </a:p>
        </p:txBody>
      </p:sp>
      <p:sp>
        <p:nvSpPr>
          <p:cNvPr id="29" name="Rectangle 28"/>
          <p:cNvSpPr/>
          <p:nvPr/>
        </p:nvSpPr>
        <p:spPr>
          <a:xfrm>
            <a:off x="7470648" y="2221992"/>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37575" y="2221992"/>
            <a:ext cx="512064" cy="512064"/>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0144" y="2194560"/>
            <a:ext cx="566928" cy="566928"/>
          </a:xfrm>
          <a:prstGeom prst="rect">
            <a:avLst/>
          </a:prstGeom>
          <a:noFill/>
        </p:spPr>
        <p:txBody>
          <a:bodyPr wrap="square" anchor="ctr" lIns="0" rIns="0" tIns="0" bIns="0">
            <a:spAutoFit/>
          </a:bodyPr>
          <a:lstStyle/>
          <a:p>
            <a:pPr algn="ctr"/>
            <a:r>
              <a:rPr sz="1300" b="1" i="0">
                <a:solidFill>
                  <a:srgbClr val="14141C"/>
                </a:solidFill>
                <a:latin typeface="Geist Mono"/>
              </a:rPr>
              <a:t>1</a:t>
            </a:r>
          </a:p>
        </p:txBody>
      </p:sp>
      <p:sp>
        <p:nvSpPr>
          <p:cNvPr id="32" name="Rectangle 31"/>
          <p:cNvSpPr/>
          <p:nvPr/>
        </p:nvSpPr>
        <p:spPr>
          <a:xfrm>
            <a:off x="8604504" y="2221992"/>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0" y="2761488"/>
            <a:ext cx="411480" cy="566928"/>
          </a:xfrm>
          <a:prstGeom prst="rect">
            <a:avLst/>
          </a:prstGeom>
          <a:noFill/>
        </p:spPr>
        <p:txBody>
          <a:bodyPr wrap="square" anchor="ctr" lIns="0" rIns="0" tIns="0" bIns="0">
            <a:spAutoFit/>
          </a:bodyPr>
          <a:lstStyle/>
          <a:p>
            <a:pPr algn="r"/>
            <a:r>
              <a:rPr sz="1500" b="1" i="0">
                <a:solidFill>
                  <a:srgbClr val="555560"/>
                </a:solidFill>
                <a:latin typeface="Geist Mono"/>
              </a:rPr>
              <a:t>C</a:t>
            </a:r>
          </a:p>
        </p:txBody>
      </p:sp>
      <p:sp>
        <p:nvSpPr>
          <p:cNvPr id="34" name="Rectangle 33"/>
          <p:cNvSpPr/>
          <p:nvPr/>
        </p:nvSpPr>
        <p:spPr>
          <a:xfrm>
            <a:off x="3502152" y="2788920"/>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69080" y="2788920"/>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36008" y="2788920"/>
            <a:ext cx="512064" cy="512064"/>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08576" y="2761488"/>
            <a:ext cx="566928" cy="566928"/>
          </a:xfrm>
          <a:prstGeom prst="rect">
            <a:avLst/>
          </a:prstGeom>
          <a:noFill/>
        </p:spPr>
        <p:txBody>
          <a:bodyPr wrap="square" anchor="ctr" lIns="0" rIns="0" tIns="0" bIns="0">
            <a:spAutoFit/>
          </a:bodyPr>
          <a:lstStyle/>
          <a:p>
            <a:pPr algn="ctr"/>
            <a:r>
              <a:rPr sz="1300" b="1" i="0">
                <a:solidFill>
                  <a:srgbClr val="14141C"/>
                </a:solidFill>
                <a:latin typeface="Geist Mono"/>
              </a:rPr>
              <a:t>1</a:t>
            </a:r>
          </a:p>
        </p:txBody>
      </p:sp>
      <p:sp>
        <p:nvSpPr>
          <p:cNvPr id="38" name="Rectangle 37"/>
          <p:cNvSpPr/>
          <p:nvPr/>
        </p:nvSpPr>
        <p:spPr>
          <a:xfrm>
            <a:off x="5202936" y="2788920"/>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69864" y="2788920"/>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36792" y="2788920"/>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03720" y="2788920"/>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70648" y="2788920"/>
            <a:ext cx="512064" cy="512064"/>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43216" y="2761488"/>
            <a:ext cx="566928" cy="566928"/>
          </a:xfrm>
          <a:prstGeom prst="rect">
            <a:avLst/>
          </a:prstGeom>
          <a:noFill/>
        </p:spPr>
        <p:txBody>
          <a:bodyPr wrap="square" anchor="ctr" lIns="0" rIns="0" tIns="0" bIns="0">
            <a:spAutoFit/>
          </a:bodyPr>
          <a:lstStyle/>
          <a:p>
            <a:pPr algn="ctr"/>
            <a:r>
              <a:rPr sz="1300" b="1" i="0">
                <a:solidFill>
                  <a:srgbClr val="14141C"/>
                </a:solidFill>
                <a:latin typeface="Geist Mono"/>
              </a:rPr>
              <a:t>1</a:t>
            </a:r>
          </a:p>
        </p:txBody>
      </p:sp>
      <p:sp>
        <p:nvSpPr>
          <p:cNvPr id="44" name="Rectangle 43"/>
          <p:cNvSpPr/>
          <p:nvPr/>
        </p:nvSpPr>
        <p:spPr>
          <a:xfrm>
            <a:off x="8037575" y="2788920"/>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04504" y="2788920"/>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926080" y="3328416"/>
            <a:ext cx="411480" cy="566928"/>
          </a:xfrm>
          <a:prstGeom prst="rect">
            <a:avLst/>
          </a:prstGeom>
          <a:noFill/>
        </p:spPr>
        <p:txBody>
          <a:bodyPr wrap="square" anchor="ctr" lIns="0" rIns="0" tIns="0" bIns="0">
            <a:spAutoFit/>
          </a:bodyPr>
          <a:lstStyle/>
          <a:p>
            <a:pPr algn="r"/>
            <a:r>
              <a:rPr sz="1500" b="1" i="0">
                <a:solidFill>
                  <a:srgbClr val="555560"/>
                </a:solidFill>
                <a:latin typeface="Geist Mono"/>
              </a:rPr>
              <a:t>G</a:t>
            </a:r>
          </a:p>
        </p:txBody>
      </p:sp>
      <p:sp>
        <p:nvSpPr>
          <p:cNvPr id="47" name="Rectangle 46"/>
          <p:cNvSpPr/>
          <p:nvPr/>
        </p:nvSpPr>
        <p:spPr>
          <a:xfrm>
            <a:off x="3502152" y="3355848"/>
            <a:ext cx="512064" cy="512064"/>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74720" y="3328416"/>
            <a:ext cx="566928" cy="566928"/>
          </a:xfrm>
          <a:prstGeom prst="rect">
            <a:avLst/>
          </a:prstGeom>
          <a:noFill/>
        </p:spPr>
        <p:txBody>
          <a:bodyPr wrap="square" anchor="ctr" lIns="0" rIns="0" tIns="0" bIns="0">
            <a:spAutoFit/>
          </a:bodyPr>
          <a:lstStyle/>
          <a:p>
            <a:pPr algn="ctr"/>
            <a:r>
              <a:rPr sz="1300" b="1" i="0">
                <a:solidFill>
                  <a:srgbClr val="14141C"/>
                </a:solidFill>
                <a:latin typeface="Geist Mono"/>
              </a:rPr>
              <a:t>1</a:t>
            </a:r>
          </a:p>
        </p:txBody>
      </p:sp>
      <p:sp>
        <p:nvSpPr>
          <p:cNvPr id="49" name="Rectangle 48"/>
          <p:cNvSpPr/>
          <p:nvPr/>
        </p:nvSpPr>
        <p:spPr>
          <a:xfrm>
            <a:off x="4069080" y="3355848"/>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636008" y="3355848"/>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202936" y="3355848"/>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769864" y="3355848"/>
            <a:ext cx="512064" cy="512064"/>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742432" y="3328416"/>
            <a:ext cx="566928" cy="566928"/>
          </a:xfrm>
          <a:prstGeom prst="rect">
            <a:avLst/>
          </a:prstGeom>
          <a:noFill/>
        </p:spPr>
        <p:txBody>
          <a:bodyPr wrap="square" anchor="ctr" lIns="0" rIns="0" tIns="0" bIns="0">
            <a:spAutoFit/>
          </a:bodyPr>
          <a:lstStyle/>
          <a:p>
            <a:pPr algn="ctr"/>
            <a:r>
              <a:rPr sz="1300" b="1" i="0">
                <a:solidFill>
                  <a:srgbClr val="14141C"/>
                </a:solidFill>
                <a:latin typeface="Geist Mono"/>
              </a:rPr>
              <a:t>1</a:t>
            </a:r>
          </a:p>
        </p:txBody>
      </p:sp>
      <p:sp>
        <p:nvSpPr>
          <p:cNvPr id="54" name="Rectangle 53"/>
          <p:cNvSpPr/>
          <p:nvPr/>
        </p:nvSpPr>
        <p:spPr>
          <a:xfrm>
            <a:off x="6336792" y="3355848"/>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903720" y="3355848"/>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470648" y="3355848"/>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037575" y="3355848"/>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604504" y="3355848"/>
            <a:ext cx="512064" cy="512064"/>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577072" y="3328416"/>
            <a:ext cx="566928" cy="566928"/>
          </a:xfrm>
          <a:prstGeom prst="rect">
            <a:avLst/>
          </a:prstGeom>
          <a:noFill/>
        </p:spPr>
        <p:txBody>
          <a:bodyPr wrap="square" anchor="ctr" lIns="0" rIns="0" tIns="0" bIns="0">
            <a:spAutoFit/>
          </a:bodyPr>
          <a:lstStyle/>
          <a:p>
            <a:pPr algn="ctr"/>
            <a:r>
              <a:rPr sz="1300" b="1" i="0">
                <a:solidFill>
                  <a:srgbClr val="14141C"/>
                </a:solidFill>
                <a:latin typeface="Geist Mono"/>
              </a:rPr>
              <a:t>1</a:t>
            </a:r>
          </a:p>
        </p:txBody>
      </p:sp>
      <p:sp>
        <p:nvSpPr>
          <p:cNvPr id="60" name="TextBox 59"/>
          <p:cNvSpPr txBox="1"/>
          <p:nvPr/>
        </p:nvSpPr>
        <p:spPr>
          <a:xfrm>
            <a:off x="2926080" y="3895344"/>
            <a:ext cx="411480" cy="566928"/>
          </a:xfrm>
          <a:prstGeom prst="rect">
            <a:avLst/>
          </a:prstGeom>
          <a:noFill/>
        </p:spPr>
        <p:txBody>
          <a:bodyPr wrap="square" anchor="ctr" lIns="0" rIns="0" tIns="0" bIns="0">
            <a:spAutoFit/>
          </a:bodyPr>
          <a:lstStyle/>
          <a:p>
            <a:pPr algn="r"/>
            <a:r>
              <a:rPr sz="1500" b="1" i="0">
                <a:solidFill>
                  <a:srgbClr val="555560"/>
                </a:solidFill>
                <a:latin typeface="Geist Mono"/>
              </a:rPr>
              <a:t>T</a:t>
            </a:r>
          </a:p>
        </p:txBody>
      </p:sp>
      <p:sp>
        <p:nvSpPr>
          <p:cNvPr id="61" name="Rectangle 60"/>
          <p:cNvSpPr/>
          <p:nvPr/>
        </p:nvSpPr>
        <p:spPr>
          <a:xfrm>
            <a:off x="3502152" y="3922776"/>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069080" y="3922776"/>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636008" y="3922776"/>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202936" y="3922776"/>
            <a:ext cx="512064" cy="512064"/>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175504" y="3895344"/>
            <a:ext cx="566928" cy="566928"/>
          </a:xfrm>
          <a:prstGeom prst="rect">
            <a:avLst/>
          </a:prstGeom>
          <a:noFill/>
        </p:spPr>
        <p:txBody>
          <a:bodyPr wrap="square" anchor="ctr" lIns="0" rIns="0" tIns="0" bIns="0">
            <a:spAutoFit/>
          </a:bodyPr>
          <a:lstStyle/>
          <a:p>
            <a:pPr algn="ctr"/>
            <a:r>
              <a:rPr sz="1300" b="1" i="0">
                <a:solidFill>
                  <a:srgbClr val="14141C"/>
                </a:solidFill>
                <a:latin typeface="Geist Mono"/>
              </a:rPr>
              <a:t>1</a:t>
            </a:r>
          </a:p>
        </p:txBody>
      </p:sp>
      <p:sp>
        <p:nvSpPr>
          <p:cNvPr id="66" name="Rectangle 65"/>
          <p:cNvSpPr/>
          <p:nvPr/>
        </p:nvSpPr>
        <p:spPr>
          <a:xfrm>
            <a:off x="5769864" y="3922776"/>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36792" y="3922776"/>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903720" y="3922776"/>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470648" y="3922776"/>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037575" y="3922776"/>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604504" y="3922776"/>
            <a:ext cx="512064" cy="512064"/>
          </a:xfrm>
          <a:prstGeom prst="rect">
            <a:avLst/>
          </a:prstGeom>
          <a:solidFill>
            <a:srgbClr val="E7E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57200" y="4782312"/>
            <a:ext cx="11247120" cy="457200"/>
          </a:xfrm>
          <a:prstGeom prst="rect">
            <a:avLst/>
          </a:prstGeom>
          <a:noFill/>
        </p:spPr>
        <p:txBody>
          <a:bodyPr wrap="square" anchor="t" lIns="0" rIns="0" tIns="0" bIns="0">
            <a:spAutoFit/>
          </a:bodyPr>
          <a:lstStyle/>
          <a:p>
            <a:pPr algn="l"/>
            <a:r>
              <a:rPr sz="1500" b="0" i="0">
                <a:solidFill>
                  <a:srgbClr val="14141C"/>
                </a:solidFill>
                <a:latin typeface="Geist"/>
              </a:rPr>
              <a:t>One switch ON per column -&gt; 80 numbers that KEEP the order, so the seed near the PAM stays visible.</a:t>
            </a:r>
          </a:p>
        </p:txBody>
      </p:sp>
      <p:sp>
        <p:nvSpPr>
          <p:cNvPr id="73" name="TextBox 72"/>
          <p:cNvSpPr txBox="1"/>
          <p:nvPr/>
        </p:nvSpPr>
        <p:spPr>
          <a:xfrm>
            <a:off x="457200" y="5285232"/>
            <a:ext cx="11247120" cy="457200"/>
          </a:xfrm>
          <a:prstGeom prst="rect">
            <a:avLst/>
          </a:prstGeom>
          <a:noFill/>
        </p:spPr>
        <p:txBody>
          <a:bodyPr wrap="square" anchor="t" lIns="0" rIns="0" tIns="0" bIns="0">
            <a:spAutoFit/>
          </a:bodyPr>
          <a:lstStyle/>
          <a:p>
            <a:pPr algn="l"/>
            <a:r>
              <a:rPr sz="1500" b="0" i="1">
                <a:solidFill>
                  <a:srgbClr val="FF1493"/>
                </a:solidFill>
                <a:latin typeface="Geist"/>
              </a:rPr>
              <a:t>k-mer would just count letters and throw the order away -- so we use one-hot.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We tested four models – we did not guess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pic>
        <p:nvPicPr>
          <p:cNvPr id="7" name="Picture 6" descr="model_choice.png"/>
          <p:cNvPicPr>
            <a:picLocks noChangeAspect="1"/>
          </p:cNvPicPr>
          <p:nvPr/>
        </p:nvPicPr>
        <p:blipFill>
          <a:blip r:embed="rId2"/>
          <a:stretch>
            <a:fillRect/>
          </a:stretch>
        </p:blipFill>
        <p:spPr>
          <a:xfrm>
            <a:off x="457200" y="1507905"/>
            <a:ext cx="6185916" cy="4299389"/>
          </a:xfrm>
          <a:prstGeom prst="rect">
            <a:avLst/>
          </a:prstGeom>
        </p:spPr>
      </p:pic>
      <p:sp>
        <p:nvSpPr>
          <p:cNvPr id="8" name="Rectangle 7"/>
          <p:cNvSpPr/>
          <p:nvPr/>
        </p:nvSpPr>
        <p:spPr>
          <a:xfrm>
            <a:off x="7054596" y="1143000"/>
            <a:ext cx="4649724" cy="49377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54596" y="1143000"/>
            <a:ext cx="4649724" cy="91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0628" y="1417320"/>
            <a:ext cx="4137660" cy="365760"/>
          </a:xfrm>
          <a:prstGeom prst="rect">
            <a:avLst/>
          </a:prstGeom>
          <a:noFill/>
        </p:spPr>
        <p:txBody>
          <a:bodyPr wrap="square" anchor="t" lIns="0" rIns="0" tIns="0" bIns="0">
            <a:spAutoFit/>
          </a:bodyPr>
          <a:lstStyle/>
          <a:p>
            <a:pPr algn="l"/>
            <a:r>
              <a:rPr sz="1400" b="1" i="0">
                <a:solidFill>
                  <a:srgbClr val="40E0D0"/>
                </a:solidFill>
                <a:latin typeface="Geist Mono"/>
              </a:rPr>
              <a:t>WE TESTED, WE DID NOT GUESS</a:t>
            </a:r>
          </a:p>
        </p:txBody>
      </p:sp>
      <p:sp>
        <p:nvSpPr>
          <p:cNvPr id="11" name="TextBox 10"/>
          <p:cNvSpPr txBox="1"/>
          <p:nvPr/>
        </p:nvSpPr>
        <p:spPr>
          <a:xfrm>
            <a:off x="7310628" y="1920240"/>
            <a:ext cx="4137660" cy="868680"/>
          </a:xfrm>
          <a:prstGeom prst="rect">
            <a:avLst/>
          </a:prstGeom>
          <a:noFill/>
        </p:spPr>
        <p:txBody>
          <a:bodyPr wrap="square" anchor="t" lIns="0" rIns="0" tIns="0" bIns="0">
            <a:spAutoFit/>
          </a:bodyPr>
          <a:lstStyle/>
          <a:p>
            <a:pPr algn="l"/>
            <a:r>
              <a:rPr sz="5400" b="1" i="0">
                <a:solidFill>
                  <a:srgbClr val="14141C"/>
                </a:solidFill>
                <a:latin typeface="Geist Mono"/>
              </a:rPr>
              <a:t>0.88</a:t>
            </a:r>
          </a:p>
        </p:txBody>
      </p:sp>
      <p:sp>
        <p:nvSpPr>
          <p:cNvPr id="12" name="TextBox 11"/>
          <p:cNvSpPr txBox="1"/>
          <p:nvPr/>
        </p:nvSpPr>
        <p:spPr>
          <a:xfrm>
            <a:off x="7310628" y="2880360"/>
            <a:ext cx="4137660" cy="1371600"/>
          </a:xfrm>
          <a:prstGeom prst="rect">
            <a:avLst/>
          </a:prstGeom>
          <a:noFill/>
        </p:spPr>
        <p:txBody>
          <a:bodyPr wrap="square" anchor="t" lIns="0" rIns="0" tIns="0" bIns="0">
            <a:spAutoFit/>
          </a:bodyPr>
          <a:lstStyle/>
          <a:p>
            <a:pPr algn="l"/>
            <a:r>
              <a:rPr sz="1500" b="0" i="0">
                <a:solidFill>
                  <a:srgbClr val="14141C"/>
                </a:solidFill>
                <a:latin typeface="Geist"/>
              </a:rPr>
              <a:t>the two TREE models (CatBoost and Random Forest) tie here -- both beat TabPFN (0.83) and crush logistic regression (0.75).</a:t>
            </a:r>
          </a:p>
        </p:txBody>
      </p:sp>
      <p:sp>
        <p:nvSpPr>
          <p:cNvPr id="13" name="TextBox 12"/>
          <p:cNvSpPr txBox="1"/>
          <p:nvPr/>
        </p:nvSpPr>
        <p:spPr>
          <a:xfrm>
            <a:off x="7310628" y="5349240"/>
            <a:ext cx="4137660" cy="731520"/>
          </a:xfrm>
          <a:prstGeom prst="rect">
            <a:avLst/>
          </a:prstGeom>
          <a:noFill/>
        </p:spPr>
        <p:txBody>
          <a:bodyPr wrap="square" anchor="t" lIns="0" rIns="0" tIns="0" bIns="0">
            <a:spAutoFit/>
          </a:bodyPr>
          <a:lstStyle/>
          <a:p>
            <a:pPr algn="l"/>
            <a:r>
              <a:rPr sz="1500" b="0" i="1">
                <a:solidFill>
                  <a:srgbClr val="8A2BE2"/>
                </a:solidFill>
                <a:latin typeface="Geist"/>
              </a:rPr>
              <a:t>We pick CatBoost -- fast, strong, and reproducible.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Model and data processing</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sp>
        <p:nvSpPr>
          <p:cNvPr id="7" name="Rectangle 6"/>
          <p:cNvSpPr/>
          <p:nvPr/>
        </p:nvSpPr>
        <p:spPr>
          <a:xfrm>
            <a:off x="457200" y="1051560"/>
            <a:ext cx="777240" cy="881481"/>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51560"/>
            <a:ext cx="777240" cy="881481"/>
          </a:xfrm>
          <a:prstGeom prst="rect">
            <a:avLst/>
          </a:prstGeom>
          <a:noFill/>
        </p:spPr>
        <p:txBody>
          <a:bodyPr wrap="square" anchor="ctr" lIns="0" rIns="0" tIns="0" bIns="0">
            <a:spAutoFit/>
          </a:bodyPr>
          <a:lstStyle/>
          <a:p>
            <a:pPr algn="ctr"/>
            <a:r>
              <a:rPr sz="2400" b="1" i="0">
                <a:solidFill>
                  <a:srgbClr val="FFFFFF"/>
                </a:solidFill>
                <a:latin typeface="Geist Mono"/>
              </a:rPr>
              <a:t>1</a:t>
            </a:r>
          </a:p>
        </p:txBody>
      </p:sp>
      <p:sp>
        <p:nvSpPr>
          <p:cNvPr id="9" name="TextBox 8"/>
          <p:cNvSpPr txBox="1"/>
          <p:nvPr/>
        </p:nvSpPr>
        <p:spPr>
          <a:xfrm>
            <a:off x="1463040" y="1051560"/>
            <a:ext cx="2103120" cy="881481"/>
          </a:xfrm>
          <a:prstGeom prst="rect">
            <a:avLst/>
          </a:prstGeom>
          <a:noFill/>
        </p:spPr>
        <p:txBody>
          <a:bodyPr wrap="square" anchor="ctr" lIns="0" rIns="0" tIns="0" bIns="0">
            <a:spAutoFit/>
          </a:bodyPr>
          <a:lstStyle/>
          <a:p>
            <a:pPr algn="l"/>
            <a:r>
              <a:rPr sz="1700" b="1" i="0">
                <a:solidFill>
                  <a:srgbClr val="FF1493"/>
                </a:solidFill>
                <a:latin typeface="Geist Mono"/>
              </a:rPr>
              <a:t>TASK</a:t>
            </a:r>
          </a:p>
        </p:txBody>
      </p:sp>
      <p:sp>
        <p:nvSpPr>
          <p:cNvPr id="10" name="TextBox 9"/>
          <p:cNvSpPr txBox="1"/>
          <p:nvPr/>
        </p:nvSpPr>
        <p:spPr>
          <a:xfrm>
            <a:off x="3657600" y="1051560"/>
            <a:ext cx="8046720" cy="881481"/>
          </a:xfrm>
          <a:prstGeom prst="rect">
            <a:avLst/>
          </a:prstGeom>
          <a:noFill/>
        </p:spPr>
        <p:txBody>
          <a:bodyPr wrap="square" anchor="ctr" lIns="0" rIns="0" tIns="0" bIns="0">
            <a:spAutoFit/>
          </a:bodyPr>
          <a:lstStyle/>
          <a:p>
            <a:pPr algn="l"/>
            <a:r>
              <a:rPr sz="1450" b="0" i="0">
                <a:solidFill>
                  <a:srgbClr val="14141C"/>
                </a:solidFill>
                <a:latin typeface="Geist"/>
              </a:rPr>
              <a:t>clearly-good (top-third efficiency) vs clearly-poor (bottom-third); the muddy middle is dropped</a:t>
            </a:r>
          </a:p>
        </p:txBody>
      </p:sp>
      <p:sp>
        <p:nvSpPr>
          <p:cNvPr id="11" name="Rectangle 10"/>
          <p:cNvSpPr/>
          <p:nvPr/>
        </p:nvSpPr>
        <p:spPr>
          <a:xfrm>
            <a:off x="457200" y="2134209"/>
            <a:ext cx="777240" cy="881481"/>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134209"/>
            <a:ext cx="777240" cy="881481"/>
          </a:xfrm>
          <a:prstGeom prst="rect">
            <a:avLst/>
          </a:prstGeom>
          <a:noFill/>
        </p:spPr>
        <p:txBody>
          <a:bodyPr wrap="square" anchor="ctr" lIns="0" rIns="0" tIns="0" bIns="0">
            <a:spAutoFit/>
          </a:bodyPr>
          <a:lstStyle/>
          <a:p>
            <a:pPr algn="ctr"/>
            <a:r>
              <a:rPr sz="2400" b="1" i="0">
                <a:solidFill>
                  <a:srgbClr val="14141C"/>
                </a:solidFill>
                <a:latin typeface="Geist Mono"/>
              </a:rPr>
              <a:t>2</a:t>
            </a:r>
          </a:p>
        </p:txBody>
      </p:sp>
      <p:sp>
        <p:nvSpPr>
          <p:cNvPr id="13" name="TextBox 12"/>
          <p:cNvSpPr txBox="1"/>
          <p:nvPr/>
        </p:nvSpPr>
        <p:spPr>
          <a:xfrm>
            <a:off x="1463040" y="2134209"/>
            <a:ext cx="2103120" cy="881481"/>
          </a:xfrm>
          <a:prstGeom prst="rect">
            <a:avLst/>
          </a:prstGeom>
          <a:noFill/>
        </p:spPr>
        <p:txBody>
          <a:bodyPr wrap="square" anchor="ctr" lIns="0" rIns="0" tIns="0" bIns="0">
            <a:spAutoFit/>
          </a:bodyPr>
          <a:lstStyle/>
          <a:p>
            <a:pPr algn="l"/>
            <a:r>
              <a:rPr sz="1700" b="1" i="0">
                <a:solidFill>
                  <a:srgbClr val="40E0D0"/>
                </a:solidFill>
                <a:latin typeface="Geist Mono"/>
              </a:rPr>
              <a:t>ENCODE</a:t>
            </a:r>
          </a:p>
        </p:txBody>
      </p:sp>
      <p:sp>
        <p:nvSpPr>
          <p:cNvPr id="14" name="TextBox 13"/>
          <p:cNvSpPr txBox="1"/>
          <p:nvPr/>
        </p:nvSpPr>
        <p:spPr>
          <a:xfrm>
            <a:off x="3657600" y="2134209"/>
            <a:ext cx="8046720" cy="881481"/>
          </a:xfrm>
          <a:prstGeom prst="rect">
            <a:avLst/>
          </a:prstGeom>
          <a:noFill/>
        </p:spPr>
        <p:txBody>
          <a:bodyPr wrap="square" anchor="ctr" lIns="0" rIns="0" tIns="0" bIns="0">
            <a:spAutoFit/>
          </a:bodyPr>
          <a:lstStyle/>
          <a:p>
            <a:pPr algn="l"/>
            <a:r>
              <a:rPr sz="1450" b="0" i="0">
                <a:solidFill>
                  <a:srgbClr val="14141C"/>
                </a:solidFill>
                <a:latin typeface="Geist"/>
              </a:rPr>
              <a:t>each 20-letter guide becomes an 80-number one-hot vector that keeps the position of every letter</a:t>
            </a:r>
          </a:p>
        </p:txBody>
      </p:sp>
      <p:sp>
        <p:nvSpPr>
          <p:cNvPr id="15" name="Rectangle 14"/>
          <p:cNvSpPr/>
          <p:nvPr/>
        </p:nvSpPr>
        <p:spPr>
          <a:xfrm>
            <a:off x="457200" y="3216859"/>
            <a:ext cx="777240" cy="881481"/>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16859"/>
            <a:ext cx="777240" cy="881481"/>
          </a:xfrm>
          <a:prstGeom prst="rect">
            <a:avLst/>
          </a:prstGeom>
          <a:noFill/>
        </p:spPr>
        <p:txBody>
          <a:bodyPr wrap="square" anchor="ctr" lIns="0" rIns="0" tIns="0" bIns="0">
            <a:spAutoFit/>
          </a:bodyPr>
          <a:lstStyle/>
          <a:p>
            <a:pPr algn="ctr"/>
            <a:r>
              <a:rPr sz="2400" b="1" i="0">
                <a:solidFill>
                  <a:srgbClr val="14141C"/>
                </a:solidFill>
                <a:latin typeface="Geist Mono"/>
              </a:rPr>
              <a:t>3</a:t>
            </a:r>
          </a:p>
        </p:txBody>
      </p:sp>
      <p:sp>
        <p:nvSpPr>
          <p:cNvPr id="17" name="TextBox 16"/>
          <p:cNvSpPr txBox="1"/>
          <p:nvPr/>
        </p:nvSpPr>
        <p:spPr>
          <a:xfrm>
            <a:off x="1463040" y="3216859"/>
            <a:ext cx="2103120" cy="881481"/>
          </a:xfrm>
          <a:prstGeom prst="rect">
            <a:avLst/>
          </a:prstGeom>
          <a:noFill/>
        </p:spPr>
        <p:txBody>
          <a:bodyPr wrap="square" anchor="ctr" lIns="0" rIns="0" tIns="0" bIns="0">
            <a:spAutoFit/>
          </a:bodyPr>
          <a:lstStyle/>
          <a:p>
            <a:pPr algn="l"/>
            <a:r>
              <a:rPr sz="1700" b="1" i="0">
                <a:solidFill>
                  <a:srgbClr val="F0C840"/>
                </a:solidFill>
                <a:latin typeface="Geist Mono"/>
              </a:rPr>
              <a:t>SPLIT</a:t>
            </a:r>
          </a:p>
        </p:txBody>
      </p:sp>
      <p:sp>
        <p:nvSpPr>
          <p:cNvPr id="18" name="TextBox 17"/>
          <p:cNvSpPr txBox="1"/>
          <p:nvPr/>
        </p:nvSpPr>
        <p:spPr>
          <a:xfrm>
            <a:off x="3657600" y="3216859"/>
            <a:ext cx="8046720" cy="881481"/>
          </a:xfrm>
          <a:prstGeom prst="rect">
            <a:avLst/>
          </a:prstGeom>
          <a:noFill/>
        </p:spPr>
        <p:txBody>
          <a:bodyPr wrap="square" anchor="ctr" lIns="0" rIns="0" tIns="0" bIns="0">
            <a:spAutoFit/>
          </a:bodyPr>
          <a:lstStyle/>
          <a:p>
            <a:pPr algn="l"/>
            <a:r>
              <a:rPr sz="1450" b="0" i="0">
                <a:solidFill>
                  <a:srgbClr val="14141C"/>
                </a:solidFill>
                <a:latin typeface="Geist"/>
              </a:rPr>
              <a:t>a stratified 75% train / 25% test split -- every number we report is on guides the model never saw</a:t>
            </a:r>
          </a:p>
        </p:txBody>
      </p:sp>
      <p:sp>
        <p:nvSpPr>
          <p:cNvPr id="19" name="Rectangle 18"/>
          <p:cNvSpPr/>
          <p:nvPr/>
        </p:nvSpPr>
        <p:spPr>
          <a:xfrm>
            <a:off x="457200" y="4299508"/>
            <a:ext cx="777240" cy="881481"/>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299508"/>
            <a:ext cx="777240" cy="881481"/>
          </a:xfrm>
          <a:prstGeom prst="rect">
            <a:avLst/>
          </a:prstGeom>
          <a:noFill/>
        </p:spPr>
        <p:txBody>
          <a:bodyPr wrap="square" anchor="ctr" lIns="0" rIns="0" tIns="0" bIns="0">
            <a:spAutoFit/>
          </a:bodyPr>
          <a:lstStyle/>
          <a:p>
            <a:pPr algn="ctr"/>
            <a:r>
              <a:rPr sz="2400" b="1" i="0">
                <a:solidFill>
                  <a:srgbClr val="FFFFFF"/>
                </a:solidFill>
                <a:latin typeface="Geist Mono"/>
              </a:rPr>
              <a:t>4</a:t>
            </a:r>
          </a:p>
        </p:txBody>
      </p:sp>
      <p:sp>
        <p:nvSpPr>
          <p:cNvPr id="21" name="TextBox 20"/>
          <p:cNvSpPr txBox="1"/>
          <p:nvPr/>
        </p:nvSpPr>
        <p:spPr>
          <a:xfrm>
            <a:off x="1463040" y="4299508"/>
            <a:ext cx="2103120" cy="881481"/>
          </a:xfrm>
          <a:prstGeom prst="rect">
            <a:avLst/>
          </a:prstGeom>
          <a:noFill/>
        </p:spPr>
        <p:txBody>
          <a:bodyPr wrap="square" anchor="ctr" lIns="0" rIns="0" tIns="0" bIns="0">
            <a:spAutoFit/>
          </a:bodyPr>
          <a:lstStyle/>
          <a:p>
            <a:pPr algn="l"/>
            <a:r>
              <a:rPr sz="1700" b="1" i="0">
                <a:solidFill>
                  <a:srgbClr val="8A2BE2"/>
                </a:solidFill>
                <a:latin typeface="Geist Mono"/>
              </a:rPr>
              <a:t>MODEL</a:t>
            </a:r>
          </a:p>
        </p:txBody>
      </p:sp>
      <p:sp>
        <p:nvSpPr>
          <p:cNvPr id="22" name="TextBox 21"/>
          <p:cNvSpPr txBox="1"/>
          <p:nvPr/>
        </p:nvSpPr>
        <p:spPr>
          <a:xfrm>
            <a:off x="3657600" y="4299508"/>
            <a:ext cx="8046720" cy="881481"/>
          </a:xfrm>
          <a:prstGeom prst="rect">
            <a:avLst/>
          </a:prstGeom>
          <a:noFill/>
        </p:spPr>
        <p:txBody>
          <a:bodyPr wrap="square" anchor="ctr" lIns="0" rIns="0" tIns="0" bIns="0">
            <a:spAutoFit/>
          </a:bodyPr>
          <a:lstStyle/>
          <a:p>
            <a:pPr algn="l"/>
            <a:r>
              <a:rPr sz="1450" b="0" i="0">
                <a:solidFill>
                  <a:srgbClr val="14141C"/>
                </a:solidFill>
                <a:latin typeface="Geist"/>
              </a:rPr>
              <a:t>CatBoostClassifier, 600 trees, depth 6, learning rate 0.05, random_state 0 so it is reproducible</a:t>
            </a:r>
          </a:p>
        </p:txBody>
      </p:sp>
      <p:sp>
        <p:nvSpPr>
          <p:cNvPr id="23" name="Rectangle 22"/>
          <p:cNvSpPr/>
          <p:nvPr/>
        </p:nvSpPr>
        <p:spPr>
          <a:xfrm>
            <a:off x="457200" y="5382158"/>
            <a:ext cx="777240" cy="881481"/>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382158"/>
            <a:ext cx="777240" cy="881481"/>
          </a:xfrm>
          <a:prstGeom prst="rect">
            <a:avLst/>
          </a:prstGeom>
          <a:noFill/>
        </p:spPr>
        <p:txBody>
          <a:bodyPr wrap="square" anchor="ctr" lIns="0" rIns="0" tIns="0" bIns="0">
            <a:spAutoFit/>
          </a:bodyPr>
          <a:lstStyle/>
          <a:p>
            <a:pPr algn="ctr"/>
            <a:r>
              <a:rPr sz="2400" b="1" i="0">
                <a:solidFill>
                  <a:srgbClr val="FFFFFF"/>
                </a:solidFill>
                <a:latin typeface="Geist Mono"/>
              </a:rPr>
              <a:t>5</a:t>
            </a:r>
          </a:p>
        </p:txBody>
      </p:sp>
      <p:sp>
        <p:nvSpPr>
          <p:cNvPr id="25" name="TextBox 24"/>
          <p:cNvSpPr txBox="1"/>
          <p:nvPr/>
        </p:nvSpPr>
        <p:spPr>
          <a:xfrm>
            <a:off x="1463040" y="5382158"/>
            <a:ext cx="2103120" cy="881481"/>
          </a:xfrm>
          <a:prstGeom prst="rect">
            <a:avLst/>
          </a:prstGeom>
          <a:noFill/>
        </p:spPr>
        <p:txBody>
          <a:bodyPr wrap="square" anchor="ctr" lIns="0" rIns="0" tIns="0" bIns="0">
            <a:spAutoFit/>
          </a:bodyPr>
          <a:lstStyle/>
          <a:p>
            <a:pPr algn="l"/>
            <a:r>
              <a:rPr sz="1700" b="1" i="0">
                <a:solidFill>
                  <a:srgbClr val="FF1493"/>
                </a:solidFill>
                <a:latin typeface="Geist Mono"/>
              </a:rPr>
              <a:t>GRADE</a:t>
            </a:r>
          </a:p>
        </p:txBody>
      </p:sp>
      <p:sp>
        <p:nvSpPr>
          <p:cNvPr id="26" name="TextBox 25"/>
          <p:cNvSpPr txBox="1"/>
          <p:nvPr/>
        </p:nvSpPr>
        <p:spPr>
          <a:xfrm>
            <a:off x="3657600" y="5382158"/>
            <a:ext cx="8046720" cy="881481"/>
          </a:xfrm>
          <a:prstGeom prst="rect">
            <a:avLst/>
          </a:prstGeom>
          <a:noFill/>
        </p:spPr>
        <p:txBody>
          <a:bodyPr wrap="square" anchor="ctr" lIns="0" rIns="0" tIns="0" bIns="0">
            <a:spAutoFit/>
          </a:bodyPr>
          <a:lstStyle/>
          <a:p>
            <a:pPr algn="l"/>
            <a:r>
              <a:rPr sz="1450" b="0" i="0">
                <a:solidFill>
                  <a:srgbClr val="14141C"/>
                </a:solidFill>
                <a:latin typeface="Geist"/>
              </a:rPr>
              <a:t>AUC on the held-out test set -- not accuracy -- so a lazy one-class guess cannot game the score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8A2BE2"/>
                </a:solidFill>
                <a:latin typeface="Geist Mono"/>
              </a:rPr>
              <a:t>Validation</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RESULTS</a:t>
            </a:r>
          </a:p>
        </p:txBody>
      </p:sp>
      <p:sp>
        <p:nvSpPr>
          <p:cNvPr id="7" name="Rectangle 6"/>
          <p:cNvSpPr/>
          <p:nvPr/>
        </p:nvSpPr>
        <p:spPr>
          <a:xfrm>
            <a:off x="777240" y="5120640"/>
            <a:ext cx="1828800" cy="1828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Picking good CRISPR guides before the lab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How we grade it: ROC and AUC</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sp>
        <p:nvSpPr>
          <p:cNvPr id="7" name="TextBox 6"/>
          <p:cNvSpPr txBox="1"/>
          <p:nvPr/>
        </p:nvSpPr>
        <p:spPr>
          <a:xfrm>
            <a:off x="457200" y="1371600"/>
            <a:ext cx="5173675" cy="1371600"/>
          </a:xfrm>
          <a:prstGeom prst="rect">
            <a:avLst/>
          </a:prstGeom>
          <a:noFill/>
        </p:spPr>
        <p:txBody>
          <a:bodyPr wrap="square" anchor="t" lIns="0" rIns="0" tIns="0" bIns="0">
            <a:spAutoFit/>
          </a:bodyPr>
          <a:lstStyle/>
          <a:p>
            <a:pPr algn="l"/>
            <a:r>
              <a:rPr sz="9600" b="1" i="0">
                <a:solidFill>
                  <a:srgbClr val="F0C840"/>
                </a:solidFill>
                <a:latin typeface="Geist Mono"/>
              </a:rPr>
              <a:t>0.88</a:t>
            </a:r>
          </a:p>
        </p:txBody>
      </p:sp>
      <p:sp>
        <p:nvSpPr>
          <p:cNvPr id="8" name="TextBox 7"/>
          <p:cNvSpPr txBox="1"/>
          <p:nvPr/>
        </p:nvSpPr>
        <p:spPr>
          <a:xfrm>
            <a:off x="457200" y="2743200"/>
            <a:ext cx="5173675" cy="457200"/>
          </a:xfrm>
          <a:prstGeom prst="rect">
            <a:avLst/>
          </a:prstGeom>
          <a:noFill/>
        </p:spPr>
        <p:txBody>
          <a:bodyPr wrap="square" anchor="t" lIns="0" rIns="0" tIns="0" bIns="0">
            <a:spAutoFit/>
          </a:bodyPr>
          <a:lstStyle/>
          <a:p>
            <a:pPr algn="l"/>
            <a:r>
              <a:rPr sz="1700" b="1" i="0">
                <a:solidFill>
                  <a:srgbClr val="14141C"/>
                </a:solidFill>
                <a:latin typeface="Geist Mono"/>
              </a:rPr>
              <a:t>AUC -- the area under the ROC curve</a:t>
            </a:r>
          </a:p>
        </p:txBody>
      </p:sp>
      <p:sp>
        <p:nvSpPr>
          <p:cNvPr id="9" name="TextBox 8"/>
          <p:cNvSpPr txBox="1"/>
          <p:nvPr/>
        </p:nvSpPr>
        <p:spPr>
          <a:xfrm>
            <a:off x="457200" y="3337560"/>
            <a:ext cx="5173675" cy="1463040"/>
          </a:xfrm>
          <a:prstGeom prst="rect">
            <a:avLst/>
          </a:prstGeom>
          <a:noFill/>
        </p:spPr>
        <p:txBody>
          <a:bodyPr wrap="square" anchor="t" lIns="0" rIns="0" tIns="0" bIns="0">
            <a:spAutoFit/>
          </a:bodyPr>
          <a:lstStyle/>
          <a:p>
            <a:pPr algn="l"/>
            <a:r>
              <a:rPr sz="1600" b="0" i="0">
                <a:solidFill>
                  <a:srgbClr val="14141C"/>
                </a:solidFill>
                <a:latin typeface="Geist"/>
              </a:rPr>
              <a:t>The picker outputs a score, not a yes/no. The ROC curve sweeps every possible cut-off and plots good guides caught against false alarms; AUC is the area underneath.</a:t>
            </a:r>
          </a:p>
        </p:txBody>
      </p:sp>
      <p:sp>
        <p:nvSpPr>
          <p:cNvPr id="10" name="TextBox 9"/>
          <p:cNvSpPr txBox="1"/>
          <p:nvPr/>
        </p:nvSpPr>
        <p:spPr>
          <a:xfrm>
            <a:off x="457200" y="5440679"/>
            <a:ext cx="5173675" cy="457200"/>
          </a:xfrm>
          <a:prstGeom prst="rect">
            <a:avLst/>
          </a:prstGeom>
          <a:noFill/>
        </p:spPr>
        <p:txBody>
          <a:bodyPr wrap="square" anchor="t" lIns="0" rIns="0" tIns="0" bIns="0">
            <a:spAutoFit/>
          </a:bodyPr>
          <a:lstStyle/>
          <a:p>
            <a:pPr algn="l"/>
            <a:r>
              <a:rPr sz="1500" b="1" i="0">
                <a:solidFill>
                  <a:srgbClr val="8A2BE2"/>
                </a:solidFill>
                <a:latin typeface="Geist Mono"/>
              </a:rPr>
              <a:t>0.5 = a coin flip     1.0 = perfect</a:t>
            </a:r>
          </a:p>
        </p:txBody>
      </p:sp>
      <p:pic>
        <p:nvPicPr>
          <p:cNvPr id="11" name="Picture 10" descr="roc.png"/>
          <p:cNvPicPr>
            <a:picLocks noChangeAspect="1"/>
          </p:cNvPicPr>
          <p:nvPr/>
        </p:nvPicPr>
        <p:blipFill>
          <a:blip r:embed="rId2"/>
          <a:stretch>
            <a:fillRect/>
          </a:stretch>
        </p:blipFill>
        <p:spPr>
          <a:xfrm>
            <a:off x="6318985" y="1051560"/>
            <a:ext cx="5154424" cy="5212079"/>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win: order its top picks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pic>
        <p:nvPicPr>
          <p:cNvPr id="7" name="Picture 6" descr="precision_at_top.png"/>
          <p:cNvPicPr>
            <a:picLocks noChangeAspect="1"/>
          </p:cNvPicPr>
          <p:nvPr/>
        </p:nvPicPr>
        <p:blipFill>
          <a:blip r:embed="rId2"/>
          <a:stretch>
            <a:fillRect/>
          </a:stretch>
        </p:blipFill>
        <p:spPr>
          <a:xfrm>
            <a:off x="457200" y="1763205"/>
            <a:ext cx="6298387" cy="3788788"/>
          </a:xfrm>
          <a:prstGeom prst="rect">
            <a:avLst/>
          </a:prstGeom>
        </p:spPr>
      </p:pic>
      <p:sp>
        <p:nvSpPr>
          <p:cNvPr id="8" name="Rectangle 7"/>
          <p:cNvSpPr/>
          <p:nvPr/>
        </p:nvSpPr>
        <p:spPr>
          <a:xfrm>
            <a:off x="7121347" y="1188720"/>
            <a:ext cx="128016" cy="1234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95667" y="1188720"/>
            <a:ext cx="1920240" cy="1234440"/>
          </a:xfrm>
          <a:prstGeom prst="rect">
            <a:avLst/>
          </a:prstGeom>
          <a:noFill/>
        </p:spPr>
        <p:txBody>
          <a:bodyPr wrap="square" anchor="ctr" lIns="0" rIns="0" tIns="0" bIns="0">
            <a:spAutoFit/>
          </a:bodyPr>
          <a:lstStyle/>
          <a:p>
            <a:pPr algn="l"/>
            <a:r>
              <a:rPr sz="4000" b="1" i="0">
                <a:solidFill>
                  <a:srgbClr val="40E0D0"/>
                </a:solidFill>
                <a:latin typeface="Geist Mono"/>
              </a:rPr>
              <a:t>97%</a:t>
            </a:r>
          </a:p>
        </p:txBody>
      </p:sp>
      <p:sp>
        <p:nvSpPr>
          <p:cNvPr id="10" name="TextBox 9"/>
          <p:cNvSpPr txBox="1"/>
          <p:nvPr/>
        </p:nvSpPr>
        <p:spPr>
          <a:xfrm>
            <a:off x="9407347" y="1188720"/>
            <a:ext cx="2296972" cy="1234440"/>
          </a:xfrm>
          <a:prstGeom prst="rect">
            <a:avLst/>
          </a:prstGeom>
          <a:noFill/>
        </p:spPr>
        <p:txBody>
          <a:bodyPr wrap="square" anchor="ctr" lIns="0" rIns="0" tIns="0" bIns="0">
            <a:spAutoFit/>
          </a:bodyPr>
          <a:lstStyle/>
          <a:p>
            <a:pPr algn="l"/>
            <a:r>
              <a:rPr sz="1500" b="0" i="0">
                <a:solidFill>
                  <a:srgbClr val="14141C"/>
                </a:solidFill>
                <a:latin typeface="Geist"/>
              </a:rPr>
              <a:t>of the model's TOP 10% actually cut well</a:t>
            </a:r>
          </a:p>
        </p:txBody>
      </p:sp>
      <p:sp>
        <p:nvSpPr>
          <p:cNvPr id="11" name="Rectangle 10"/>
          <p:cNvSpPr/>
          <p:nvPr/>
        </p:nvSpPr>
        <p:spPr>
          <a:xfrm>
            <a:off x="7121347" y="2560320"/>
            <a:ext cx="128016" cy="12344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95667" y="2560320"/>
            <a:ext cx="1920240" cy="1234440"/>
          </a:xfrm>
          <a:prstGeom prst="rect">
            <a:avLst/>
          </a:prstGeom>
          <a:noFill/>
        </p:spPr>
        <p:txBody>
          <a:bodyPr wrap="square" anchor="ctr" lIns="0" rIns="0" tIns="0" bIns="0">
            <a:spAutoFit/>
          </a:bodyPr>
          <a:lstStyle/>
          <a:p>
            <a:pPr algn="l"/>
            <a:r>
              <a:rPr sz="4000" b="1" i="0">
                <a:solidFill>
                  <a:srgbClr val="FF1493"/>
                </a:solidFill>
                <a:latin typeface="Geist Mono"/>
              </a:rPr>
              <a:t>50%</a:t>
            </a:r>
          </a:p>
        </p:txBody>
      </p:sp>
      <p:sp>
        <p:nvSpPr>
          <p:cNvPr id="13" name="TextBox 12"/>
          <p:cNvSpPr txBox="1"/>
          <p:nvPr/>
        </p:nvSpPr>
        <p:spPr>
          <a:xfrm>
            <a:off x="9407347" y="2560320"/>
            <a:ext cx="2296972" cy="1234440"/>
          </a:xfrm>
          <a:prstGeom prst="rect">
            <a:avLst/>
          </a:prstGeom>
          <a:noFill/>
        </p:spPr>
        <p:txBody>
          <a:bodyPr wrap="square" anchor="ctr" lIns="0" rIns="0" tIns="0" bIns="0">
            <a:spAutoFit/>
          </a:bodyPr>
          <a:lstStyle/>
          <a:p>
            <a:pPr algn="l"/>
            <a:r>
              <a:rPr sz="1500" b="0" i="0">
                <a:solidFill>
                  <a:srgbClr val="14141C"/>
                </a:solidFill>
                <a:latin typeface="Geist"/>
              </a:rPr>
              <a:t>if you pick guides at random -- the baseline</a:t>
            </a:r>
          </a:p>
        </p:txBody>
      </p:sp>
      <p:sp>
        <p:nvSpPr>
          <p:cNvPr id="14" name="Rectangle 13"/>
          <p:cNvSpPr/>
          <p:nvPr/>
        </p:nvSpPr>
        <p:spPr>
          <a:xfrm>
            <a:off x="7121347" y="3931920"/>
            <a:ext cx="128016" cy="1234440"/>
          </a:xfrm>
          <a:prstGeom prst="rect">
            <a:avLst/>
          </a:prstGeom>
          <a:solidFill>
            <a:srgbClr val="F0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95667" y="3931920"/>
            <a:ext cx="1920240" cy="1234440"/>
          </a:xfrm>
          <a:prstGeom prst="rect">
            <a:avLst/>
          </a:prstGeom>
          <a:noFill/>
        </p:spPr>
        <p:txBody>
          <a:bodyPr wrap="square" anchor="ctr" lIns="0" rIns="0" tIns="0" bIns="0">
            <a:spAutoFit/>
          </a:bodyPr>
          <a:lstStyle/>
          <a:p>
            <a:pPr algn="l"/>
            <a:r>
              <a:rPr sz="4000" b="1" i="0">
                <a:solidFill>
                  <a:srgbClr val="F0C840"/>
                </a:solidFill>
                <a:latin typeface="Geist Mono"/>
              </a:rPr>
              <a:t>weeks</a:t>
            </a:r>
          </a:p>
        </p:txBody>
      </p:sp>
      <p:sp>
        <p:nvSpPr>
          <p:cNvPr id="16" name="TextBox 15"/>
          <p:cNvSpPr txBox="1"/>
          <p:nvPr/>
        </p:nvSpPr>
        <p:spPr>
          <a:xfrm>
            <a:off x="9407347" y="3931920"/>
            <a:ext cx="2296972" cy="1234440"/>
          </a:xfrm>
          <a:prstGeom prst="rect">
            <a:avLst/>
          </a:prstGeom>
          <a:noFill/>
        </p:spPr>
        <p:txBody>
          <a:bodyPr wrap="square" anchor="ctr" lIns="0" rIns="0" tIns="0" bIns="0">
            <a:spAutoFit/>
          </a:bodyPr>
          <a:lstStyle/>
          <a:p>
            <a:pPr algn="l"/>
            <a:r>
              <a:rPr sz="1500" b="0" i="0">
                <a:solidFill>
                  <a:srgbClr val="14141C"/>
                </a:solidFill>
                <a:latin typeface="Geist"/>
              </a:rPr>
              <a:t>of lab time saved, because the shortlist is almost all winners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It rediscovered the biology</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pic>
        <p:nvPicPr>
          <p:cNvPr id="7" name="Picture 6" descr="position_importance.png"/>
          <p:cNvPicPr>
            <a:picLocks noChangeAspect="1"/>
          </p:cNvPicPr>
          <p:nvPr/>
        </p:nvPicPr>
        <p:blipFill>
          <a:blip r:embed="rId2"/>
          <a:stretch>
            <a:fillRect/>
          </a:stretch>
        </p:blipFill>
        <p:spPr>
          <a:xfrm>
            <a:off x="1359381" y="1051560"/>
            <a:ext cx="9442757" cy="4434840"/>
          </a:xfrm>
          <a:prstGeom prst="rect">
            <a:avLst/>
          </a:prstGeom>
        </p:spPr>
      </p:pic>
      <p:sp>
        <p:nvSpPr>
          <p:cNvPr id="8" name="Rectangle 7"/>
          <p:cNvSpPr/>
          <p:nvPr/>
        </p:nvSpPr>
        <p:spPr>
          <a:xfrm>
            <a:off x="457200" y="5577840"/>
            <a:ext cx="11247120" cy="640079"/>
          </a:xfrm>
          <a:prstGeom prst="rect">
            <a:avLst/>
          </a:prstGeom>
          <a:solidFill>
            <a:srgbClr val="ED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650992"/>
            <a:ext cx="10698480" cy="548640"/>
          </a:xfrm>
          <a:prstGeom prst="rect">
            <a:avLst/>
          </a:prstGeom>
          <a:noFill/>
        </p:spPr>
        <p:txBody>
          <a:bodyPr wrap="square" anchor="ctr" lIns="0" rIns="0" tIns="0" bIns="0">
            <a:spAutoFit/>
          </a:bodyPr>
          <a:lstStyle/>
          <a:p>
            <a:pPr algn="l"/>
            <a:r>
              <a:rPr sz="1450" b="0" i="0">
                <a:solidFill>
                  <a:srgbClr val="14141C"/>
                </a:solidFill>
                <a:latin typeface="Geist"/>
              </a:rPr>
              <a:t>Feature importance = which positions the model leaned on. It peaks at position 20 -- right next to the PAM, the seed -- matching decades of CRISPR biology it was never told.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Fairness? There is nothing to audit – honestly</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sp>
        <p:nvSpPr>
          <p:cNvPr id="7" name="Rectangle 6"/>
          <p:cNvSpPr/>
          <p:nvPr/>
        </p:nvSpPr>
        <p:spPr>
          <a:xfrm>
            <a:off x="1469440" y="1729130"/>
            <a:ext cx="9222638" cy="38569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69440" y="1729130"/>
            <a:ext cx="9222638" cy="109728"/>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26640" y="2140610"/>
            <a:ext cx="8308238" cy="914400"/>
          </a:xfrm>
          <a:prstGeom prst="rect">
            <a:avLst/>
          </a:prstGeom>
          <a:noFill/>
        </p:spPr>
        <p:txBody>
          <a:bodyPr wrap="square" anchor="t" lIns="0" rIns="0" tIns="0" bIns="0">
            <a:spAutoFit/>
          </a:bodyPr>
          <a:lstStyle/>
          <a:p>
            <a:pPr algn="l"/>
            <a:r>
              <a:rPr sz="2500" b="1" i="0">
                <a:solidFill>
                  <a:srgbClr val="8A2BE2"/>
                </a:solidFill>
                <a:latin typeface="Geist Mono"/>
              </a:rPr>
              <a:t>No patient. No demographics. Nothing to be unfair about.</a:t>
            </a:r>
          </a:p>
        </p:txBody>
      </p:sp>
      <p:sp>
        <p:nvSpPr>
          <p:cNvPr id="10" name="TextBox 9"/>
          <p:cNvSpPr txBox="1"/>
          <p:nvPr/>
        </p:nvSpPr>
        <p:spPr>
          <a:xfrm>
            <a:off x="1926640" y="3237890"/>
            <a:ext cx="8308238" cy="1463040"/>
          </a:xfrm>
          <a:prstGeom prst="rect">
            <a:avLst/>
          </a:prstGeom>
          <a:noFill/>
        </p:spPr>
        <p:txBody>
          <a:bodyPr wrap="square" anchor="t" lIns="0" rIns="0" tIns="0" bIns="0">
            <a:spAutoFit/>
          </a:bodyPr>
          <a:lstStyle/>
          <a:p>
            <a:pPr algn="l"/>
            <a:r>
              <a:rPr sz="1700" b="0" i="0">
                <a:solidFill>
                  <a:srgbClr val="14141C"/>
                </a:solidFill>
                <a:latin typeface="Geist"/>
              </a:rPr>
              <a:t>Most medical-AI projects must check they work equally across sex, age, or skin tone. This one has no such groups -- the input is a 20-letter DNA sequence. Forcing a fake fairness analysis would be less honest than simply saying so.</a:t>
            </a:r>
          </a:p>
        </p:txBody>
      </p:sp>
      <p:sp>
        <p:nvSpPr>
          <p:cNvPr id="11" name="TextBox 10"/>
          <p:cNvSpPr txBox="1"/>
          <p:nvPr/>
        </p:nvSpPr>
        <p:spPr>
          <a:xfrm>
            <a:off x="1926640" y="4625949"/>
            <a:ext cx="8308238" cy="822960"/>
          </a:xfrm>
          <a:prstGeom prst="rect">
            <a:avLst/>
          </a:prstGeom>
          <a:noFill/>
        </p:spPr>
        <p:txBody>
          <a:bodyPr wrap="square" anchor="t" lIns="0" rIns="0" tIns="0" bIns="0">
            <a:spAutoFit/>
          </a:bodyPr>
          <a:lstStyle/>
          <a:p>
            <a:pPr algn="l"/>
            <a:r>
              <a:rPr sz="1500" b="0" i="1">
                <a:solidFill>
                  <a:srgbClr val="FF1493"/>
                </a:solidFill>
                <a:latin typeface="Geist"/>
              </a:rPr>
              <a:t>The real equity question for CRISPR lives one step later -- in which patients a therapy is tested on and reaches -- outside this sequence model.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640080"/>
            <a:ext cx="164592" cy="41148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40080"/>
            <a:ext cx="10058400" cy="365760"/>
          </a:xfrm>
          <a:prstGeom prst="rect">
            <a:avLst/>
          </a:prstGeom>
          <a:noFill/>
        </p:spPr>
        <p:txBody>
          <a:bodyPr wrap="square" anchor="t" lIns="0" rIns="0" tIns="0" bIns="0">
            <a:spAutoFit/>
          </a:bodyPr>
          <a:lstStyle/>
          <a:p>
            <a:pPr algn="l"/>
            <a:r>
              <a:rPr sz="1400" b="1" i="0">
                <a:solidFill>
                  <a:srgbClr val="40E0D0"/>
                </a:solidFill>
                <a:latin typeface="Geist Mono"/>
              </a:rPr>
              <a:t>Overview</a:t>
            </a:r>
          </a:p>
        </p:txBody>
      </p:sp>
      <p:sp>
        <p:nvSpPr>
          <p:cNvPr id="6" name="TextBox 5"/>
          <p:cNvSpPr txBox="1"/>
          <p:nvPr/>
        </p:nvSpPr>
        <p:spPr>
          <a:xfrm>
            <a:off x="777240" y="2194560"/>
            <a:ext cx="10972800" cy="2743200"/>
          </a:xfrm>
          <a:prstGeom prst="rect">
            <a:avLst/>
          </a:prstGeom>
          <a:noFill/>
        </p:spPr>
        <p:txBody>
          <a:bodyPr wrap="square" anchor="t" lIns="0" rIns="0" tIns="0" bIns="0">
            <a:spAutoFit/>
          </a:bodyPr>
          <a:lstStyle/>
          <a:p>
            <a:pPr algn="l"/>
            <a:r>
              <a:rPr sz="4400" b="1" i="0">
                <a:solidFill>
                  <a:srgbClr val="FFFFFF"/>
                </a:solidFill>
                <a:latin typeface="Geist Mono"/>
              </a:rPr>
              <a:t>THE BOTTOM LINE</a:t>
            </a:r>
          </a:p>
        </p:txBody>
      </p:sp>
      <p:sp>
        <p:nvSpPr>
          <p:cNvPr id="7" name="Rectangle 6"/>
          <p:cNvSpPr/>
          <p:nvPr/>
        </p:nvSpPr>
        <p:spPr>
          <a:xfrm>
            <a:off x="777240" y="5120640"/>
            <a:ext cx="1828800" cy="18288"/>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26480"/>
            <a:ext cx="3657600" cy="320040"/>
          </a:xfrm>
          <a:prstGeom prst="rect">
            <a:avLst/>
          </a:prstGeom>
          <a:noFill/>
        </p:spPr>
        <p:txBody>
          <a:bodyPr wrap="square" anchor="t" lIns="0" rIns="0" tIns="0" bIns="0">
            <a:spAutoFit/>
          </a:bodyPr>
          <a:lstStyle/>
          <a:p>
            <a:pPr algn="l"/>
            <a:r>
              <a:rPr sz="1100" b="1" i="0">
                <a:solidFill>
                  <a:srgbClr val="40E0D0"/>
                </a:solidFill>
                <a:latin typeface="Geist Mono"/>
              </a:rPr>
              <a:t>Jinchi Wei</a:t>
            </a:r>
          </a:p>
        </p:txBody>
      </p:sp>
      <p:sp>
        <p:nvSpPr>
          <p:cNvPr id="9" name="TextBox 8"/>
          <p:cNvSpPr txBox="1"/>
          <p:nvPr/>
        </p:nvSpPr>
        <p:spPr>
          <a:xfrm>
            <a:off x="214883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0" name="TextBox 9"/>
          <p:cNvSpPr txBox="1"/>
          <p:nvPr/>
        </p:nvSpPr>
        <p:spPr>
          <a:xfrm>
            <a:off x="2377439" y="6126480"/>
            <a:ext cx="4572000" cy="320040"/>
          </a:xfrm>
          <a:prstGeom prst="rect">
            <a:avLst/>
          </a:prstGeom>
          <a:noFill/>
        </p:spPr>
        <p:txBody>
          <a:bodyPr wrap="square" anchor="t" lIns="0" rIns="0" tIns="0" bIns="0">
            <a:spAutoFit/>
          </a:bodyPr>
          <a:lstStyle/>
          <a:p>
            <a:pPr algn="l"/>
            <a:r>
              <a:rPr sz="1100" b="1" i="0">
                <a:solidFill>
                  <a:srgbClr val="FF1493"/>
                </a:solidFill>
                <a:latin typeface="Geist Mono"/>
              </a:rPr>
              <a:t>Outset</a:t>
            </a:r>
          </a:p>
        </p:txBody>
      </p:sp>
      <p:sp>
        <p:nvSpPr>
          <p:cNvPr id="11" name="TextBox 10"/>
          <p:cNvSpPr txBox="1"/>
          <p:nvPr/>
        </p:nvSpPr>
        <p:spPr>
          <a:xfrm>
            <a:off x="3657599" y="6126480"/>
            <a:ext cx="182880" cy="320040"/>
          </a:xfrm>
          <a:prstGeom prst="rect">
            <a:avLst/>
          </a:prstGeom>
          <a:noFill/>
        </p:spPr>
        <p:txBody>
          <a:bodyPr wrap="square" anchor="t" lIns="0" rIns="0" tIns="0" bIns="0">
            <a:spAutoFit/>
          </a:bodyPr>
          <a:lstStyle/>
          <a:p>
            <a:pPr algn="l"/>
            <a:r>
              <a:rPr sz="1100" b="0" i="0">
                <a:solidFill>
                  <a:srgbClr val="888888"/>
                </a:solidFill>
                <a:latin typeface="Geist Mono"/>
              </a:rPr>
              <a:t>·</a:t>
            </a:r>
          </a:p>
        </p:txBody>
      </p:sp>
      <p:sp>
        <p:nvSpPr>
          <p:cNvPr id="12" name="TextBox 11"/>
          <p:cNvSpPr txBox="1"/>
          <p:nvPr/>
        </p:nvSpPr>
        <p:spPr>
          <a:xfrm>
            <a:off x="3886200" y="6126480"/>
            <a:ext cx="7315200" cy="320040"/>
          </a:xfrm>
          <a:prstGeom prst="rect">
            <a:avLst/>
          </a:prstGeom>
          <a:noFill/>
        </p:spPr>
        <p:txBody>
          <a:bodyPr wrap="square" anchor="t" lIns="0" rIns="0" tIns="0" bIns="0">
            <a:spAutoFit/>
          </a:bodyPr>
          <a:lstStyle/>
          <a:p>
            <a:pPr algn="l"/>
            <a:r>
              <a:rPr sz="1100" b="0" i="0">
                <a:solidFill>
                  <a:srgbClr val="888888"/>
                </a:solidFill>
                <a:latin typeface="Geist Mono"/>
              </a:rPr>
              <a:t>Picking good CRISPR guides before the lab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What it can and cannot do</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sp>
        <p:nvSpPr>
          <p:cNvPr id="7" name="Rectangle 6"/>
          <p:cNvSpPr/>
          <p:nvPr/>
        </p:nvSpPr>
        <p:spPr>
          <a:xfrm>
            <a:off x="502920" y="1106424"/>
            <a:ext cx="3535680" cy="51206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51560"/>
            <a:ext cx="3535680" cy="9144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554480"/>
            <a:ext cx="3023616" cy="777240"/>
          </a:xfrm>
          <a:prstGeom prst="rect">
            <a:avLst/>
          </a:prstGeom>
          <a:noFill/>
        </p:spPr>
        <p:txBody>
          <a:bodyPr wrap="square" anchor="t" lIns="0" rIns="0" tIns="0" bIns="0">
            <a:spAutoFit/>
          </a:bodyPr>
          <a:lstStyle/>
          <a:p>
            <a:pPr algn="l"/>
            <a:r>
              <a:rPr sz="1700" b="1" i="0">
                <a:solidFill>
                  <a:srgbClr val="40E0D0"/>
                </a:solidFill>
                <a:latin typeface="Geist Mono"/>
              </a:rPr>
              <a:t>IT WORKS</a:t>
            </a:r>
          </a:p>
        </p:txBody>
      </p:sp>
      <p:sp>
        <p:nvSpPr>
          <p:cNvPr id="11" name="TextBox 10"/>
          <p:cNvSpPr txBox="1"/>
          <p:nvPr/>
        </p:nvSpPr>
        <p:spPr>
          <a:xfrm>
            <a:off x="713232" y="2423160"/>
            <a:ext cx="3023616" cy="2834639"/>
          </a:xfrm>
          <a:prstGeom prst="rect">
            <a:avLst/>
          </a:prstGeom>
          <a:noFill/>
        </p:spPr>
        <p:txBody>
          <a:bodyPr wrap="square" anchor="t" lIns="0" rIns="0" tIns="0" bIns="0">
            <a:spAutoFit/>
          </a:bodyPr>
          <a:lstStyle/>
          <a:p>
            <a:pPr algn="l"/>
            <a:r>
              <a:rPr sz="1550" b="0" i="0">
                <a:solidFill>
                  <a:srgbClr val="14141C"/>
                </a:solidFill>
                <a:latin typeface="Geist"/>
              </a:rPr>
              <a:t>A real guide-picker on the field's benchmark: AUC 0.88, and its top-10% shortlist is 97% good guides -- real lab time saved.</a:t>
            </a:r>
          </a:p>
        </p:txBody>
      </p:sp>
      <p:sp>
        <p:nvSpPr>
          <p:cNvPr id="12" name="Rectangle 11"/>
          <p:cNvSpPr/>
          <p:nvPr/>
        </p:nvSpPr>
        <p:spPr>
          <a:xfrm>
            <a:off x="457200" y="525780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5394960"/>
            <a:ext cx="3023616" cy="548640"/>
          </a:xfrm>
          <a:prstGeom prst="rect">
            <a:avLst/>
          </a:prstGeom>
          <a:noFill/>
        </p:spPr>
        <p:txBody>
          <a:bodyPr wrap="square" anchor="ctr" lIns="0" rIns="0" tIns="0" bIns="0">
            <a:spAutoFit/>
          </a:bodyPr>
          <a:lstStyle/>
          <a:p>
            <a:pPr algn="l"/>
            <a:r>
              <a:rPr sz="1400" b="1" i="0">
                <a:solidFill>
                  <a:srgbClr val="40E0D0"/>
                </a:solidFill>
                <a:latin typeface="Geist Mono"/>
              </a:rPr>
              <a:t>AUC 0.88 · 97% precision</a:t>
            </a:r>
          </a:p>
        </p:txBody>
      </p:sp>
      <p:sp>
        <p:nvSpPr>
          <p:cNvPr id="14" name="Rectangle 13"/>
          <p:cNvSpPr/>
          <p:nvPr/>
        </p:nvSpPr>
        <p:spPr>
          <a:xfrm>
            <a:off x="4358640" y="1106424"/>
            <a:ext cx="3535680" cy="51206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292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2920" y="1051560"/>
            <a:ext cx="3535680" cy="91440"/>
          </a:xfrm>
          <a:prstGeom prst="rect">
            <a:avLst/>
          </a:prstGeom>
          <a:solidFill>
            <a:srgbClr val="8A2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8952" y="1554480"/>
            <a:ext cx="3023616" cy="777240"/>
          </a:xfrm>
          <a:prstGeom prst="rect">
            <a:avLst/>
          </a:prstGeom>
          <a:noFill/>
        </p:spPr>
        <p:txBody>
          <a:bodyPr wrap="square" anchor="t" lIns="0" rIns="0" tIns="0" bIns="0">
            <a:spAutoFit/>
          </a:bodyPr>
          <a:lstStyle/>
          <a:p>
            <a:pPr algn="l"/>
            <a:r>
              <a:rPr sz="1700" b="1" i="0">
                <a:solidFill>
                  <a:srgbClr val="8A2BE2"/>
                </a:solidFill>
                <a:latin typeface="Geist Mono"/>
              </a:rPr>
              <a:t>IT LEARNED REAL BIOLOGY</a:t>
            </a:r>
          </a:p>
        </p:txBody>
      </p:sp>
      <p:sp>
        <p:nvSpPr>
          <p:cNvPr id="18" name="TextBox 17"/>
          <p:cNvSpPr txBox="1"/>
          <p:nvPr/>
        </p:nvSpPr>
        <p:spPr>
          <a:xfrm>
            <a:off x="4568952" y="2423160"/>
            <a:ext cx="3023616" cy="2834639"/>
          </a:xfrm>
          <a:prstGeom prst="rect">
            <a:avLst/>
          </a:prstGeom>
          <a:noFill/>
        </p:spPr>
        <p:txBody>
          <a:bodyPr wrap="square" anchor="t" lIns="0" rIns="0" tIns="0" bIns="0">
            <a:spAutoFit/>
          </a:bodyPr>
          <a:lstStyle/>
          <a:p>
            <a:pPr algn="l"/>
            <a:r>
              <a:rPr sz="1550" b="0" i="0">
                <a:solidFill>
                  <a:srgbClr val="14141C"/>
                </a:solidFill>
                <a:latin typeface="Geist"/>
              </a:rPr>
              <a:t>Importance peaks at the seed next to the PAM, matching decades of CRISPR science -- so we can trust WHY it works.</a:t>
            </a:r>
          </a:p>
        </p:txBody>
      </p:sp>
      <p:sp>
        <p:nvSpPr>
          <p:cNvPr id="19" name="Rectangle 18"/>
          <p:cNvSpPr/>
          <p:nvPr/>
        </p:nvSpPr>
        <p:spPr>
          <a:xfrm>
            <a:off x="4312920" y="525780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68952" y="5394960"/>
            <a:ext cx="3023616" cy="548640"/>
          </a:xfrm>
          <a:prstGeom prst="rect">
            <a:avLst/>
          </a:prstGeom>
          <a:noFill/>
        </p:spPr>
        <p:txBody>
          <a:bodyPr wrap="square" anchor="ctr" lIns="0" rIns="0" tIns="0" bIns="0">
            <a:spAutoFit/>
          </a:bodyPr>
          <a:lstStyle/>
          <a:p>
            <a:pPr algn="l"/>
            <a:r>
              <a:rPr sz="1400" b="1" i="0">
                <a:solidFill>
                  <a:srgbClr val="8A2BE2"/>
                </a:solidFill>
                <a:latin typeface="Geist Mono"/>
              </a:rPr>
              <a:t>rediscovered the seed</a:t>
            </a:r>
          </a:p>
        </p:txBody>
      </p:sp>
      <p:sp>
        <p:nvSpPr>
          <p:cNvPr id="21" name="Rectangle 20"/>
          <p:cNvSpPr/>
          <p:nvPr/>
        </p:nvSpPr>
        <p:spPr>
          <a:xfrm>
            <a:off x="8214360" y="1106424"/>
            <a:ext cx="3535680" cy="51206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68640" y="1051560"/>
            <a:ext cx="3535680" cy="5120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68640" y="1051560"/>
            <a:ext cx="3535680" cy="9144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24672" y="1554480"/>
            <a:ext cx="3023616" cy="777240"/>
          </a:xfrm>
          <a:prstGeom prst="rect">
            <a:avLst/>
          </a:prstGeom>
          <a:noFill/>
        </p:spPr>
        <p:txBody>
          <a:bodyPr wrap="square" anchor="t" lIns="0" rIns="0" tIns="0" bIns="0">
            <a:spAutoFit/>
          </a:bodyPr>
          <a:lstStyle/>
          <a:p>
            <a:pPr algn="l"/>
            <a:r>
              <a:rPr sz="1700" b="1" i="0">
                <a:solidFill>
                  <a:srgbClr val="FF1493"/>
                </a:solidFill>
                <a:latin typeface="Geist Mono"/>
              </a:rPr>
              <a:t>BUT IT IS A DEMO</a:t>
            </a:r>
          </a:p>
        </p:txBody>
      </p:sp>
      <p:sp>
        <p:nvSpPr>
          <p:cNvPr id="25" name="TextBox 24"/>
          <p:cNvSpPr txBox="1"/>
          <p:nvPr/>
        </p:nvSpPr>
        <p:spPr>
          <a:xfrm>
            <a:off x="8424672" y="2423160"/>
            <a:ext cx="3023616" cy="2834639"/>
          </a:xfrm>
          <a:prstGeom prst="rect">
            <a:avLst/>
          </a:prstGeom>
          <a:noFill/>
        </p:spPr>
        <p:txBody>
          <a:bodyPr wrap="square" anchor="t" lIns="0" rIns="0" tIns="0" bIns="0">
            <a:spAutoFit/>
          </a:bodyPr>
          <a:lstStyle/>
          <a:p>
            <a:pPr algn="l"/>
            <a:r>
              <a:rPr sz="1550" b="0" i="0">
                <a:solidFill>
                  <a:srgbClr val="14141C"/>
                </a:solidFill>
                <a:latin typeface="Geist"/>
              </a:rPr>
              <a:t>It cannot match a production tool, capture cell-type or chromatin effects, or say anything about off-target safety.</a:t>
            </a:r>
          </a:p>
        </p:txBody>
      </p:sp>
      <p:sp>
        <p:nvSpPr>
          <p:cNvPr id="26" name="Rectangle 25"/>
          <p:cNvSpPr/>
          <p:nvPr/>
        </p:nvSpPr>
        <p:spPr>
          <a:xfrm>
            <a:off x="8168640" y="5257800"/>
            <a:ext cx="353568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24672" y="5394960"/>
            <a:ext cx="3023616" cy="548640"/>
          </a:xfrm>
          <a:prstGeom prst="rect">
            <a:avLst/>
          </a:prstGeom>
          <a:noFill/>
        </p:spPr>
        <p:txBody>
          <a:bodyPr wrap="square" anchor="ctr" lIns="0" rIns="0" tIns="0" bIns="0">
            <a:spAutoFit/>
          </a:bodyPr>
          <a:lstStyle/>
          <a:p>
            <a:pPr algn="l"/>
            <a:r>
              <a:rPr sz="1400" b="1" i="0">
                <a:solidFill>
                  <a:srgbClr val="FF1493"/>
                </a:solidFill>
                <a:latin typeface="Geist Mono"/>
              </a:rPr>
              <a:t>not a design tool -- yet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References</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sp>
        <p:nvSpPr>
          <p:cNvPr id="7" name="TextBox 6"/>
          <p:cNvSpPr txBox="1"/>
          <p:nvPr/>
        </p:nvSpPr>
        <p:spPr>
          <a:xfrm>
            <a:off x="457200" y="1097280"/>
            <a:ext cx="5349240" cy="365760"/>
          </a:xfrm>
          <a:prstGeom prst="rect">
            <a:avLst/>
          </a:prstGeom>
          <a:noFill/>
        </p:spPr>
        <p:txBody>
          <a:bodyPr wrap="square" anchor="t" lIns="0" rIns="0" tIns="0" bIns="0">
            <a:spAutoFit/>
          </a:bodyPr>
          <a:lstStyle/>
          <a:p>
            <a:pPr algn="l"/>
            <a:r>
              <a:rPr sz="1600" b="1" i="0">
                <a:solidFill>
                  <a:srgbClr val="40E0D0"/>
                </a:solidFill>
                <a:latin typeface="Geist Mono"/>
              </a:rPr>
              <a:t>FOUNDATIONS &amp; DATA</a:t>
            </a:r>
          </a:p>
        </p:txBody>
      </p:sp>
      <p:sp>
        <p:nvSpPr>
          <p:cNvPr id="8" name="TextBox 7"/>
          <p:cNvSpPr txBox="1"/>
          <p:nvPr/>
        </p:nvSpPr>
        <p:spPr>
          <a:xfrm>
            <a:off x="457200" y="1600200"/>
            <a:ext cx="5349240" cy="4571999"/>
          </a:xfrm>
          <a:prstGeom prst="rect">
            <a:avLst/>
          </a:prstGeom>
          <a:noFill/>
        </p:spPr>
        <p:txBody>
          <a:bodyPr wrap="square" anchor="t" lIns="0" rIns="0" tIns="0" bIns="0">
            <a:spAutoFit/>
          </a:bodyPr>
          <a:lstStyle/>
          <a:p>
            <a:pPr algn="l"/>
            <a:r>
              <a:rPr sz="1450" b="0" i="0">
                <a:solidFill>
                  <a:srgbClr val="14141C"/>
                </a:solidFill>
                <a:latin typeface="Geist"/>
              </a:rPr>
              <a:t>[1] Doench et al. 2016, Nat Biotechnol -- Rule Set 2 / Azimuth, and the dataset we use.
[2] Doench et al. 2014, Nat Biotechnol -- Rule Set 1: position + PAM predict cutting.
[3] Hsu, Lander &amp; Zhang 2014, Cell -- how Cas9 is steered to a DNA site (the seed).
[4] Zheng et al. 2017, Sci Rep -- direct evidence the PAM-proximal seed matters most.</a:t>
            </a:r>
          </a:p>
        </p:txBody>
      </p:sp>
      <p:sp>
        <p:nvSpPr>
          <p:cNvPr id="9" name="TextBox 8"/>
          <p:cNvSpPr txBox="1"/>
          <p:nvPr/>
        </p:nvSpPr>
        <p:spPr>
          <a:xfrm>
            <a:off x="6355080" y="1097280"/>
            <a:ext cx="5349240" cy="365760"/>
          </a:xfrm>
          <a:prstGeom prst="rect">
            <a:avLst/>
          </a:prstGeom>
          <a:noFill/>
        </p:spPr>
        <p:txBody>
          <a:bodyPr wrap="square" anchor="t" lIns="0" rIns="0" tIns="0" bIns="0">
            <a:spAutoFit/>
          </a:bodyPr>
          <a:lstStyle/>
          <a:p>
            <a:pPr algn="l"/>
            <a:r>
              <a:rPr sz="1600" b="1" i="0">
                <a:solidFill>
                  <a:srgbClr val="FF1493"/>
                </a:solidFill>
                <a:latin typeface="Geist Mono"/>
              </a:rPr>
              <a:t>METHODS &amp; REVIEWS</a:t>
            </a:r>
          </a:p>
        </p:txBody>
      </p:sp>
      <p:sp>
        <p:nvSpPr>
          <p:cNvPr id="10" name="TextBox 9"/>
          <p:cNvSpPr txBox="1"/>
          <p:nvPr/>
        </p:nvSpPr>
        <p:spPr>
          <a:xfrm>
            <a:off x="6355080" y="1600200"/>
            <a:ext cx="5349240" cy="4571999"/>
          </a:xfrm>
          <a:prstGeom prst="rect">
            <a:avLst/>
          </a:prstGeom>
          <a:noFill/>
        </p:spPr>
        <p:txBody>
          <a:bodyPr wrap="square" anchor="t" lIns="0" rIns="0" tIns="0" bIns="0">
            <a:spAutoFit/>
          </a:bodyPr>
          <a:lstStyle/>
          <a:p>
            <a:pPr algn="l"/>
            <a:r>
              <a:rPr sz="1450" b="0" i="0">
                <a:solidFill>
                  <a:srgbClr val="14141C"/>
                </a:solidFill>
                <a:latin typeface="Geist"/>
              </a:rPr>
              <a:t>[5] Chuai et al. 2018, Genome Biol -- DeepCRISPR: deep learning for guide design.
[6] Kim et al. 2019, Sci Adv -- DeepSpCas9: more data + neural nets push accuracy further.
[7] Konstantakos et al. 2022, NAR -- a survey of guide-efficiency predictors.
[8] Abbaszadeh &amp; Shahlai 2025, arXiv -- explainable AI + off-target safety.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02920"/>
          </a:xfrm>
          <a:prstGeom prst="rect">
            <a:avLst/>
          </a:prstGeom>
          <a:noFill/>
        </p:spPr>
        <p:txBody>
          <a:bodyPr wrap="square" anchor="t" lIns="0" rIns="0" tIns="0" bIns="0">
            <a:spAutoFit/>
          </a:bodyPr>
          <a:lstStyle/>
          <a:p>
            <a:pPr algn="l"/>
            <a:r>
              <a:rPr sz="2800" b="1" i="0">
                <a:solidFill>
                  <a:srgbClr val="14141C"/>
                </a:solidFill>
                <a:latin typeface="Geist Mono"/>
              </a:rPr>
              <a:t>The honest bottom line</a:t>
            </a:r>
          </a:p>
        </p:txBody>
      </p:sp>
      <p:sp>
        <p:nvSpPr>
          <p:cNvPr id="5" name="Rectangle 4"/>
          <p:cNvSpPr/>
          <p:nvPr/>
        </p:nvSpPr>
        <p:spPr>
          <a:xfrm>
            <a:off x="457200" y="868680"/>
            <a:ext cx="11247120" cy="45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10528"/>
            <a:ext cx="11247120" cy="274320"/>
          </a:xfrm>
          <a:prstGeom prst="rect">
            <a:avLst/>
          </a:prstGeom>
          <a:noFill/>
        </p:spPr>
        <p:txBody>
          <a:bodyPr wrap="square" anchor="t" lIns="0" rIns="0" tIns="0" bIns="0">
            <a:spAutoFit/>
          </a:bodyPr>
          <a:lstStyle/>
          <a:p>
            <a:pPr algn="l"/>
            <a:r>
              <a:rPr sz="900" b="0" i="0">
                <a:solidFill>
                  <a:srgbClr val="555560"/>
                </a:solidFill>
                <a:latin typeface="Geist Mono"/>
              </a:rPr>
              <a:t>Jinchi Wei  ·  Outset  ·  Picking good CRISPR guides before the lab  ·  2026-07-08</a:t>
            </a:r>
          </a:p>
        </p:txBody>
      </p:sp>
      <p:sp>
        <p:nvSpPr>
          <p:cNvPr id="7" name="TextBox 6"/>
          <p:cNvSpPr txBox="1"/>
          <p:nvPr/>
        </p:nvSpPr>
        <p:spPr>
          <a:xfrm>
            <a:off x="914400" y="2198217"/>
            <a:ext cx="10332720" cy="1280160"/>
          </a:xfrm>
          <a:prstGeom prst="rect">
            <a:avLst/>
          </a:prstGeom>
          <a:noFill/>
        </p:spPr>
        <p:txBody>
          <a:bodyPr wrap="square" anchor="t" lIns="0" rIns="0" tIns="0" bIns="0">
            <a:spAutoFit/>
          </a:bodyPr>
          <a:lstStyle/>
          <a:p>
            <a:pPr algn="ctr"/>
            <a:r>
              <a:rPr sz="3000" b="1" i="0">
                <a:solidFill>
                  <a:srgbClr val="40E0D0"/>
                </a:solidFill>
                <a:latin typeface="Geist Mono"/>
              </a:rPr>
              <a:t>A guide-picker earns its keep by shortlisting the winners -- and explaining itself.</a:t>
            </a:r>
          </a:p>
        </p:txBody>
      </p:sp>
      <p:sp>
        <p:nvSpPr>
          <p:cNvPr id="8" name="Rectangle 7"/>
          <p:cNvSpPr/>
          <p:nvPr/>
        </p:nvSpPr>
        <p:spPr>
          <a:xfrm>
            <a:off x="4983480" y="3615537"/>
            <a:ext cx="2194560" cy="4572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4072737"/>
            <a:ext cx="9418320" cy="1097280"/>
          </a:xfrm>
          <a:prstGeom prst="rect">
            <a:avLst/>
          </a:prstGeom>
          <a:noFill/>
        </p:spPr>
        <p:txBody>
          <a:bodyPr wrap="square" anchor="t" lIns="0" rIns="0" tIns="0" bIns="0">
            <a:spAutoFit/>
          </a:bodyPr>
          <a:lstStyle/>
          <a:p>
            <a:pPr algn="ctr"/>
            <a:r>
              <a:rPr sz="1900" b="0" i="0">
                <a:solidFill>
                  <a:srgbClr val="14141C"/>
                </a:solidFill>
                <a:latin typeface="Geist"/>
              </a:rPr>
              <a:t>Use it to build intuition and narrow the field -- then use a validated tool and the lab to actually choose and confirm a guide.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A3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1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0" cy="6858000"/>
          </a:xfrm>
          <a:prstGeom prst="rect">
            <a:avLst/>
          </a:prstGeom>
          <a:solidFill>
            <a:srgbClr val="40E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0"/>
            <a:ext cx="228600" cy="6858000"/>
          </a:xfrm>
          <a:prstGeom prst="rect">
            <a:avLst/>
          </a:prstGeom>
          <a:solidFill>
            <a:srgbClr val="FF1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417320"/>
            <a:ext cx="10058400" cy="1280160"/>
          </a:xfrm>
          <a:prstGeom prst="rect">
            <a:avLst/>
          </a:prstGeom>
          <a:noFill/>
        </p:spPr>
        <p:txBody>
          <a:bodyPr wrap="square" anchor="t" lIns="0" rIns="0" tIns="0" bIns="0">
            <a:spAutoFit/>
          </a:bodyPr>
          <a:lstStyle/>
          <a:p>
            <a:pPr algn="ctr"/>
            <a:r>
              <a:rPr sz="6000" b="1" i="0">
                <a:solidFill>
                  <a:srgbClr val="FF1493"/>
                </a:solidFill>
                <a:latin typeface="Geist Mono"/>
              </a:rPr>
              <a:t>Thank You</a:t>
            </a:r>
          </a:p>
        </p:txBody>
      </p:sp>
      <p:sp>
        <p:nvSpPr>
          <p:cNvPr id="6" name="TextBox 5"/>
          <p:cNvSpPr txBox="1"/>
          <p:nvPr/>
        </p:nvSpPr>
        <p:spPr>
          <a:xfrm>
            <a:off x="1188720" y="3246120"/>
            <a:ext cx="10058400" cy="640080"/>
          </a:xfrm>
          <a:prstGeom prst="rect">
            <a:avLst/>
          </a:prstGeom>
          <a:noFill/>
        </p:spPr>
        <p:txBody>
          <a:bodyPr wrap="square" anchor="t" lIns="0" rIns="0" tIns="0" bIns="0">
            <a:spAutoFit/>
          </a:bodyPr>
          <a:lstStyle/>
          <a:p>
            <a:pPr algn="ctr"/>
            <a:r>
              <a:rPr sz="3000" b="0" i="0">
                <a:solidFill>
                  <a:srgbClr val="40E0D0"/>
                </a:solidFill>
                <a:latin typeface="Noto Sans CJK TC"/>
              </a:rPr>
              <a:t>魏晉祺</a:t>
            </a:r>
          </a:p>
        </p:txBody>
      </p:sp>
      <p:sp>
        <p:nvSpPr>
          <p:cNvPr id="7" name="TextBox 6"/>
          <p:cNvSpPr txBox="1"/>
          <p:nvPr/>
        </p:nvSpPr>
        <p:spPr>
          <a:xfrm>
            <a:off x="1188720" y="3922776"/>
            <a:ext cx="10058400" cy="457200"/>
          </a:xfrm>
          <a:prstGeom prst="rect">
            <a:avLst/>
          </a:prstGeom>
          <a:noFill/>
        </p:spPr>
        <p:txBody>
          <a:bodyPr wrap="square" anchor="t" lIns="0" rIns="0" tIns="0" bIns="0">
            <a:spAutoFit/>
          </a:bodyPr>
          <a:lstStyle/>
          <a:p>
            <a:pPr algn="ctr"/>
            <a:r>
              <a:rPr sz="2000" b="1" i="0">
                <a:solidFill>
                  <a:srgbClr val="40E0D0"/>
                </a:solidFill>
                <a:latin typeface="Geist Mono"/>
              </a:rPr>
              <a:t>Jinchi Wei</a:t>
            </a:r>
          </a:p>
        </p:txBody>
      </p:sp>
      <p:sp>
        <p:nvSpPr>
          <p:cNvPr id="8" name="TextBox 7"/>
          <p:cNvSpPr txBox="1"/>
          <p:nvPr/>
        </p:nvSpPr>
        <p:spPr>
          <a:xfrm>
            <a:off x="1188720" y="4398264"/>
            <a:ext cx="10058400" cy="365760"/>
          </a:xfrm>
          <a:prstGeom prst="rect">
            <a:avLst/>
          </a:prstGeom>
          <a:noFill/>
        </p:spPr>
        <p:txBody>
          <a:bodyPr wrap="square" anchor="t" lIns="0" rIns="0" tIns="0" bIns="0">
            <a:spAutoFit/>
          </a:bodyPr>
          <a:lstStyle/>
          <a:p>
            <a:pPr algn="ctr"/>
            <a:r>
              <a:rPr sz="1300" b="0" i="0">
                <a:solidFill>
                  <a:srgbClr val="FFFFFF"/>
                </a:solidFill>
                <a:latin typeface="Geist"/>
              </a:rPr>
              <a:t>Outset</a:t>
            </a:r>
          </a:p>
        </p:txBody>
      </p:sp>
      <p:sp>
        <p:nvSpPr>
          <p:cNvPr id="9" name="TextBox 8"/>
          <p:cNvSpPr txBox="1"/>
          <p:nvPr/>
        </p:nvSpPr>
        <p:spPr>
          <a:xfrm>
            <a:off x="1188720" y="4837176"/>
            <a:ext cx="10058400" cy="365760"/>
          </a:xfrm>
          <a:prstGeom prst="rect">
            <a:avLst/>
          </a:prstGeom>
          <a:noFill/>
        </p:spPr>
        <p:txBody>
          <a:bodyPr wrap="square" anchor="t" lIns="0" rIns="0" tIns="0" bIns="0">
            <a:spAutoFit/>
          </a:bodyPr>
          <a:lstStyle/>
          <a:p>
            <a:pPr algn="ctr"/>
            <a:r>
              <a:rPr sz="1600" b="0" i="0">
                <a:solidFill>
                  <a:srgbClr val="F0C840"/>
                </a:solidFill>
                <a:latin typeface="Geist Mono"/>
              </a:rPr>
              <a:t>jinchikwei@gmail.com</a:t>
            </a:r>
          </a:p>
        </p:txBody>
      </p:sp>
      <p:pic>
        <p:nvPicPr>
          <p:cNvPr id="10" name="Picture 9" descr="meng.png"/>
          <p:cNvPicPr>
            <a:picLocks noChangeAspect="1"/>
          </p:cNvPicPr>
          <p:nvPr/>
        </p:nvPicPr>
        <p:blipFill>
          <a:blip r:embed="rId2"/>
          <a:stretch>
            <a:fillRect/>
          </a:stretch>
        </p:blipFill>
        <p:spPr>
          <a:xfrm>
            <a:off x="10086477" y="5486400"/>
            <a:ext cx="690906" cy="914400"/>
          </a:xfrm>
          <a:prstGeom prst="rect">
            <a:avLst/>
          </a:prstGeom>
        </p:spPr>
      </p:pic>
      <p:pic>
        <p:nvPicPr>
          <p:cNvPr id="11" name="Picture 10" descr="xiang.png"/>
          <p:cNvPicPr>
            <a:picLocks noChangeAspect="1"/>
          </p:cNvPicPr>
          <p:nvPr/>
        </p:nvPicPr>
        <p:blipFill>
          <a:blip r:embed="rId3"/>
          <a:stretch>
            <a:fillRect/>
          </a:stretch>
        </p:blipFill>
        <p:spPr>
          <a:xfrm>
            <a:off x="10978551" y="5486400"/>
            <a:ext cx="755944"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