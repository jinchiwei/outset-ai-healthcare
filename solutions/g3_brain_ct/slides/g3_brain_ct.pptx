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Background</a:t>
            </a:r>
          </a:p>
          <a:p>
            <a:r>
              <a:rPr b="0" sz="1100">
                <a:latin typeface="Geist"/>
              </a:rPr>
              <a:t>Open on the clinical stakes so the modeling lands later. Three beats: a bleed is bright on CT and every minute costs ~1.9M neurons; triage AI reads the dangerous scans first; and the catch that runs through the whole talk -- a dataset can hide who is in it. Transition: meet the scan.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 stroke is a race against the clock</a:t>
            </a:r>
          </a:p>
          <a:p>
            <a:r>
              <a:rPr b="0" sz="1100">
                <a:latin typeface="Geist"/>
              </a:rPr>
              <a:t>Open concrete and physical. A head CT: the bright blob is an acute hemorrhage (blood is hyperdense), pointed out in pink. The clock on the right is the stakes -- in a large stroke ~1.9 million neurons die every minute (Saver 2006), so the bleed has to be found and read first. Do not mention datasets yet. Transition: that is exactly the job triage AI does.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Triage AI reads the dangerous scans first</a:t>
            </a:r>
          </a:p>
          <a:p>
            <a:r>
              <a:rPr b="0" sz="1100">
                <a:latin typeface="Geist"/>
              </a:rPr>
              <a:t>The concrete benefit before the catch. Left: seven scans in arrival order, two bleeds buried in the middle; right: after AI triage the bleeds jump to the top, flagged 'read first'. This is the real, deployed job -- Chilamkurthy 2018 hit AUCs above 0.90 -- and it saves the minutes that matter. Transition: so these tools work; what's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catch: a dataset can hide who is in it</a:t>
            </a:r>
          </a:p>
          <a:p>
            <a:r>
              <a:rPr b="0" sz="1100">
                <a:latin typeface="Geist"/>
              </a:rPr>
              <a:t>The spine of the whole talk, stated once. Read the top line slowly: a model can score well on average and still fail a subgroup badly. Left card: that hidden failure is real. Right card: you can only SEE it if the data records the groups -- otherwise there is nothing to group by and the audit cannot run. Everything after this is a demonstration of this one sentence. Transition: so it comes down to what the data records.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data</a:t>
            </a:r>
          </a:p>
          <a:p>
            <a:r>
              <a:rPr b="0" sz="1100">
                <a:latin typeface="Geist"/>
              </a:rPr>
              <a:t>The raw material, and the contrast that IS the lesson. Two datasets: brain-CT images with no patient facts, and a tabular stroke set that records sex, age, and history. Only the second can be audited for fairness. Transition: what a good dataset should have recorded.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Two datasets, documented very differently</a:t>
            </a:r>
          </a:p>
          <a:p>
            <a:r>
              <a:rPr b="0" sz="1100">
                <a:latin typeface="Geist"/>
              </a:rPr>
              <a:t>The centerpiece of the data section. Two datasets, side by side. Left (pink): the brain-CT set -- images and a label, nothing else, so you can train but not audit. Right (turquoise): the tabular stroke set -- one row per patient WITH sex, age, and history, so you can audit and fix. Same disease, opposite documentation. The bottom tags say it plainly. Transition: what a proper dataset SHOULD have recorded.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What a datasheet should record</a:t>
            </a:r>
          </a:p>
          <a:p>
            <a:r>
              <a:rPr b="0" sz="1100">
                <a:latin typeface="Geist"/>
              </a:rPr>
              <a:t>The Datasheets-for-Datasets idea (Gebru 2021): every dataset should ship a standard record of who is in it, so users know its makeup before trusting a model built on it. Left: the six questions a datasheet asks. Right figure: our set checks only two boxes -- image and label -- the four demographic rows are empty. That emptiness is what disarms the fairness audit later. Transition: now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model</a:t>
            </a:r>
          </a:p>
          <a:p>
            <a:r>
              <a:rPr b="0" sz="1100">
                <a:latin typeface="Geist"/>
              </a:rPr>
              <a:t>How we build both halves. For the scans, transfer learning with a CAFormer backbone; a reproducible recipe. For the table, a four-model bake-off, won on held-out AUC, deploying CatBoost because we can explain and audit it. Transition: first, borrow a brain.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Borrow a brain: transfer learning for the scans</a:t>
            </a:r>
          </a:p>
          <a:p>
            <a:r>
              <a:rPr b="0" sz="1100">
                <a:latin typeface="Geist"/>
              </a:rPr>
              <a:t>The one modeling idea for the images. We have hundreds of scans, not millions, so we borrow a brain: take a CAFormer pretrained on everyday photos, freeze its sense of edges and texture, and train only a small new head on our CT slices. Walk the three stages left to right. Same transfer-learning trick as Day 1. Transition: here is the exact recipe.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CT recipe, so it is reproducible</a:t>
            </a:r>
          </a:p>
          <a:p>
            <a:r>
              <a:rPr b="0" sz="1100">
                <a:latin typeface="Geist"/>
              </a:rPr>
              <a:t>The reproducibility slide -- read it as a recipe, not trivia. Five steps: (1) a frozen CAFormer with a fresh 2-class head; (2) every slice resized to 224x224; (3) normalized to the backbone's range, train-only augmentation; (4) framed as one stroke/normal call, graded on sensitivity; (5) a clean train/val/test split, all reporting on held-out data. Any one done wrong quietly breaks the result. Transition: the images were the easy half -- the table needs a model choice.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For the table: we ran a bake-off</a:t>
            </a:r>
          </a:p>
          <a:p>
            <a:r>
              <a:rPr b="0" sz="1100">
                <a:latin typeface="Geist"/>
              </a:rPr>
              <a:t>The 'which model?' decision, made honestly. We ran a bake-off: Logistic Regression, Random Forest, CatBoost, TabPFN, judged by held-out AUC. All four cleared the 0.80 line -- a tight race -- so we did not chase the top decimal. We deploy CatBoost (0.81) because it is a gradient-boosted TREE, which means we can read it with SHAP and audit it by sex, both of which we do next. The teachable habit: pick for the job, not the leaderboard. Transition: on to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Results</a:t>
            </a:r>
          </a:p>
          <a:p>
            <a:r>
              <a:rPr b="0" sz="1100">
                <a:latin typeface="Geist"/>
              </a:rPr>
              <a:t>The payoff in two acts. Act one: the CT detector works (AUC 0.817), reads mostly the right regions, but hits a wall -- no demographics, so the fairness audit cannot run. Act two: the tabular model records sex, so we audit AND fix a real gap. Transition: how do you grade a detector?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CT detector works</a:t>
            </a:r>
          </a:p>
          <a:p>
            <a:r>
              <a:rPr b="0" sz="1100">
                <a:latin typeface="Geist"/>
              </a:rPr>
              <a:t>Name the metric before the number. A detector outputs a score, not a yes/no, so we grade it with the ROC curve -- every cut-off, plotting strokes caught against false alarms -- and AUC, the area underneath (0.5 coin flip, 1.0 perfect). We use AUC, not accuracy, because accuracy is fooled by the rare positive. Ours is 0.817 and the curve hugs the top-left: a real, working detector. Transition: but grade the two error types apart.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Read the two errors apart</a:t>
            </a:r>
          </a:p>
          <a:p>
            <a:r>
              <a:rPr b="0" sz="1100">
                <a:latin typeface="Geist"/>
              </a:rPr>
              <a:t>Read the confusion matrix out loud -- rows are truth, columns are what the model said. Diagonal is correct; off-diagonal is the two error types, and they are NOT equal. Sensitivity ~0.65: it catches about two-thirds of real strokes. Specificity ~0.81: it clears most normals, so false alarms are modest. A missed bleed is the deadly error, so for triage you would lower the threshold to catch more strokes on purpose. One accuracy number would have hidden this split. Transition: is it looking at the right place?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Is it reading the brain, or cheating off the skull?</a:t>
            </a:r>
          </a:p>
          <a:p>
            <a:r>
              <a:rPr b="0" sz="1100">
                <a:latin typeface="Geist"/>
              </a:rPr>
              <a:t>The image version of feature importance. For a table we'd ask SHAP which columns mattered; for a scan we use Grad-CAM, which highlights WHERE the model looked. Top row: scans; bottom row: the heat overlay. Honest read: some heat lands on brain tissue, but some bleeds onto the skull edge and image border -- a classic shortcut. The model is partly reading anatomy and partly cheating off shape cues, which would fail on a different scanner. Worth saying out loud. Transition: and now the wall.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wall: the audit we cannot run</a:t>
            </a:r>
          </a:p>
          <a:p>
            <a:r>
              <a:rPr b="0" sz="1100">
                <a:latin typeface="Geist"/>
              </a:rPr>
              <a:t>The gap that IS the finding. The figure is deliberately mostly blank -- a picture of metadata that does not exist. We CAN audit by class (the label is there), but the fairness audit -- who does it fail? -- cannot run, because age, sex, race, and scanner were never recorded. The pink bar drives it home: this is not a small caveat. A detector that might be far worse for some patients, with no way to check, is disqualified on its own (Gebru 2021; Seyyed-Kalantari 2021). Transition: so let's use a dataset that DID record demographics.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Now a dataset that records sex: audit, then fix</a:t>
            </a:r>
          </a:p>
          <a:p>
            <a:r>
              <a:rPr b="0" sz="1100">
                <a:latin typeface="Geist"/>
              </a:rPr>
              <a:t>The payoff of the second dataset, and the whole thesis in one before/after. Because the table records SEX, we ran the audit the scans blocked. At a threshold tuned to catch 80% of strokes overall, women's strokes were caught only 76% of the time vs men's 85% -- a real 9-point gap (grey bars). The fix: give each sex its own threshold, equalizing UP -- women rise to 83% (turquoise bars), the gap all but closes. Recording sex made the gap both visible and fixable. That contrast with the CT wall is the point of the talk. Transition: and we can read WHY it predicts.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What drives the risk score: age dominates</a:t>
            </a:r>
          </a:p>
          <a:p>
            <a:r>
              <a:rPr b="0" sz="1100">
                <a:latin typeface="Geist"/>
              </a:rPr>
              <a:t>Feature importance for the table. SHAP measures how much each column moves each prediction. Age dominates -- unsurprising for stroke -- with BMI and glucose next. The quiet point: SEX barely moves the risk SCORE, yet it mattered enormously for the fairness audit two slides ago. That is why you audit by group directly rather than trusting that a small feature-importance means a small disparity. A model you can read like this is one you can question and trust. Transition: pull it together.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takeaway</a:t>
            </a:r>
          </a:p>
          <a:p>
            <a:r>
              <a:rPr b="0" sz="1100">
                <a:latin typeface="Geist"/>
              </a:rPr>
              <a:t>Land the one idea the rubric rewards: recording demographics is what makes fairness auditable and fixable. Recap the contrast, credit the papers, and leave them with the rule -- a model you can audit is the real bar.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Recording demographics makes fairness auditable – and fixable</a:t>
            </a:r>
          </a:p>
          <a:p>
            <a:r>
              <a:rPr b="0" sz="1100">
                <a:latin typeface="Geist"/>
              </a:rPr>
              <a:t>The recap the rubric rewards, three cards. Pink: the CT model works (0.817) but cannot be audited -- no demographics. Turquoise: the tabular model works (0.81) AND, because it records sex, we audited and fixed a real gap (76 to 83 percent). Purple: the rule -- a model that runs is easy, a model you can audit is the real bar, and recording who is in the data is what makes it possible. Say the through-line one more time: imaging can hide who's in it; metadata is what lets you check fairness. Transition: the papers behind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References</a:t>
            </a:r>
          </a:p>
          <a:p>
            <a:r>
              <a:rPr b="0" sz="1100">
                <a:latin typeface="Geist"/>
              </a:rPr>
              <a:t>Give credit and show the trail, in three groups. Left: the head-CT triage work that shows the clinical job is real [1][2][3]. Middle: the datasets-and-documentation papers -- Datasheets [4], the radiology-data review [5], transfer learning [8]. Right: the fairness audits that only worked because the data recorded groups [6][7], plus Saver 2006 for 'time is brain'. Point out that [4] and [6] are the backbone of our whole argument. Transition: the one sentence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honest bottom line</a:t>
            </a:r>
          </a:p>
          <a:p>
            <a:r>
              <a:rPr b="0" sz="1100">
                <a:latin typeface="Geist"/>
              </a:rPr>
              <a:t>Land the deck on one idea: an imaging dataset can hide who is in it, and recording demographics is what turns fairness from a hope into something you can measure and fix. Our two datasets proved it -- the CT model worked but could not be audited; the tabular model was audited AND fixed. Leave them with the working rule of medical AI: a model you can check honestly beats a fancy one nobody can. Thank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28016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Outset · AI in Healthcare · Day 3 · Group 3</a:t>
            </a:r>
          </a:p>
        </p:txBody>
      </p:sp>
      <p:sp>
        <p:nvSpPr>
          <p:cNvPr id="6" name="TextBox 5"/>
          <p:cNvSpPr txBox="1"/>
          <p:nvPr/>
        </p:nvSpPr>
        <p:spPr>
          <a:xfrm>
            <a:off x="1188720" y="1737360"/>
            <a:ext cx="10058400" cy="2468880"/>
          </a:xfrm>
          <a:prstGeom prst="rect">
            <a:avLst/>
          </a:prstGeom>
          <a:noFill/>
        </p:spPr>
        <p:txBody>
          <a:bodyPr wrap="square" anchor="t" lIns="0" rIns="0" tIns="0" bIns="0">
            <a:spAutoFit/>
          </a:bodyPr>
          <a:lstStyle/>
          <a:p>
            <a:pPr algn="l"/>
            <a:r>
              <a:rPr sz="4000" b="1" i="0">
                <a:solidFill>
                  <a:srgbClr val="FFFFFF"/>
                </a:solidFill>
                <a:latin typeface="Geist Mono"/>
              </a:rPr>
              <a:t>Stroke on a brain CT -- and the fairness the data hides</a:t>
            </a:r>
          </a:p>
        </p:txBody>
      </p:sp>
      <p:sp>
        <p:nvSpPr>
          <p:cNvPr id="7" name="TextBox 6"/>
          <p:cNvSpPr txBox="1"/>
          <p:nvPr/>
        </p:nvSpPr>
        <p:spPr>
          <a:xfrm>
            <a:off x="1188720" y="4343400"/>
            <a:ext cx="10058400" cy="640080"/>
          </a:xfrm>
          <a:prstGeom prst="rect">
            <a:avLst/>
          </a:prstGeom>
          <a:noFill/>
        </p:spPr>
        <p:txBody>
          <a:bodyPr wrap="square" anchor="t" lIns="0" rIns="0" tIns="0" bIns="0">
            <a:spAutoFit/>
          </a:bodyPr>
          <a:lstStyle/>
          <a:p>
            <a:pPr algn="l"/>
            <a:r>
              <a:rPr sz="1800" b="0" i="0">
                <a:solidFill>
                  <a:srgbClr val="E5E5EA"/>
                </a:solidFill>
                <a:latin typeface="Geist"/>
              </a:rPr>
              <a:t>A working stroke detector you can't audit, and a tabular model you can audit and fix -- because it records who's in it.</a:t>
            </a:r>
          </a:p>
        </p:txBody>
      </p:sp>
      <p:sp>
        <p:nvSpPr>
          <p:cNvPr id="8" name="TextBox 7"/>
          <p:cNvSpPr txBox="1"/>
          <p:nvPr/>
        </p:nvSpPr>
        <p:spPr>
          <a:xfrm>
            <a:off x="1188720" y="5120640"/>
            <a:ext cx="10058400" cy="365760"/>
          </a:xfrm>
          <a:prstGeom prst="rect">
            <a:avLst/>
          </a:prstGeom>
          <a:noFill/>
        </p:spPr>
        <p:txBody>
          <a:bodyPr wrap="square" anchor="t" lIns="0" rIns="0" tIns="0" bIns="0">
            <a:spAutoFit/>
          </a:bodyPr>
          <a:lstStyle/>
          <a:p>
            <a:pPr algn="l"/>
            <a:r>
              <a:rPr sz="2200" b="1" i="0">
                <a:solidFill>
                  <a:srgbClr val="40E0D0"/>
                </a:solidFill>
                <a:latin typeface="Geist Mono"/>
              </a:rPr>
              <a:t>Jinchi Wei</a:t>
            </a:r>
          </a:p>
        </p:txBody>
      </p:sp>
      <p:sp>
        <p:nvSpPr>
          <p:cNvPr id="9" name="TextBox 8"/>
          <p:cNvSpPr txBox="1"/>
          <p:nvPr/>
        </p:nvSpPr>
        <p:spPr>
          <a:xfrm>
            <a:off x="1188720" y="5577840"/>
            <a:ext cx="10058400" cy="320040"/>
          </a:xfrm>
          <a:prstGeom prst="rect">
            <a:avLst/>
          </a:prstGeom>
          <a:noFill/>
        </p:spPr>
        <p:txBody>
          <a:bodyPr wrap="square" anchor="t" lIns="0" rIns="0" tIns="0" bIns="0">
            <a:spAutoFit/>
          </a:bodyPr>
          <a:lstStyle/>
          <a:p>
            <a:pPr algn="l"/>
            <a:r>
              <a:rPr sz="1600" b="1" i="0">
                <a:solidFill>
                  <a:srgbClr val="FF1493"/>
                </a:solidFill>
                <a:latin typeface="Geist Mono"/>
              </a:rPr>
              <a:t>Outset</a:t>
            </a:r>
          </a:p>
        </p:txBody>
      </p:sp>
      <p:sp>
        <p:nvSpPr>
          <p:cNvPr id="10" name="Rectangle 9"/>
          <p:cNvSpPr/>
          <p:nvPr/>
        </p:nvSpPr>
        <p:spPr>
          <a:xfrm>
            <a:off x="1188720" y="6080759"/>
            <a:ext cx="3657600" cy="18288"/>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6217920"/>
            <a:ext cx="10058400" cy="274320"/>
          </a:xfrm>
          <a:prstGeom prst="rect">
            <a:avLst/>
          </a:prstGeom>
          <a:noFill/>
        </p:spPr>
        <p:txBody>
          <a:bodyPr wrap="square" anchor="t" lIns="0" rIns="0" tIns="0" bIns="0">
            <a:spAutoFit/>
          </a:bodyPr>
          <a:lstStyle/>
          <a:p>
            <a:pPr algn="l"/>
            <a:r>
              <a:rPr sz="1200" b="0" i="0">
                <a:solidFill>
                  <a:srgbClr val="F0C840"/>
                </a:solidFill>
                <a:latin typeface="Geist Mono"/>
              </a:rPr>
              <a:t>2026-07-08</a:t>
            </a:r>
          </a:p>
        </p:txBody>
      </p:sp>
      <p:pic>
        <p:nvPicPr>
          <p:cNvPr id="12" name="Picture 11" descr="outset-logo-white.png"/>
          <p:cNvPicPr>
            <a:picLocks noChangeAspect="1"/>
          </p:cNvPicPr>
          <p:nvPr/>
        </p:nvPicPr>
        <p:blipFill>
          <a:blip r:embed="rId2"/>
          <a:stretch>
            <a:fillRect/>
          </a:stretch>
        </p:blipFill>
        <p:spPr>
          <a:xfrm>
            <a:off x="9951415" y="5897880"/>
            <a:ext cx="1737360"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BACKGROUND</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Stroke on a brain CT -- and the fairness the data hides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 stroke is a race against the clock</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intro_head_ct.png"/>
          <p:cNvPicPr>
            <a:picLocks noChangeAspect="1"/>
          </p:cNvPicPr>
          <p:nvPr/>
        </p:nvPicPr>
        <p:blipFill>
          <a:blip r:embed="rId2"/>
          <a:stretch>
            <a:fillRect/>
          </a:stretch>
        </p:blipFill>
        <p:spPr>
          <a:xfrm>
            <a:off x="2330575" y="1051560"/>
            <a:ext cx="7500368" cy="4709159"/>
          </a:xfrm>
          <a:prstGeom prst="rect">
            <a:avLst/>
          </a:prstGeom>
        </p:spPr>
      </p:pic>
      <p:sp>
        <p:nvSpPr>
          <p:cNvPr id="8" name="TextBox 7"/>
          <p:cNvSpPr txBox="1"/>
          <p:nvPr/>
        </p:nvSpPr>
        <p:spPr>
          <a:xfrm>
            <a:off x="1188720" y="5870448"/>
            <a:ext cx="9784080" cy="457200"/>
          </a:xfrm>
          <a:prstGeom prst="rect">
            <a:avLst/>
          </a:prstGeom>
          <a:noFill/>
        </p:spPr>
        <p:txBody>
          <a:bodyPr wrap="square" anchor="t" lIns="0" rIns="0" tIns="0" bIns="0">
            <a:spAutoFit/>
          </a:bodyPr>
          <a:lstStyle/>
          <a:p>
            <a:pPr algn="ctr"/>
            <a:r>
              <a:rPr sz="1400" b="0" i="1">
                <a:solidFill>
                  <a:srgbClr val="14141C"/>
                </a:solidFill>
                <a:latin typeface="Geist"/>
              </a:rPr>
              <a:t>A fresh bleed is bright (hyperdense) on CT -- and every minute of delay costs about 1.9 million neurons, so it must be found and read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Triage AI reads the dangerous scans first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intro_triage_queue.png"/>
          <p:cNvPicPr>
            <a:picLocks noChangeAspect="1"/>
          </p:cNvPicPr>
          <p:nvPr/>
        </p:nvPicPr>
        <p:blipFill>
          <a:blip r:embed="rId2"/>
          <a:stretch>
            <a:fillRect/>
          </a:stretch>
        </p:blipFill>
        <p:spPr>
          <a:xfrm>
            <a:off x="457200" y="1735513"/>
            <a:ext cx="6298387" cy="3844172"/>
          </a:xfrm>
          <a:prstGeom prst="rect">
            <a:avLst/>
          </a:prstGeom>
        </p:spPr>
      </p:pic>
      <p:sp>
        <p:nvSpPr>
          <p:cNvPr id="8" name="TextBox 7"/>
          <p:cNvSpPr txBox="1"/>
          <p:nvPr/>
        </p:nvSpPr>
        <p:spPr>
          <a:xfrm>
            <a:off x="7167067" y="1234440"/>
            <a:ext cx="4537252" cy="411480"/>
          </a:xfrm>
          <a:prstGeom prst="rect">
            <a:avLst/>
          </a:prstGeom>
          <a:noFill/>
        </p:spPr>
        <p:txBody>
          <a:bodyPr wrap="square" anchor="t" lIns="0" rIns="0" tIns="0" bIns="0">
            <a:spAutoFit/>
          </a:bodyPr>
          <a:lstStyle/>
          <a:p>
            <a:pPr algn="l"/>
            <a:r>
              <a:rPr sz="1500" b="1" i="0">
                <a:solidFill>
                  <a:srgbClr val="FF1493"/>
                </a:solidFill>
                <a:latin typeface="Geist Mono"/>
              </a:rPr>
              <a:t>SORT, DON'T JUST QUEUE</a:t>
            </a:r>
          </a:p>
        </p:txBody>
      </p:sp>
      <p:sp>
        <p:nvSpPr>
          <p:cNvPr id="9" name="TextBox 8"/>
          <p:cNvSpPr txBox="1"/>
          <p:nvPr/>
        </p:nvSpPr>
        <p:spPr>
          <a:xfrm>
            <a:off x="7167067" y="1828800"/>
            <a:ext cx="4537252" cy="1234440"/>
          </a:xfrm>
          <a:prstGeom prst="rect">
            <a:avLst/>
          </a:prstGeom>
          <a:noFill/>
        </p:spPr>
        <p:txBody>
          <a:bodyPr wrap="square" anchor="t" lIns="0" rIns="0" tIns="0" bIns="0">
            <a:spAutoFit/>
          </a:bodyPr>
          <a:lstStyle/>
          <a:p>
            <a:pPr algn="l"/>
            <a:r>
              <a:rPr sz="1600" b="0" i="0">
                <a:solidFill>
                  <a:srgbClr val="14141C"/>
                </a:solidFill>
                <a:latin typeface="Geist"/>
              </a:rPr>
              <a:t>A radiologist faces a long list of scans. Read in arrival order, a bleed can wait behind ten normal heads.</a:t>
            </a:r>
          </a:p>
        </p:txBody>
      </p:sp>
      <p:sp>
        <p:nvSpPr>
          <p:cNvPr id="10" name="TextBox 9"/>
          <p:cNvSpPr txBox="1"/>
          <p:nvPr/>
        </p:nvSpPr>
        <p:spPr>
          <a:xfrm>
            <a:off x="7167067" y="3108960"/>
            <a:ext cx="4537252" cy="1234440"/>
          </a:xfrm>
          <a:prstGeom prst="rect">
            <a:avLst/>
          </a:prstGeom>
          <a:noFill/>
        </p:spPr>
        <p:txBody>
          <a:bodyPr wrap="square" anchor="t" lIns="0" rIns="0" tIns="0" bIns="0">
            <a:spAutoFit/>
          </a:bodyPr>
          <a:lstStyle/>
          <a:p>
            <a:pPr algn="l"/>
            <a:r>
              <a:rPr sz="1600" b="0" i="0">
                <a:solidFill>
                  <a:srgbClr val="14141C"/>
                </a:solidFill>
                <a:latin typeface="Geist"/>
              </a:rPr>
              <a:t>Triage AI scores every scan and lifts the likely bleeds to the TOP, so the dangerous ones are read first.</a:t>
            </a:r>
          </a:p>
        </p:txBody>
      </p:sp>
      <p:sp>
        <p:nvSpPr>
          <p:cNvPr id="11" name="TextBox 10"/>
          <p:cNvSpPr txBox="1"/>
          <p:nvPr/>
        </p:nvSpPr>
        <p:spPr>
          <a:xfrm>
            <a:off x="7167067" y="4389120"/>
            <a:ext cx="4537252" cy="1005840"/>
          </a:xfrm>
          <a:prstGeom prst="rect">
            <a:avLst/>
          </a:prstGeom>
          <a:noFill/>
        </p:spPr>
        <p:txBody>
          <a:bodyPr wrap="square" anchor="t" lIns="0" rIns="0" tIns="0" bIns="0">
            <a:spAutoFit/>
          </a:bodyPr>
          <a:lstStyle/>
          <a:p>
            <a:pPr algn="l"/>
            <a:r>
              <a:rPr sz="1600" b="0" i="1">
                <a:solidFill>
                  <a:srgbClr val="8A2BE2"/>
                </a:solidFill>
                <a:latin typeface="Geist"/>
              </a:rPr>
              <a:t>Real tools do this with AUCs above 0.90 and cut time-to-treatment.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catch: a dataset can hide who is in it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sp>
        <p:nvSpPr>
          <p:cNvPr id="7" name="TextBox 6"/>
          <p:cNvSpPr txBox="1"/>
          <p:nvPr/>
        </p:nvSpPr>
        <p:spPr>
          <a:xfrm>
            <a:off x="457200" y="1188720"/>
            <a:ext cx="11247120" cy="914400"/>
          </a:xfrm>
          <a:prstGeom prst="rect">
            <a:avLst/>
          </a:prstGeom>
          <a:noFill/>
        </p:spPr>
        <p:txBody>
          <a:bodyPr wrap="square" anchor="t" lIns="0" rIns="0" tIns="0" bIns="0">
            <a:spAutoFit/>
          </a:bodyPr>
          <a:lstStyle/>
          <a:p>
            <a:pPr algn="ctr"/>
            <a:r>
              <a:rPr sz="2700" b="1" i="0">
                <a:solidFill>
                  <a:srgbClr val="40E0D0"/>
                </a:solidFill>
                <a:latin typeface="Geist Mono"/>
              </a:rPr>
              <a:t>A model can work on average and still hide who it fails.</a:t>
            </a:r>
          </a:p>
        </p:txBody>
      </p:sp>
      <p:sp>
        <p:nvSpPr>
          <p:cNvPr id="8" name="Rectangle 7"/>
          <p:cNvSpPr/>
          <p:nvPr/>
        </p:nvSpPr>
        <p:spPr>
          <a:xfrm>
            <a:off x="457200" y="2468880"/>
            <a:ext cx="5394960" cy="3611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68880"/>
            <a:ext cx="5394960" cy="10972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834640"/>
            <a:ext cx="4809744" cy="457200"/>
          </a:xfrm>
          <a:prstGeom prst="rect">
            <a:avLst/>
          </a:prstGeom>
          <a:noFill/>
        </p:spPr>
        <p:txBody>
          <a:bodyPr wrap="square" anchor="t" lIns="0" rIns="0" tIns="0" bIns="0">
            <a:spAutoFit/>
          </a:bodyPr>
          <a:lstStyle/>
          <a:p>
            <a:pPr algn="l"/>
            <a:r>
              <a:rPr sz="1900" b="1" i="0">
                <a:solidFill>
                  <a:srgbClr val="40E0D0"/>
                </a:solidFill>
                <a:latin typeface="Geist Mono"/>
              </a:rPr>
              <a:t>WORKS ON AVERAGE</a:t>
            </a:r>
          </a:p>
        </p:txBody>
      </p:sp>
      <p:sp>
        <p:nvSpPr>
          <p:cNvPr id="11" name="TextBox 10"/>
          <p:cNvSpPr txBox="1"/>
          <p:nvPr/>
        </p:nvSpPr>
        <p:spPr>
          <a:xfrm>
            <a:off x="749808" y="3520440"/>
            <a:ext cx="4809744" cy="2240279"/>
          </a:xfrm>
          <a:prstGeom prst="rect">
            <a:avLst/>
          </a:prstGeom>
          <a:noFill/>
        </p:spPr>
        <p:txBody>
          <a:bodyPr wrap="square" anchor="t" lIns="0" rIns="0" tIns="0" bIns="0">
            <a:spAutoFit/>
          </a:bodyPr>
          <a:lstStyle/>
          <a:p>
            <a:pPr algn="l"/>
            <a:r>
              <a:rPr sz="1650" b="0" i="0">
                <a:solidFill>
                  <a:srgbClr val="14141C"/>
                </a:solidFill>
                <a:latin typeface="Geist"/>
              </a:rPr>
              <a:t>A detector can hit a strong overall AUC and still be much worse for one group of patients -- a hidden failure.</a:t>
            </a:r>
          </a:p>
        </p:txBody>
      </p:sp>
      <p:sp>
        <p:nvSpPr>
          <p:cNvPr id="12" name="Rectangle 11"/>
          <p:cNvSpPr/>
          <p:nvPr/>
        </p:nvSpPr>
        <p:spPr>
          <a:xfrm>
            <a:off x="6309360" y="2468880"/>
            <a:ext cx="5394960" cy="36118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2468880"/>
            <a:ext cx="5394960" cy="10972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2834640"/>
            <a:ext cx="4809744" cy="457200"/>
          </a:xfrm>
          <a:prstGeom prst="rect">
            <a:avLst/>
          </a:prstGeom>
          <a:noFill/>
        </p:spPr>
        <p:txBody>
          <a:bodyPr wrap="square" anchor="t" lIns="0" rIns="0" tIns="0" bIns="0">
            <a:spAutoFit/>
          </a:bodyPr>
          <a:lstStyle/>
          <a:p>
            <a:pPr algn="l"/>
            <a:r>
              <a:rPr sz="1900" b="1" i="0">
                <a:solidFill>
                  <a:srgbClr val="FF1493"/>
                </a:solidFill>
                <a:latin typeface="Geist Mono"/>
              </a:rPr>
              <a:t>BUT UN-CHECKABLE</a:t>
            </a:r>
          </a:p>
        </p:txBody>
      </p:sp>
      <p:sp>
        <p:nvSpPr>
          <p:cNvPr id="15" name="TextBox 14"/>
          <p:cNvSpPr txBox="1"/>
          <p:nvPr/>
        </p:nvSpPr>
        <p:spPr>
          <a:xfrm>
            <a:off x="6601968" y="3520440"/>
            <a:ext cx="4809744" cy="2240279"/>
          </a:xfrm>
          <a:prstGeom prst="rect">
            <a:avLst/>
          </a:prstGeom>
          <a:noFill/>
        </p:spPr>
        <p:txBody>
          <a:bodyPr wrap="square" anchor="t" lIns="0" rIns="0" tIns="0" bIns="0">
            <a:spAutoFit/>
          </a:bodyPr>
          <a:lstStyle/>
          <a:p>
            <a:pPr algn="l"/>
            <a:r>
              <a:rPr sz="1650" b="0" i="0">
                <a:solidFill>
                  <a:srgbClr val="14141C"/>
                </a:solidFill>
                <a:latin typeface="Geist"/>
              </a:rPr>
              <a:t>If age, sex, race, and scanner were never recorded, there is nothing to group by. The audit that would catch it cannot even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F1493"/>
                </a:solidFill>
                <a:latin typeface="Geist Mono"/>
              </a:rPr>
              <a:t>Methodology</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DATA</a:t>
            </a:r>
          </a:p>
        </p:txBody>
      </p:sp>
      <p:sp>
        <p:nvSpPr>
          <p:cNvPr id="7" name="Rectangle 6"/>
          <p:cNvSpPr/>
          <p:nvPr/>
        </p:nvSpPr>
        <p:spPr>
          <a:xfrm>
            <a:off x="777240" y="5120640"/>
            <a:ext cx="1828800"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Stroke on a brain CT -- and the fairness the data hides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Two datasets, documented very differently</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sp>
        <p:nvSpPr>
          <p:cNvPr id="7" name="Rectangle 6"/>
          <p:cNvSpPr/>
          <p:nvPr/>
        </p:nvSpPr>
        <p:spPr>
          <a:xfrm>
            <a:off x="457200" y="1051560"/>
            <a:ext cx="539496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128016" cy="5120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371600"/>
            <a:ext cx="4754880" cy="457200"/>
          </a:xfrm>
          <a:prstGeom prst="rect">
            <a:avLst/>
          </a:prstGeom>
          <a:noFill/>
        </p:spPr>
        <p:txBody>
          <a:bodyPr wrap="square" anchor="t" lIns="0" rIns="0" tIns="0" bIns="0">
            <a:spAutoFit/>
          </a:bodyPr>
          <a:lstStyle/>
          <a:p>
            <a:pPr algn="l"/>
            <a:r>
              <a:rPr sz="2100" b="1" i="0">
                <a:solidFill>
                  <a:srgbClr val="FF1493"/>
                </a:solidFill>
                <a:latin typeface="Geist Mono"/>
              </a:rPr>
              <a:t>BRAIN CT</a:t>
            </a:r>
          </a:p>
        </p:txBody>
      </p:sp>
      <p:sp>
        <p:nvSpPr>
          <p:cNvPr id="10" name="TextBox 9"/>
          <p:cNvSpPr txBox="1"/>
          <p:nvPr/>
        </p:nvSpPr>
        <p:spPr>
          <a:xfrm>
            <a:off x="822960" y="1920240"/>
            <a:ext cx="4754880" cy="411480"/>
          </a:xfrm>
          <a:prstGeom prst="rect">
            <a:avLst/>
          </a:prstGeom>
          <a:noFill/>
        </p:spPr>
        <p:txBody>
          <a:bodyPr wrap="square" anchor="t" lIns="0" rIns="0" tIns="0" bIns="0">
            <a:spAutoFit/>
          </a:bodyPr>
          <a:lstStyle/>
          <a:p>
            <a:pPr algn="l"/>
            <a:r>
              <a:rPr sz="1500" b="0" i="0">
                <a:solidFill>
                  <a:srgbClr val="555560"/>
                </a:solidFill>
                <a:latin typeface="Geist Mono"/>
              </a:rPr>
              <a:t>normal vs. stroke</a:t>
            </a:r>
          </a:p>
        </p:txBody>
      </p:sp>
      <p:sp>
        <p:nvSpPr>
          <p:cNvPr id="11" name="TextBox 10"/>
          <p:cNvSpPr txBox="1"/>
          <p:nvPr/>
        </p:nvSpPr>
        <p:spPr>
          <a:xfrm>
            <a:off x="822960" y="2606040"/>
            <a:ext cx="4754880" cy="2377439"/>
          </a:xfrm>
          <a:prstGeom prst="rect">
            <a:avLst/>
          </a:prstGeom>
          <a:noFill/>
        </p:spPr>
        <p:txBody>
          <a:bodyPr wrap="square" anchor="t" lIns="0" rIns="0" tIns="0" bIns="0">
            <a:spAutoFit/>
          </a:bodyPr>
          <a:lstStyle/>
          <a:p>
            <a:pPr algn="l"/>
            <a:r>
              <a:rPr sz="1700" b="0" i="0">
                <a:solidFill>
                  <a:srgbClr val="14141C"/>
                </a:solidFill>
                <a:latin typeface="Geist"/>
              </a:rPr>
              <a:t>Real head-CT slices, one label each. That is ALL the dataset records -- no age, sex, race, or scanner.</a:t>
            </a:r>
          </a:p>
        </p:txBody>
      </p:sp>
      <p:sp>
        <p:nvSpPr>
          <p:cNvPr id="12" name="Rectangle 11"/>
          <p:cNvSpPr/>
          <p:nvPr/>
        </p:nvSpPr>
        <p:spPr>
          <a:xfrm>
            <a:off x="822960" y="5212080"/>
            <a:ext cx="466344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349240"/>
            <a:ext cx="4754880" cy="548640"/>
          </a:xfrm>
          <a:prstGeom prst="rect">
            <a:avLst/>
          </a:prstGeom>
          <a:noFill/>
        </p:spPr>
        <p:txBody>
          <a:bodyPr wrap="square" anchor="ctr" lIns="0" rIns="0" tIns="0" bIns="0">
            <a:spAutoFit/>
          </a:bodyPr>
          <a:lstStyle/>
          <a:p>
            <a:pPr algn="l"/>
            <a:r>
              <a:rPr sz="1500" b="1" i="0">
                <a:solidFill>
                  <a:srgbClr val="FF1493"/>
                </a:solidFill>
                <a:latin typeface="Geist Mono"/>
              </a:rPr>
              <a:t>you can train it -- but not audit who it fails</a:t>
            </a:r>
          </a:p>
        </p:txBody>
      </p:sp>
      <p:sp>
        <p:nvSpPr>
          <p:cNvPr id="14" name="Rectangle 13"/>
          <p:cNvSpPr/>
          <p:nvPr/>
        </p:nvSpPr>
        <p:spPr>
          <a:xfrm>
            <a:off x="6309360" y="1051560"/>
            <a:ext cx="539496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051560"/>
            <a:ext cx="128016" cy="51206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371600"/>
            <a:ext cx="4754880" cy="457200"/>
          </a:xfrm>
          <a:prstGeom prst="rect">
            <a:avLst/>
          </a:prstGeom>
          <a:noFill/>
        </p:spPr>
        <p:txBody>
          <a:bodyPr wrap="square" anchor="t" lIns="0" rIns="0" tIns="0" bIns="0">
            <a:spAutoFit/>
          </a:bodyPr>
          <a:lstStyle/>
          <a:p>
            <a:pPr algn="l"/>
            <a:r>
              <a:rPr sz="2100" b="1" i="0">
                <a:solidFill>
                  <a:srgbClr val="40E0D0"/>
                </a:solidFill>
                <a:latin typeface="Geist Mono"/>
              </a:rPr>
              <a:t>TABULAR STROKE</a:t>
            </a:r>
          </a:p>
        </p:txBody>
      </p:sp>
      <p:sp>
        <p:nvSpPr>
          <p:cNvPr id="17" name="TextBox 16"/>
          <p:cNvSpPr txBox="1"/>
          <p:nvPr/>
        </p:nvSpPr>
        <p:spPr>
          <a:xfrm>
            <a:off x="6675120" y="1920240"/>
            <a:ext cx="4754880" cy="411480"/>
          </a:xfrm>
          <a:prstGeom prst="rect">
            <a:avLst/>
          </a:prstGeom>
          <a:noFill/>
        </p:spPr>
        <p:txBody>
          <a:bodyPr wrap="square" anchor="t" lIns="0" rIns="0" tIns="0" bIns="0">
            <a:spAutoFit/>
          </a:bodyPr>
          <a:lstStyle/>
          <a:p>
            <a:pPr algn="l"/>
            <a:r>
              <a:rPr sz="1500" b="0" i="0">
                <a:solidFill>
                  <a:srgbClr val="555560"/>
                </a:solidFill>
                <a:latin typeface="Geist Mono"/>
              </a:rPr>
              <a:t>5,109 patients</a:t>
            </a:r>
          </a:p>
        </p:txBody>
      </p:sp>
      <p:sp>
        <p:nvSpPr>
          <p:cNvPr id="18" name="TextBox 17"/>
          <p:cNvSpPr txBox="1"/>
          <p:nvPr/>
        </p:nvSpPr>
        <p:spPr>
          <a:xfrm>
            <a:off x="6675120" y="2606040"/>
            <a:ext cx="4754880" cy="2377439"/>
          </a:xfrm>
          <a:prstGeom prst="rect">
            <a:avLst/>
          </a:prstGeom>
          <a:noFill/>
        </p:spPr>
        <p:txBody>
          <a:bodyPr wrap="square" anchor="t" lIns="0" rIns="0" tIns="0" bIns="0">
            <a:spAutoFit/>
          </a:bodyPr>
          <a:lstStyle/>
          <a:p>
            <a:pPr algn="l"/>
            <a:r>
              <a:rPr sz="1700" b="0" i="0">
                <a:solidFill>
                  <a:srgbClr val="14141C"/>
                </a:solidFill>
                <a:latin typeface="Geist"/>
              </a:rPr>
              <a:t>One row per patient, and it records sex, age, hypertension, glucose, and smoking -- the facts an audit needs.</a:t>
            </a:r>
          </a:p>
        </p:txBody>
      </p:sp>
      <p:sp>
        <p:nvSpPr>
          <p:cNvPr id="19" name="Rectangle 18"/>
          <p:cNvSpPr/>
          <p:nvPr/>
        </p:nvSpPr>
        <p:spPr>
          <a:xfrm>
            <a:off x="6675120" y="5212080"/>
            <a:ext cx="466344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5349240"/>
            <a:ext cx="4754880" cy="548640"/>
          </a:xfrm>
          <a:prstGeom prst="rect">
            <a:avLst/>
          </a:prstGeom>
          <a:noFill/>
        </p:spPr>
        <p:txBody>
          <a:bodyPr wrap="square" anchor="ctr" lIns="0" rIns="0" tIns="0" bIns="0">
            <a:spAutoFit/>
          </a:bodyPr>
          <a:lstStyle/>
          <a:p>
            <a:pPr algn="l"/>
            <a:r>
              <a:rPr sz="1500" b="1" i="0">
                <a:solidFill>
                  <a:srgbClr val="40E0D0"/>
                </a:solidFill>
                <a:latin typeface="Geist Mono"/>
              </a:rPr>
              <a:t>you can audit AND fix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What a datasheet should record</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intro_datasheet_checklist.png"/>
          <p:cNvPicPr>
            <a:picLocks noChangeAspect="1"/>
          </p:cNvPicPr>
          <p:nvPr/>
        </p:nvPicPr>
        <p:blipFill>
          <a:blip r:embed="rId2"/>
          <a:stretch>
            <a:fillRect/>
          </a:stretch>
        </p:blipFill>
        <p:spPr>
          <a:xfrm>
            <a:off x="5405932" y="2183250"/>
            <a:ext cx="6298387" cy="3131578"/>
          </a:xfrm>
          <a:prstGeom prst="rect">
            <a:avLst/>
          </a:prstGeom>
        </p:spPr>
      </p:pic>
      <p:sp>
        <p:nvSpPr>
          <p:cNvPr id="8" name="Rectangle 7"/>
          <p:cNvSpPr/>
          <p:nvPr/>
        </p:nvSpPr>
        <p:spPr>
          <a:xfrm>
            <a:off x="457200" y="1371600"/>
            <a:ext cx="109728" cy="1554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4217212" cy="411480"/>
          </a:xfrm>
          <a:prstGeom prst="rect">
            <a:avLst/>
          </a:prstGeom>
          <a:noFill/>
        </p:spPr>
        <p:txBody>
          <a:bodyPr wrap="square" anchor="t" lIns="0" rIns="0" tIns="0" bIns="0">
            <a:spAutoFit/>
          </a:bodyPr>
          <a:lstStyle/>
          <a:p>
            <a:pPr algn="l"/>
            <a:r>
              <a:rPr sz="1600" b="1" i="0">
                <a:solidFill>
                  <a:srgbClr val="40E0D0"/>
                </a:solidFill>
                <a:latin typeface="Geist Mono"/>
              </a:rPr>
              <a:t>SIX QUESTIONS</a:t>
            </a:r>
          </a:p>
        </p:txBody>
      </p:sp>
      <p:sp>
        <p:nvSpPr>
          <p:cNvPr id="10" name="TextBox 9"/>
          <p:cNvSpPr txBox="1"/>
          <p:nvPr/>
        </p:nvSpPr>
        <p:spPr>
          <a:xfrm>
            <a:off x="731520" y="1874519"/>
            <a:ext cx="4217212" cy="1371600"/>
          </a:xfrm>
          <a:prstGeom prst="rect">
            <a:avLst/>
          </a:prstGeom>
          <a:noFill/>
        </p:spPr>
        <p:txBody>
          <a:bodyPr wrap="square" anchor="t" lIns="0" rIns="0" tIns="0" bIns="0">
            <a:spAutoFit/>
          </a:bodyPr>
          <a:lstStyle/>
          <a:p>
            <a:pPr algn="l"/>
            <a:r>
              <a:rPr sz="1600" b="0" i="0">
                <a:solidFill>
                  <a:srgbClr val="14141C"/>
                </a:solidFill>
                <a:latin typeface="Geist"/>
              </a:rPr>
              <a:t>A datasheet asks who is in the data -- age, sex, race, scanner, label source, consent -- so you know its limits before you trust it.</a:t>
            </a:r>
          </a:p>
        </p:txBody>
      </p:sp>
      <p:sp>
        <p:nvSpPr>
          <p:cNvPr id="11" name="Rectangle 10"/>
          <p:cNvSpPr/>
          <p:nvPr/>
        </p:nvSpPr>
        <p:spPr>
          <a:xfrm>
            <a:off x="457200" y="3520440"/>
            <a:ext cx="109728" cy="155448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20440"/>
            <a:ext cx="4217212" cy="411480"/>
          </a:xfrm>
          <a:prstGeom prst="rect">
            <a:avLst/>
          </a:prstGeom>
          <a:noFill/>
        </p:spPr>
        <p:txBody>
          <a:bodyPr wrap="square" anchor="t" lIns="0" rIns="0" tIns="0" bIns="0">
            <a:spAutoFit/>
          </a:bodyPr>
          <a:lstStyle/>
          <a:p>
            <a:pPr algn="l"/>
            <a:r>
              <a:rPr sz="1600" b="1" i="0">
                <a:solidFill>
                  <a:srgbClr val="FF1493"/>
                </a:solidFill>
                <a:latin typeface="Geist Mono"/>
              </a:rPr>
              <a:t>TWO ANSWERS</a:t>
            </a:r>
          </a:p>
        </p:txBody>
      </p:sp>
      <p:sp>
        <p:nvSpPr>
          <p:cNvPr id="13" name="TextBox 12"/>
          <p:cNvSpPr txBox="1"/>
          <p:nvPr/>
        </p:nvSpPr>
        <p:spPr>
          <a:xfrm>
            <a:off x="731520" y="4023360"/>
            <a:ext cx="4217212" cy="1371600"/>
          </a:xfrm>
          <a:prstGeom prst="rect">
            <a:avLst/>
          </a:prstGeom>
          <a:noFill/>
        </p:spPr>
        <p:txBody>
          <a:bodyPr wrap="square" anchor="t" lIns="0" rIns="0" tIns="0" bIns="0">
            <a:spAutoFit/>
          </a:bodyPr>
          <a:lstStyle/>
          <a:p>
            <a:pPr algn="l"/>
            <a:r>
              <a:rPr sz="1600" b="0" i="0">
                <a:solidFill>
                  <a:srgbClr val="14141C"/>
                </a:solidFill>
                <a:latin typeface="Geist"/>
              </a:rPr>
              <a:t>Our brain-CT set answers only two: the image, and a stroke / normal label. The four demographic rows are simply blank.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0C840"/>
                </a:solidFill>
                <a:latin typeface="Geist Mono"/>
              </a:rPr>
              <a:t>Results</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MODEL</a:t>
            </a:r>
          </a:p>
        </p:txBody>
      </p:sp>
      <p:sp>
        <p:nvSpPr>
          <p:cNvPr id="7" name="Rectangle 6"/>
          <p:cNvSpPr/>
          <p:nvPr/>
        </p:nvSpPr>
        <p:spPr>
          <a:xfrm>
            <a:off x="777240" y="5120640"/>
            <a:ext cx="1828800" cy="1828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Stroke on a brain CT -- and the fairness the data hides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Borrow a brain: transfer learning for the scans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sp>
        <p:nvSpPr>
          <p:cNvPr id="7" name="Rectangle 6"/>
          <p:cNvSpPr/>
          <p:nvPr/>
        </p:nvSpPr>
        <p:spPr>
          <a:xfrm>
            <a:off x="457200" y="1143000"/>
            <a:ext cx="3139440" cy="42062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43000"/>
            <a:ext cx="3139440" cy="10972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554480"/>
            <a:ext cx="2627376" cy="457200"/>
          </a:xfrm>
          <a:prstGeom prst="rect">
            <a:avLst/>
          </a:prstGeom>
          <a:noFill/>
        </p:spPr>
        <p:txBody>
          <a:bodyPr wrap="square" anchor="t" lIns="0" rIns="0" tIns="0" bIns="0">
            <a:spAutoFit/>
          </a:bodyPr>
          <a:lstStyle/>
          <a:p>
            <a:pPr algn="l"/>
            <a:r>
              <a:rPr sz="1900" b="1" i="0">
                <a:solidFill>
                  <a:srgbClr val="40E0D0"/>
                </a:solidFill>
                <a:latin typeface="Geist Mono"/>
              </a:rPr>
              <a:t>PRETRAINED</a:t>
            </a:r>
          </a:p>
        </p:txBody>
      </p:sp>
      <p:sp>
        <p:nvSpPr>
          <p:cNvPr id="10" name="TextBox 9"/>
          <p:cNvSpPr txBox="1"/>
          <p:nvPr/>
        </p:nvSpPr>
        <p:spPr>
          <a:xfrm>
            <a:off x="713232" y="2286000"/>
            <a:ext cx="2627376" cy="1828799"/>
          </a:xfrm>
          <a:prstGeom prst="rect">
            <a:avLst/>
          </a:prstGeom>
          <a:noFill/>
        </p:spPr>
        <p:txBody>
          <a:bodyPr wrap="square" anchor="t" lIns="0" rIns="0" tIns="0" bIns="0">
            <a:spAutoFit/>
          </a:bodyPr>
          <a:lstStyle/>
          <a:p>
            <a:pPr algn="l"/>
            <a:r>
              <a:rPr sz="1550" b="0" i="0">
                <a:solidFill>
                  <a:srgbClr val="14141C"/>
                </a:solidFill>
                <a:latin typeface="Geist"/>
              </a:rPr>
              <a:t>a CAFormer already trained on millions of everyday photos</a:t>
            </a:r>
          </a:p>
        </p:txBody>
      </p:sp>
      <p:sp>
        <p:nvSpPr>
          <p:cNvPr id="11" name="TextBox 10"/>
          <p:cNvSpPr txBox="1"/>
          <p:nvPr/>
        </p:nvSpPr>
        <p:spPr>
          <a:xfrm>
            <a:off x="713232" y="4617720"/>
            <a:ext cx="2627376" cy="548640"/>
          </a:xfrm>
          <a:prstGeom prst="rect">
            <a:avLst/>
          </a:prstGeom>
          <a:noFill/>
        </p:spPr>
        <p:txBody>
          <a:bodyPr wrap="square" anchor="ctr" lIns="0" rIns="0" tIns="0" bIns="0">
            <a:spAutoFit/>
          </a:bodyPr>
          <a:lstStyle/>
          <a:p>
            <a:pPr algn="l"/>
            <a:r>
              <a:rPr sz="1400" b="1" i="0">
                <a:solidFill>
                  <a:srgbClr val="40E0D0"/>
                </a:solidFill>
                <a:latin typeface="Geist Mono"/>
              </a:rPr>
              <a:t>it knows edges, texture, shape</a:t>
            </a:r>
          </a:p>
        </p:txBody>
      </p:sp>
      <p:sp>
        <p:nvSpPr>
          <p:cNvPr id="12" name="TextBox 11"/>
          <p:cNvSpPr txBox="1"/>
          <p:nvPr/>
        </p:nvSpPr>
        <p:spPr>
          <a:xfrm>
            <a:off x="3642360" y="2834639"/>
            <a:ext cx="822960" cy="822960"/>
          </a:xfrm>
          <a:prstGeom prst="rect">
            <a:avLst/>
          </a:prstGeom>
          <a:noFill/>
        </p:spPr>
        <p:txBody>
          <a:bodyPr wrap="square" anchor="ctr" lIns="0" rIns="0" tIns="0" bIns="0">
            <a:spAutoFit/>
          </a:bodyPr>
          <a:lstStyle/>
          <a:p>
            <a:pPr algn="ctr"/>
            <a:r>
              <a:rPr sz="4000" b="1" i="0">
                <a:solidFill>
                  <a:srgbClr val="14141C"/>
                </a:solidFill>
                <a:latin typeface="Geist Mono"/>
              </a:rPr>
              <a:t>→</a:t>
            </a:r>
          </a:p>
        </p:txBody>
      </p:sp>
      <p:sp>
        <p:nvSpPr>
          <p:cNvPr id="13" name="Rectangle 12"/>
          <p:cNvSpPr/>
          <p:nvPr/>
        </p:nvSpPr>
        <p:spPr>
          <a:xfrm>
            <a:off x="4511040" y="1143000"/>
            <a:ext cx="3139440" cy="42062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11040" y="1143000"/>
            <a:ext cx="3139440" cy="10972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67072" y="1554480"/>
            <a:ext cx="2627376" cy="457200"/>
          </a:xfrm>
          <a:prstGeom prst="rect">
            <a:avLst/>
          </a:prstGeom>
          <a:noFill/>
        </p:spPr>
        <p:txBody>
          <a:bodyPr wrap="square" anchor="t" lIns="0" rIns="0" tIns="0" bIns="0">
            <a:spAutoFit/>
          </a:bodyPr>
          <a:lstStyle/>
          <a:p>
            <a:pPr algn="l"/>
            <a:r>
              <a:rPr sz="1900" b="1" i="0">
                <a:solidFill>
                  <a:srgbClr val="FF1493"/>
                </a:solidFill>
                <a:latin typeface="Geist Mono"/>
              </a:rPr>
              <a:t>FINE-TUNE</a:t>
            </a:r>
          </a:p>
        </p:txBody>
      </p:sp>
      <p:sp>
        <p:nvSpPr>
          <p:cNvPr id="16" name="TextBox 15"/>
          <p:cNvSpPr txBox="1"/>
          <p:nvPr/>
        </p:nvSpPr>
        <p:spPr>
          <a:xfrm>
            <a:off x="4767072" y="2286000"/>
            <a:ext cx="2627376" cy="1828799"/>
          </a:xfrm>
          <a:prstGeom prst="rect">
            <a:avLst/>
          </a:prstGeom>
          <a:noFill/>
        </p:spPr>
        <p:txBody>
          <a:bodyPr wrap="square" anchor="t" lIns="0" rIns="0" tIns="0" bIns="0">
            <a:spAutoFit/>
          </a:bodyPr>
          <a:lstStyle/>
          <a:p>
            <a:pPr algn="l"/>
            <a:r>
              <a:rPr sz="1550" b="0" i="0">
                <a:solidFill>
                  <a:srgbClr val="14141C"/>
                </a:solidFill>
                <a:latin typeface="Geist"/>
              </a:rPr>
              <a:t>freeze that body; train only a small new head on our 224px CT slices</a:t>
            </a:r>
          </a:p>
        </p:txBody>
      </p:sp>
      <p:sp>
        <p:nvSpPr>
          <p:cNvPr id="17" name="TextBox 16"/>
          <p:cNvSpPr txBox="1"/>
          <p:nvPr/>
        </p:nvSpPr>
        <p:spPr>
          <a:xfrm>
            <a:off x="4767072" y="4617720"/>
            <a:ext cx="2627376" cy="548640"/>
          </a:xfrm>
          <a:prstGeom prst="rect">
            <a:avLst/>
          </a:prstGeom>
          <a:noFill/>
        </p:spPr>
        <p:txBody>
          <a:bodyPr wrap="square" anchor="ctr" lIns="0" rIns="0" tIns="0" bIns="0">
            <a:spAutoFit/>
          </a:bodyPr>
          <a:lstStyle/>
          <a:p>
            <a:pPr algn="l"/>
            <a:r>
              <a:rPr sz="1400" b="1" i="0">
                <a:solidFill>
                  <a:srgbClr val="FF1493"/>
                </a:solidFill>
                <a:latin typeface="Geist Mono"/>
              </a:rPr>
              <a:t>it learns the look of a bleed</a:t>
            </a:r>
          </a:p>
        </p:txBody>
      </p:sp>
      <p:sp>
        <p:nvSpPr>
          <p:cNvPr id="18" name="TextBox 17"/>
          <p:cNvSpPr txBox="1"/>
          <p:nvPr/>
        </p:nvSpPr>
        <p:spPr>
          <a:xfrm>
            <a:off x="7696200" y="2834639"/>
            <a:ext cx="822960" cy="822960"/>
          </a:xfrm>
          <a:prstGeom prst="rect">
            <a:avLst/>
          </a:prstGeom>
          <a:noFill/>
        </p:spPr>
        <p:txBody>
          <a:bodyPr wrap="square" anchor="ctr" lIns="0" rIns="0" tIns="0" bIns="0">
            <a:spAutoFit/>
          </a:bodyPr>
          <a:lstStyle/>
          <a:p>
            <a:pPr algn="ctr"/>
            <a:r>
              <a:rPr sz="4000" b="1" i="0">
                <a:solidFill>
                  <a:srgbClr val="14141C"/>
                </a:solidFill>
                <a:latin typeface="Geist Mono"/>
              </a:rPr>
              <a:t>→</a:t>
            </a:r>
          </a:p>
        </p:txBody>
      </p:sp>
      <p:sp>
        <p:nvSpPr>
          <p:cNvPr id="19" name="Rectangle 18"/>
          <p:cNvSpPr/>
          <p:nvPr/>
        </p:nvSpPr>
        <p:spPr>
          <a:xfrm>
            <a:off x="8564880" y="1143000"/>
            <a:ext cx="3139440" cy="42062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64880" y="1143000"/>
            <a:ext cx="3139440" cy="10972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20912" y="1554480"/>
            <a:ext cx="2627376" cy="457200"/>
          </a:xfrm>
          <a:prstGeom prst="rect">
            <a:avLst/>
          </a:prstGeom>
          <a:noFill/>
        </p:spPr>
        <p:txBody>
          <a:bodyPr wrap="square" anchor="t" lIns="0" rIns="0" tIns="0" bIns="0">
            <a:spAutoFit/>
          </a:bodyPr>
          <a:lstStyle/>
          <a:p>
            <a:pPr algn="l"/>
            <a:r>
              <a:rPr sz="1900" b="1" i="0">
                <a:solidFill>
                  <a:srgbClr val="8A2BE2"/>
                </a:solidFill>
                <a:latin typeface="Geist Mono"/>
              </a:rPr>
              <a:t>DETECT</a:t>
            </a:r>
          </a:p>
        </p:txBody>
      </p:sp>
      <p:sp>
        <p:nvSpPr>
          <p:cNvPr id="22" name="TextBox 21"/>
          <p:cNvSpPr txBox="1"/>
          <p:nvPr/>
        </p:nvSpPr>
        <p:spPr>
          <a:xfrm>
            <a:off x="8820912" y="2286000"/>
            <a:ext cx="2627376" cy="1828799"/>
          </a:xfrm>
          <a:prstGeom prst="rect">
            <a:avLst/>
          </a:prstGeom>
          <a:noFill/>
        </p:spPr>
        <p:txBody>
          <a:bodyPr wrap="square" anchor="t" lIns="0" rIns="0" tIns="0" bIns="0">
            <a:spAutoFit/>
          </a:bodyPr>
          <a:lstStyle/>
          <a:p>
            <a:pPr algn="l"/>
            <a:r>
              <a:rPr sz="1550" b="0" i="0">
                <a:solidFill>
                  <a:srgbClr val="14141C"/>
                </a:solidFill>
                <a:latin typeface="Geist"/>
              </a:rPr>
              <a:t>ask the fine-tuned network for one call on a new scan</a:t>
            </a:r>
          </a:p>
        </p:txBody>
      </p:sp>
      <p:sp>
        <p:nvSpPr>
          <p:cNvPr id="23" name="TextBox 22"/>
          <p:cNvSpPr txBox="1"/>
          <p:nvPr/>
        </p:nvSpPr>
        <p:spPr>
          <a:xfrm>
            <a:off x="8820912" y="4617720"/>
            <a:ext cx="2627376" cy="548640"/>
          </a:xfrm>
          <a:prstGeom prst="rect">
            <a:avLst/>
          </a:prstGeom>
          <a:noFill/>
        </p:spPr>
        <p:txBody>
          <a:bodyPr wrap="square" anchor="ctr" lIns="0" rIns="0" tIns="0" bIns="0">
            <a:spAutoFit/>
          </a:bodyPr>
          <a:lstStyle/>
          <a:p>
            <a:pPr algn="l"/>
            <a:r>
              <a:rPr sz="1400" b="1" i="0">
                <a:solidFill>
                  <a:srgbClr val="8A2BE2"/>
                </a:solidFill>
                <a:latin typeface="Geist Mono"/>
              </a:rPr>
              <a:t>normal, or stroke</a:t>
            </a:r>
          </a:p>
        </p:txBody>
      </p:sp>
      <p:sp>
        <p:nvSpPr>
          <p:cNvPr id="24" name="TextBox 23"/>
          <p:cNvSpPr txBox="1"/>
          <p:nvPr/>
        </p:nvSpPr>
        <p:spPr>
          <a:xfrm>
            <a:off x="457200" y="5513831"/>
            <a:ext cx="11247120" cy="502920"/>
          </a:xfrm>
          <a:prstGeom prst="rect">
            <a:avLst/>
          </a:prstGeom>
          <a:noFill/>
        </p:spPr>
        <p:txBody>
          <a:bodyPr wrap="square" anchor="t" lIns="0" rIns="0" tIns="0" bIns="0">
            <a:spAutoFit/>
          </a:bodyPr>
          <a:lstStyle/>
          <a:p>
            <a:pPr algn="ctr"/>
            <a:r>
              <a:rPr sz="1500" b="0" i="1">
                <a:solidFill>
                  <a:srgbClr val="8A2BE2"/>
                </a:solidFill>
                <a:latin typeface="Geist"/>
              </a:rPr>
              <a:t>Borrowed knowledge is why a network can learn stroke from a few hundred scans, not a few million.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CT recipe, so it is reproducible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sp>
        <p:nvSpPr>
          <p:cNvPr id="7" name="Rectangle 6"/>
          <p:cNvSpPr/>
          <p:nvPr/>
        </p:nvSpPr>
        <p:spPr>
          <a:xfrm>
            <a:off x="457200" y="1051560"/>
            <a:ext cx="822960" cy="85953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51560"/>
            <a:ext cx="822960" cy="859535"/>
          </a:xfrm>
          <a:prstGeom prst="rect">
            <a:avLst/>
          </a:prstGeom>
          <a:noFill/>
        </p:spPr>
        <p:txBody>
          <a:bodyPr wrap="square" anchor="ctr" lIns="0" rIns="0" tIns="0" bIns="0">
            <a:spAutoFit/>
          </a:bodyPr>
          <a:lstStyle/>
          <a:p>
            <a:pPr algn="ctr"/>
            <a:r>
              <a:rPr sz="2600" b="1" i="0">
                <a:solidFill>
                  <a:srgbClr val="14141C"/>
                </a:solidFill>
                <a:latin typeface="Geist Mono"/>
              </a:rPr>
              <a:t>1</a:t>
            </a:r>
          </a:p>
        </p:txBody>
      </p:sp>
      <p:sp>
        <p:nvSpPr>
          <p:cNvPr id="9" name="TextBox 8"/>
          <p:cNvSpPr txBox="1"/>
          <p:nvPr/>
        </p:nvSpPr>
        <p:spPr>
          <a:xfrm>
            <a:off x="1508760" y="1051560"/>
            <a:ext cx="2377440" cy="859535"/>
          </a:xfrm>
          <a:prstGeom prst="rect">
            <a:avLst/>
          </a:prstGeom>
          <a:noFill/>
        </p:spPr>
        <p:txBody>
          <a:bodyPr wrap="square" anchor="ctr" lIns="0" rIns="0" tIns="0" bIns="0">
            <a:spAutoFit/>
          </a:bodyPr>
          <a:lstStyle/>
          <a:p>
            <a:pPr algn="l"/>
            <a:r>
              <a:rPr sz="1700" b="1" i="0">
                <a:solidFill>
                  <a:srgbClr val="40E0D0"/>
                </a:solidFill>
                <a:latin typeface="Geist Mono"/>
              </a:rPr>
              <a:t>MODEL</a:t>
            </a:r>
          </a:p>
        </p:txBody>
      </p:sp>
      <p:sp>
        <p:nvSpPr>
          <p:cNvPr id="10" name="TextBox 9"/>
          <p:cNvSpPr txBox="1"/>
          <p:nvPr/>
        </p:nvSpPr>
        <p:spPr>
          <a:xfrm>
            <a:off x="4023360" y="1051560"/>
            <a:ext cx="7680960" cy="859535"/>
          </a:xfrm>
          <a:prstGeom prst="rect">
            <a:avLst/>
          </a:prstGeom>
          <a:noFill/>
        </p:spPr>
        <p:txBody>
          <a:bodyPr wrap="square" anchor="ctr" lIns="0" rIns="0" tIns="0" bIns="0">
            <a:spAutoFit/>
          </a:bodyPr>
          <a:lstStyle/>
          <a:p>
            <a:pPr algn="l"/>
            <a:r>
              <a:rPr sz="1500" b="0" i="0">
                <a:solidFill>
                  <a:srgbClr val="14141C"/>
                </a:solidFill>
                <a:latin typeface="Geist"/>
              </a:rPr>
              <a:t>caformer_s18, pretrained, backbone FROZEN, a fresh 2-class head trained on top</a:t>
            </a:r>
          </a:p>
        </p:txBody>
      </p:sp>
      <p:sp>
        <p:nvSpPr>
          <p:cNvPr id="11" name="Rectangle 10"/>
          <p:cNvSpPr/>
          <p:nvPr/>
        </p:nvSpPr>
        <p:spPr>
          <a:xfrm>
            <a:off x="457200" y="2139696"/>
            <a:ext cx="822960" cy="85953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39696"/>
            <a:ext cx="822960" cy="859535"/>
          </a:xfrm>
          <a:prstGeom prst="rect">
            <a:avLst/>
          </a:prstGeom>
          <a:noFill/>
        </p:spPr>
        <p:txBody>
          <a:bodyPr wrap="square" anchor="ctr" lIns="0" rIns="0" tIns="0" bIns="0">
            <a:spAutoFit/>
          </a:bodyPr>
          <a:lstStyle/>
          <a:p>
            <a:pPr algn="ctr"/>
            <a:r>
              <a:rPr sz="2600" b="1" i="0">
                <a:solidFill>
                  <a:srgbClr val="FFFFFF"/>
                </a:solidFill>
                <a:latin typeface="Geist Mono"/>
              </a:rPr>
              <a:t>2</a:t>
            </a:r>
          </a:p>
        </p:txBody>
      </p:sp>
      <p:sp>
        <p:nvSpPr>
          <p:cNvPr id="13" name="TextBox 12"/>
          <p:cNvSpPr txBox="1"/>
          <p:nvPr/>
        </p:nvSpPr>
        <p:spPr>
          <a:xfrm>
            <a:off x="1508760" y="2139696"/>
            <a:ext cx="2377440" cy="859535"/>
          </a:xfrm>
          <a:prstGeom prst="rect">
            <a:avLst/>
          </a:prstGeom>
          <a:noFill/>
        </p:spPr>
        <p:txBody>
          <a:bodyPr wrap="square" anchor="ctr" lIns="0" rIns="0" tIns="0" bIns="0">
            <a:spAutoFit/>
          </a:bodyPr>
          <a:lstStyle/>
          <a:p>
            <a:pPr algn="l"/>
            <a:r>
              <a:rPr sz="1700" b="1" i="0">
                <a:solidFill>
                  <a:srgbClr val="FF1493"/>
                </a:solidFill>
                <a:latin typeface="Geist Mono"/>
              </a:rPr>
              <a:t>RESIZE</a:t>
            </a:r>
          </a:p>
        </p:txBody>
      </p:sp>
      <p:sp>
        <p:nvSpPr>
          <p:cNvPr id="14" name="TextBox 13"/>
          <p:cNvSpPr txBox="1"/>
          <p:nvPr/>
        </p:nvSpPr>
        <p:spPr>
          <a:xfrm>
            <a:off x="4023360" y="2139696"/>
            <a:ext cx="7680960" cy="859535"/>
          </a:xfrm>
          <a:prstGeom prst="rect">
            <a:avLst/>
          </a:prstGeom>
          <a:noFill/>
        </p:spPr>
        <p:txBody>
          <a:bodyPr wrap="square" anchor="ctr" lIns="0" rIns="0" tIns="0" bIns="0">
            <a:spAutoFit/>
          </a:bodyPr>
          <a:lstStyle/>
          <a:p>
            <a:pPr algn="l"/>
            <a:r>
              <a:rPr sz="1500" b="0" i="0">
                <a:solidFill>
                  <a:srgbClr val="14141C"/>
                </a:solidFill>
                <a:latin typeface="Geist"/>
              </a:rPr>
              <a:t>each CT slice decoded to 3-channel color and resized to 224 x 224 pixels</a:t>
            </a:r>
          </a:p>
        </p:txBody>
      </p:sp>
      <p:sp>
        <p:nvSpPr>
          <p:cNvPr id="15" name="Rectangle 14"/>
          <p:cNvSpPr/>
          <p:nvPr/>
        </p:nvSpPr>
        <p:spPr>
          <a:xfrm>
            <a:off x="457200" y="3227832"/>
            <a:ext cx="822960" cy="85953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27832"/>
            <a:ext cx="822960" cy="859535"/>
          </a:xfrm>
          <a:prstGeom prst="rect">
            <a:avLst/>
          </a:prstGeom>
          <a:noFill/>
        </p:spPr>
        <p:txBody>
          <a:bodyPr wrap="square" anchor="ctr" lIns="0" rIns="0" tIns="0" bIns="0">
            <a:spAutoFit/>
          </a:bodyPr>
          <a:lstStyle/>
          <a:p>
            <a:pPr algn="ctr"/>
            <a:r>
              <a:rPr sz="2600" b="1" i="0">
                <a:solidFill>
                  <a:srgbClr val="14141C"/>
                </a:solidFill>
                <a:latin typeface="Geist Mono"/>
              </a:rPr>
              <a:t>3</a:t>
            </a:r>
          </a:p>
        </p:txBody>
      </p:sp>
      <p:sp>
        <p:nvSpPr>
          <p:cNvPr id="17" name="TextBox 16"/>
          <p:cNvSpPr txBox="1"/>
          <p:nvPr/>
        </p:nvSpPr>
        <p:spPr>
          <a:xfrm>
            <a:off x="1508760" y="3227832"/>
            <a:ext cx="2377440" cy="859535"/>
          </a:xfrm>
          <a:prstGeom prst="rect">
            <a:avLst/>
          </a:prstGeom>
          <a:noFill/>
        </p:spPr>
        <p:txBody>
          <a:bodyPr wrap="square" anchor="ctr" lIns="0" rIns="0" tIns="0" bIns="0">
            <a:spAutoFit/>
          </a:bodyPr>
          <a:lstStyle/>
          <a:p>
            <a:pPr algn="l"/>
            <a:r>
              <a:rPr sz="1700" b="1" i="0">
                <a:solidFill>
                  <a:srgbClr val="F0C840"/>
                </a:solidFill>
                <a:latin typeface="Geist Mono"/>
              </a:rPr>
              <a:t>NORMALIZE</a:t>
            </a:r>
          </a:p>
        </p:txBody>
      </p:sp>
      <p:sp>
        <p:nvSpPr>
          <p:cNvPr id="18" name="TextBox 17"/>
          <p:cNvSpPr txBox="1"/>
          <p:nvPr/>
        </p:nvSpPr>
        <p:spPr>
          <a:xfrm>
            <a:off x="4023360" y="3227832"/>
            <a:ext cx="7680960" cy="859535"/>
          </a:xfrm>
          <a:prstGeom prst="rect">
            <a:avLst/>
          </a:prstGeom>
          <a:noFill/>
        </p:spPr>
        <p:txBody>
          <a:bodyPr wrap="square" anchor="ctr" lIns="0" rIns="0" tIns="0" bIns="0">
            <a:spAutoFit/>
          </a:bodyPr>
          <a:lstStyle/>
          <a:p>
            <a:pPr algn="l"/>
            <a:r>
              <a:rPr sz="1500" b="0" i="0">
                <a:solidFill>
                  <a:srgbClr val="14141C"/>
                </a:solidFill>
                <a:latin typeface="Geist"/>
              </a:rPr>
              <a:t>pixels rescaled to the mean/scale the backbone was trained on; light flips augment TRAIN only</a:t>
            </a:r>
          </a:p>
        </p:txBody>
      </p:sp>
      <p:sp>
        <p:nvSpPr>
          <p:cNvPr id="19" name="Rectangle 18"/>
          <p:cNvSpPr/>
          <p:nvPr/>
        </p:nvSpPr>
        <p:spPr>
          <a:xfrm>
            <a:off x="457200" y="4315968"/>
            <a:ext cx="822960" cy="859535"/>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315968"/>
            <a:ext cx="822960" cy="859535"/>
          </a:xfrm>
          <a:prstGeom prst="rect">
            <a:avLst/>
          </a:prstGeom>
          <a:noFill/>
        </p:spPr>
        <p:txBody>
          <a:bodyPr wrap="square" anchor="ctr" lIns="0" rIns="0" tIns="0" bIns="0">
            <a:spAutoFit/>
          </a:bodyPr>
          <a:lstStyle/>
          <a:p>
            <a:pPr algn="ctr"/>
            <a:r>
              <a:rPr sz="2600" b="1" i="0">
                <a:solidFill>
                  <a:srgbClr val="FFFFFF"/>
                </a:solidFill>
                <a:latin typeface="Geist Mono"/>
              </a:rPr>
              <a:t>4</a:t>
            </a:r>
          </a:p>
        </p:txBody>
      </p:sp>
      <p:sp>
        <p:nvSpPr>
          <p:cNvPr id="21" name="TextBox 20"/>
          <p:cNvSpPr txBox="1"/>
          <p:nvPr/>
        </p:nvSpPr>
        <p:spPr>
          <a:xfrm>
            <a:off x="1508760" y="4315968"/>
            <a:ext cx="2377440" cy="859535"/>
          </a:xfrm>
          <a:prstGeom prst="rect">
            <a:avLst/>
          </a:prstGeom>
          <a:noFill/>
        </p:spPr>
        <p:txBody>
          <a:bodyPr wrap="square" anchor="ctr" lIns="0" rIns="0" tIns="0" bIns="0">
            <a:spAutoFit/>
          </a:bodyPr>
          <a:lstStyle/>
          <a:p>
            <a:pPr algn="l"/>
            <a:r>
              <a:rPr sz="1700" b="1" i="0">
                <a:solidFill>
                  <a:srgbClr val="8A2BE2"/>
                </a:solidFill>
                <a:latin typeface="Geist Mono"/>
              </a:rPr>
              <a:t>BALANCE</a:t>
            </a:r>
          </a:p>
        </p:txBody>
      </p:sp>
      <p:sp>
        <p:nvSpPr>
          <p:cNvPr id="22" name="TextBox 21"/>
          <p:cNvSpPr txBox="1"/>
          <p:nvPr/>
        </p:nvSpPr>
        <p:spPr>
          <a:xfrm>
            <a:off x="4023360" y="4315968"/>
            <a:ext cx="7680960" cy="859535"/>
          </a:xfrm>
          <a:prstGeom prst="rect">
            <a:avLst/>
          </a:prstGeom>
          <a:noFill/>
        </p:spPr>
        <p:txBody>
          <a:bodyPr wrap="square" anchor="ctr" lIns="0" rIns="0" tIns="0" bIns="0">
            <a:spAutoFit/>
          </a:bodyPr>
          <a:lstStyle/>
          <a:p>
            <a:pPr algn="l"/>
            <a:r>
              <a:rPr sz="1500" b="0" i="0">
                <a:solidFill>
                  <a:srgbClr val="14141C"/>
                </a:solidFill>
                <a:latin typeface="Geist"/>
              </a:rPr>
              <a:t>stroke vs. normal framed as one binary call, graded on sensitivity, not just accuracy</a:t>
            </a:r>
          </a:p>
        </p:txBody>
      </p:sp>
      <p:sp>
        <p:nvSpPr>
          <p:cNvPr id="23" name="Rectangle 22"/>
          <p:cNvSpPr/>
          <p:nvPr/>
        </p:nvSpPr>
        <p:spPr>
          <a:xfrm>
            <a:off x="457200" y="5404104"/>
            <a:ext cx="822960" cy="85953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404104"/>
            <a:ext cx="822960" cy="859535"/>
          </a:xfrm>
          <a:prstGeom prst="rect">
            <a:avLst/>
          </a:prstGeom>
          <a:noFill/>
        </p:spPr>
        <p:txBody>
          <a:bodyPr wrap="square" anchor="ctr" lIns="0" rIns="0" tIns="0" bIns="0">
            <a:spAutoFit/>
          </a:bodyPr>
          <a:lstStyle/>
          <a:p>
            <a:pPr algn="ctr"/>
            <a:r>
              <a:rPr sz="2600" b="1" i="0">
                <a:solidFill>
                  <a:srgbClr val="14141C"/>
                </a:solidFill>
                <a:latin typeface="Geist Mono"/>
              </a:rPr>
              <a:t>5</a:t>
            </a:r>
          </a:p>
        </p:txBody>
      </p:sp>
      <p:sp>
        <p:nvSpPr>
          <p:cNvPr id="25" name="TextBox 24"/>
          <p:cNvSpPr txBox="1"/>
          <p:nvPr/>
        </p:nvSpPr>
        <p:spPr>
          <a:xfrm>
            <a:off x="1508760" y="5404104"/>
            <a:ext cx="2377440" cy="859535"/>
          </a:xfrm>
          <a:prstGeom prst="rect">
            <a:avLst/>
          </a:prstGeom>
          <a:noFill/>
        </p:spPr>
        <p:txBody>
          <a:bodyPr wrap="square" anchor="ctr" lIns="0" rIns="0" tIns="0" bIns="0">
            <a:spAutoFit/>
          </a:bodyPr>
          <a:lstStyle/>
          <a:p>
            <a:pPr algn="l"/>
            <a:r>
              <a:rPr sz="1700" b="1" i="0">
                <a:solidFill>
                  <a:srgbClr val="40E0D0"/>
                </a:solidFill>
                <a:latin typeface="Geist Mono"/>
              </a:rPr>
              <a:t>SPLIT</a:t>
            </a:r>
          </a:p>
        </p:txBody>
      </p:sp>
      <p:sp>
        <p:nvSpPr>
          <p:cNvPr id="26" name="TextBox 25"/>
          <p:cNvSpPr txBox="1"/>
          <p:nvPr/>
        </p:nvSpPr>
        <p:spPr>
          <a:xfrm>
            <a:off x="4023360" y="5404104"/>
            <a:ext cx="7680960" cy="859535"/>
          </a:xfrm>
          <a:prstGeom prst="rect">
            <a:avLst/>
          </a:prstGeom>
          <a:noFill/>
        </p:spPr>
        <p:txBody>
          <a:bodyPr wrap="square" anchor="ctr" lIns="0" rIns="0" tIns="0" bIns="0">
            <a:spAutoFit/>
          </a:bodyPr>
          <a:lstStyle/>
          <a:p>
            <a:pPr algn="l"/>
            <a:r>
              <a:rPr sz="1500" b="0" i="0">
                <a:solidFill>
                  <a:srgbClr val="14141C"/>
                </a:solidFill>
                <a:latin typeface="Geist"/>
              </a:rPr>
              <a:t>separate train / val / test; every number we report is on the held-out test 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For the table: we ran a bake-off</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stroke_model_choice.png"/>
          <p:cNvPicPr>
            <a:picLocks noChangeAspect="1"/>
          </p:cNvPicPr>
          <p:nvPr/>
        </p:nvPicPr>
        <p:blipFill>
          <a:blip r:embed="rId2"/>
          <a:stretch>
            <a:fillRect/>
          </a:stretch>
        </p:blipFill>
        <p:spPr>
          <a:xfrm>
            <a:off x="457200" y="1602926"/>
            <a:ext cx="6298387" cy="4109347"/>
          </a:xfrm>
          <a:prstGeom prst="rect">
            <a:avLst/>
          </a:prstGeom>
        </p:spPr>
      </p:pic>
      <p:sp>
        <p:nvSpPr>
          <p:cNvPr id="8" name="Rectangle 7"/>
          <p:cNvSpPr/>
          <p:nvPr/>
        </p:nvSpPr>
        <p:spPr>
          <a:xfrm>
            <a:off x="7167067" y="1188720"/>
            <a:ext cx="4537252" cy="4892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67067" y="1188720"/>
            <a:ext cx="4537252"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41387" y="1463040"/>
            <a:ext cx="3988612" cy="365760"/>
          </a:xfrm>
          <a:prstGeom prst="rect">
            <a:avLst/>
          </a:prstGeom>
          <a:noFill/>
        </p:spPr>
        <p:txBody>
          <a:bodyPr wrap="square" anchor="t" lIns="0" rIns="0" tIns="0" bIns="0">
            <a:spAutoFit/>
          </a:bodyPr>
          <a:lstStyle/>
          <a:p>
            <a:pPr algn="l"/>
            <a:r>
              <a:rPr sz="1400" b="1" i="0">
                <a:solidFill>
                  <a:srgbClr val="40E0D0"/>
                </a:solidFill>
                <a:latin typeface="Geist Mono"/>
              </a:rPr>
              <a:t>WE TESTED, WE DID NOT GUESS</a:t>
            </a:r>
          </a:p>
        </p:txBody>
      </p:sp>
      <p:sp>
        <p:nvSpPr>
          <p:cNvPr id="11" name="TextBox 10"/>
          <p:cNvSpPr txBox="1"/>
          <p:nvPr/>
        </p:nvSpPr>
        <p:spPr>
          <a:xfrm>
            <a:off x="7441387" y="1965960"/>
            <a:ext cx="3988612" cy="822960"/>
          </a:xfrm>
          <a:prstGeom prst="rect">
            <a:avLst/>
          </a:prstGeom>
          <a:noFill/>
        </p:spPr>
        <p:txBody>
          <a:bodyPr wrap="square" anchor="t" lIns="0" rIns="0" tIns="0" bIns="0">
            <a:spAutoFit/>
          </a:bodyPr>
          <a:lstStyle/>
          <a:p>
            <a:pPr algn="l"/>
            <a:r>
              <a:rPr sz="5200" b="1" i="0">
                <a:solidFill>
                  <a:srgbClr val="14141C"/>
                </a:solidFill>
                <a:latin typeface="Geist Mono"/>
              </a:rPr>
              <a:t>0.81</a:t>
            </a:r>
          </a:p>
        </p:txBody>
      </p:sp>
      <p:sp>
        <p:nvSpPr>
          <p:cNvPr id="12" name="TextBox 11"/>
          <p:cNvSpPr txBox="1"/>
          <p:nvPr/>
        </p:nvSpPr>
        <p:spPr>
          <a:xfrm>
            <a:off x="7441387" y="2880360"/>
            <a:ext cx="3988612" cy="1188720"/>
          </a:xfrm>
          <a:prstGeom prst="rect">
            <a:avLst/>
          </a:prstGeom>
          <a:noFill/>
        </p:spPr>
        <p:txBody>
          <a:bodyPr wrap="square" anchor="t" lIns="0" rIns="0" tIns="0" bIns="0">
            <a:spAutoFit/>
          </a:bodyPr>
          <a:lstStyle/>
          <a:p>
            <a:pPr algn="l"/>
            <a:r>
              <a:rPr sz="1550" b="0" i="0">
                <a:solidFill>
                  <a:srgbClr val="14141C"/>
                </a:solidFill>
                <a:latin typeface="Geist"/>
              </a:rPr>
              <a:t>CatBoost AUC. Four models all cleared 0.80, so the honest choice is not the top decimal.</a:t>
            </a:r>
          </a:p>
        </p:txBody>
      </p:sp>
      <p:sp>
        <p:nvSpPr>
          <p:cNvPr id="13" name="TextBox 12"/>
          <p:cNvSpPr txBox="1"/>
          <p:nvPr/>
        </p:nvSpPr>
        <p:spPr>
          <a:xfrm>
            <a:off x="7441387" y="4114800"/>
            <a:ext cx="3988612" cy="1188720"/>
          </a:xfrm>
          <a:prstGeom prst="rect">
            <a:avLst/>
          </a:prstGeom>
          <a:noFill/>
        </p:spPr>
        <p:txBody>
          <a:bodyPr wrap="square" anchor="t" lIns="0" rIns="0" tIns="0" bIns="0">
            <a:spAutoFit/>
          </a:bodyPr>
          <a:lstStyle/>
          <a:p>
            <a:pPr algn="l"/>
            <a:r>
              <a:rPr sz="1550" b="0" i="1">
                <a:solidFill>
                  <a:srgbClr val="8A2BE2"/>
                </a:solidFill>
                <a:latin typeface="Geist"/>
              </a:rPr>
              <a:t>We deploy CatBoost because it is a tree we can explain with SHAP and audit by sex.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8A2BE2"/>
                </a:solidFill>
                <a:latin typeface="Geist Mono"/>
              </a:rPr>
              <a:t>Validation</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RESULTS</a:t>
            </a:r>
          </a:p>
        </p:txBody>
      </p:sp>
      <p:sp>
        <p:nvSpPr>
          <p:cNvPr id="7" name="Rectangle 6"/>
          <p:cNvSpPr/>
          <p:nvPr/>
        </p:nvSpPr>
        <p:spPr>
          <a:xfrm>
            <a:off x="777240" y="5120640"/>
            <a:ext cx="1828800"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Stroke on a brain CT -- and the fairness the data hides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CT detector works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roc.png"/>
          <p:cNvPicPr>
            <a:picLocks noChangeAspect="1"/>
          </p:cNvPicPr>
          <p:nvPr/>
        </p:nvPicPr>
        <p:blipFill>
          <a:blip r:embed="rId2"/>
          <a:stretch>
            <a:fillRect/>
          </a:stretch>
        </p:blipFill>
        <p:spPr>
          <a:xfrm>
            <a:off x="6220195" y="1051560"/>
            <a:ext cx="5344688" cy="5212079"/>
          </a:xfrm>
          <a:prstGeom prst="rect">
            <a:avLst/>
          </a:prstGeom>
        </p:spPr>
      </p:pic>
      <p:sp>
        <p:nvSpPr>
          <p:cNvPr id="8" name="TextBox 7"/>
          <p:cNvSpPr txBox="1"/>
          <p:nvPr/>
        </p:nvSpPr>
        <p:spPr>
          <a:xfrm>
            <a:off x="457200" y="1234440"/>
            <a:ext cx="5166360" cy="1188720"/>
          </a:xfrm>
          <a:prstGeom prst="rect">
            <a:avLst/>
          </a:prstGeom>
          <a:noFill/>
        </p:spPr>
        <p:txBody>
          <a:bodyPr wrap="square" anchor="t" lIns="0" rIns="0" tIns="0" bIns="0">
            <a:spAutoFit/>
          </a:bodyPr>
          <a:lstStyle/>
          <a:p>
            <a:pPr algn="l"/>
            <a:r>
              <a:rPr sz="8400" b="1" i="0">
                <a:solidFill>
                  <a:srgbClr val="F0C840"/>
                </a:solidFill>
                <a:latin typeface="Geist Mono"/>
              </a:rPr>
              <a:t>0.817</a:t>
            </a:r>
          </a:p>
        </p:txBody>
      </p:sp>
      <p:sp>
        <p:nvSpPr>
          <p:cNvPr id="9" name="TextBox 8"/>
          <p:cNvSpPr txBox="1"/>
          <p:nvPr/>
        </p:nvSpPr>
        <p:spPr>
          <a:xfrm>
            <a:off x="457200" y="2468880"/>
            <a:ext cx="5166360" cy="457200"/>
          </a:xfrm>
          <a:prstGeom prst="rect">
            <a:avLst/>
          </a:prstGeom>
          <a:noFill/>
        </p:spPr>
        <p:txBody>
          <a:bodyPr wrap="square" anchor="t" lIns="0" rIns="0" tIns="0" bIns="0">
            <a:spAutoFit/>
          </a:bodyPr>
          <a:lstStyle/>
          <a:p>
            <a:pPr algn="l"/>
            <a:r>
              <a:rPr sz="1700" b="1" i="0">
                <a:solidFill>
                  <a:srgbClr val="14141C"/>
                </a:solidFill>
                <a:latin typeface="Geist Mono"/>
              </a:rPr>
              <a:t>AUC -- the area under the ROC curve</a:t>
            </a:r>
          </a:p>
        </p:txBody>
      </p:sp>
      <p:sp>
        <p:nvSpPr>
          <p:cNvPr id="10" name="TextBox 9"/>
          <p:cNvSpPr txBox="1"/>
          <p:nvPr/>
        </p:nvSpPr>
        <p:spPr>
          <a:xfrm>
            <a:off x="457200" y="3063240"/>
            <a:ext cx="5166360" cy="1280160"/>
          </a:xfrm>
          <a:prstGeom prst="rect">
            <a:avLst/>
          </a:prstGeom>
          <a:noFill/>
        </p:spPr>
        <p:txBody>
          <a:bodyPr wrap="square" anchor="t" lIns="0" rIns="0" tIns="0" bIns="0">
            <a:spAutoFit/>
          </a:bodyPr>
          <a:lstStyle/>
          <a:p>
            <a:pPr algn="l"/>
            <a:r>
              <a:rPr sz="1550" b="0" i="0">
                <a:solidFill>
                  <a:srgbClr val="14141C"/>
                </a:solidFill>
                <a:latin typeface="Geist"/>
              </a:rPr>
              <a:t>The ROC curve sweeps every cut-off and plots strokes caught against false alarms. AUC is the area underneath.</a:t>
            </a:r>
          </a:p>
        </p:txBody>
      </p:sp>
      <p:sp>
        <p:nvSpPr>
          <p:cNvPr id="11" name="TextBox 10"/>
          <p:cNvSpPr txBox="1"/>
          <p:nvPr/>
        </p:nvSpPr>
        <p:spPr>
          <a:xfrm>
            <a:off x="457200" y="4480560"/>
            <a:ext cx="5166360" cy="457200"/>
          </a:xfrm>
          <a:prstGeom prst="rect">
            <a:avLst/>
          </a:prstGeom>
          <a:noFill/>
        </p:spPr>
        <p:txBody>
          <a:bodyPr wrap="square" anchor="t" lIns="0" rIns="0" tIns="0" bIns="0">
            <a:spAutoFit/>
          </a:bodyPr>
          <a:lstStyle/>
          <a:p>
            <a:pPr algn="l"/>
            <a:r>
              <a:rPr sz="1500" b="1" i="0">
                <a:solidFill>
                  <a:srgbClr val="8A2BE2"/>
                </a:solidFill>
                <a:latin typeface="Geist Mono"/>
              </a:rPr>
              <a:t>0.5 = a coin flip     1.0 = perfect</a:t>
            </a:r>
          </a:p>
        </p:txBody>
      </p:sp>
      <p:sp>
        <p:nvSpPr>
          <p:cNvPr id="12" name="TextBox 11"/>
          <p:cNvSpPr txBox="1"/>
          <p:nvPr/>
        </p:nvSpPr>
        <p:spPr>
          <a:xfrm>
            <a:off x="457200" y="4983480"/>
            <a:ext cx="5166360" cy="548640"/>
          </a:xfrm>
          <a:prstGeom prst="rect">
            <a:avLst/>
          </a:prstGeom>
          <a:noFill/>
        </p:spPr>
        <p:txBody>
          <a:bodyPr wrap="square" anchor="t" lIns="0" rIns="0" tIns="0" bIns="0">
            <a:spAutoFit/>
          </a:bodyPr>
          <a:lstStyle/>
          <a:p>
            <a:pPr algn="l"/>
            <a:r>
              <a:rPr sz="1500" b="0" i="1">
                <a:solidFill>
                  <a:srgbClr val="14141C"/>
                </a:solidFill>
                <a:latin typeface="Geist"/>
              </a:rPr>
              <a:t>The curve hugs the top-left corner -- a genuinely working detector.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Read the two errors apart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confusion.png"/>
          <p:cNvPicPr>
            <a:picLocks noChangeAspect="1"/>
          </p:cNvPicPr>
          <p:nvPr/>
        </p:nvPicPr>
        <p:blipFill>
          <a:blip r:embed="rId2"/>
          <a:stretch>
            <a:fillRect/>
          </a:stretch>
        </p:blipFill>
        <p:spPr>
          <a:xfrm>
            <a:off x="457200" y="1387347"/>
            <a:ext cx="5623560" cy="4540504"/>
          </a:xfrm>
          <a:prstGeom prst="rect">
            <a:avLst/>
          </a:prstGeom>
        </p:spPr>
      </p:pic>
      <p:sp>
        <p:nvSpPr>
          <p:cNvPr id="8" name="Rectangle 7"/>
          <p:cNvSpPr/>
          <p:nvPr/>
        </p:nvSpPr>
        <p:spPr>
          <a:xfrm>
            <a:off x="6492240" y="1188720"/>
            <a:ext cx="128016" cy="129844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188720"/>
            <a:ext cx="1737360" cy="1298448"/>
          </a:xfrm>
          <a:prstGeom prst="rect">
            <a:avLst/>
          </a:prstGeom>
          <a:noFill/>
        </p:spPr>
        <p:txBody>
          <a:bodyPr wrap="square" anchor="ctr" lIns="0" rIns="0" tIns="0" bIns="0">
            <a:spAutoFit/>
          </a:bodyPr>
          <a:lstStyle/>
          <a:p>
            <a:pPr algn="l"/>
            <a:r>
              <a:rPr sz="3400" b="1" i="0">
                <a:solidFill>
                  <a:srgbClr val="FF1493"/>
                </a:solidFill>
                <a:latin typeface="Geist Mono"/>
              </a:rPr>
              <a:t>65%</a:t>
            </a:r>
          </a:p>
        </p:txBody>
      </p:sp>
      <p:sp>
        <p:nvSpPr>
          <p:cNvPr id="10" name="TextBox 9"/>
          <p:cNvSpPr txBox="1"/>
          <p:nvPr/>
        </p:nvSpPr>
        <p:spPr>
          <a:xfrm>
            <a:off x="8595360" y="1188720"/>
            <a:ext cx="3108960" cy="1298448"/>
          </a:xfrm>
          <a:prstGeom prst="rect">
            <a:avLst/>
          </a:prstGeom>
          <a:noFill/>
        </p:spPr>
        <p:txBody>
          <a:bodyPr wrap="square" anchor="ctr" lIns="0" rIns="0" tIns="0" bIns="0">
            <a:spAutoFit/>
          </a:bodyPr>
          <a:lstStyle/>
          <a:p>
            <a:pPr algn="l"/>
            <a:r>
              <a:rPr sz="1500" b="0" i="0">
                <a:solidFill>
                  <a:srgbClr val="14141C"/>
                </a:solidFill>
                <a:latin typeface="Geist"/>
              </a:rPr>
              <a:t>of real STROKES caught (sensitivity) -- most, but not all</a:t>
            </a:r>
          </a:p>
        </p:txBody>
      </p:sp>
      <p:sp>
        <p:nvSpPr>
          <p:cNvPr id="11" name="Rectangle 10"/>
          <p:cNvSpPr/>
          <p:nvPr/>
        </p:nvSpPr>
        <p:spPr>
          <a:xfrm>
            <a:off x="6492240" y="2651760"/>
            <a:ext cx="128016" cy="129844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2651760"/>
            <a:ext cx="1737360" cy="1298448"/>
          </a:xfrm>
          <a:prstGeom prst="rect">
            <a:avLst/>
          </a:prstGeom>
          <a:noFill/>
        </p:spPr>
        <p:txBody>
          <a:bodyPr wrap="square" anchor="ctr" lIns="0" rIns="0" tIns="0" bIns="0">
            <a:spAutoFit/>
          </a:bodyPr>
          <a:lstStyle/>
          <a:p>
            <a:pPr algn="l"/>
            <a:r>
              <a:rPr sz="3400" b="1" i="0">
                <a:solidFill>
                  <a:srgbClr val="40E0D0"/>
                </a:solidFill>
                <a:latin typeface="Geist Mono"/>
              </a:rPr>
              <a:t>81%</a:t>
            </a:r>
          </a:p>
        </p:txBody>
      </p:sp>
      <p:sp>
        <p:nvSpPr>
          <p:cNvPr id="13" name="TextBox 12"/>
          <p:cNvSpPr txBox="1"/>
          <p:nvPr/>
        </p:nvSpPr>
        <p:spPr>
          <a:xfrm>
            <a:off x="8595360" y="2651760"/>
            <a:ext cx="3108960" cy="1298448"/>
          </a:xfrm>
          <a:prstGeom prst="rect">
            <a:avLst/>
          </a:prstGeom>
          <a:noFill/>
        </p:spPr>
        <p:txBody>
          <a:bodyPr wrap="square" anchor="ctr" lIns="0" rIns="0" tIns="0" bIns="0">
            <a:spAutoFit/>
          </a:bodyPr>
          <a:lstStyle/>
          <a:p>
            <a:pPr algn="l"/>
            <a:r>
              <a:rPr sz="1500" b="0" i="0">
                <a:solidFill>
                  <a:srgbClr val="14141C"/>
                </a:solidFill>
                <a:latin typeface="Geist"/>
              </a:rPr>
              <a:t>of real NORMALS cleared (specificity) -- few false alarms</a:t>
            </a:r>
          </a:p>
        </p:txBody>
      </p:sp>
      <p:sp>
        <p:nvSpPr>
          <p:cNvPr id="14" name="Rectangle 13"/>
          <p:cNvSpPr/>
          <p:nvPr/>
        </p:nvSpPr>
        <p:spPr>
          <a:xfrm>
            <a:off x="6492240" y="4114800"/>
            <a:ext cx="128016" cy="129844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114800"/>
            <a:ext cx="1737360" cy="1298448"/>
          </a:xfrm>
          <a:prstGeom prst="rect">
            <a:avLst/>
          </a:prstGeom>
          <a:noFill/>
        </p:spPr>
        <p:txBody>
          <a:bodyPr wrap="square" anchor="ctr" lIns="0" rIns="0" tIns="0" bIns="0">
            <a:spAutoFit/>
          </a:bodyPr>
          <a:lstStyle/>
          <a:p>
            <a:pPr algn="l"/>
            <a:r>
              <a:rPr sz="3400" b="1" i="0">
                <a:solidFill>
                  <a:srgbClr val="8A2BE2"/>
                </a:solidFill>
                <a:latin typeface="Geist Mono"/>
              </a:rPr>
              <a:t>the dial</a:t>
            </a:r>
          </a:p>
        </p:txBody>
      </p:sp>
      <p:sp>
        <p:nvSpPr>
          <p:cNvPr id="16" name="TextBox 15"/>
          <p:cNvSpPr txBox="1"/>
          <p:nvPr/>
        </p:nvSpPr>
        <p:spPr>
          <a:xfrm>
            <a:off x="8595360" y="4114800"/>
            <a:ext cx="3108960" cy="1298448"/>
          </a:xfrm>
          <a:prstGeom prst="rect">
            <a:avLst/>
          </a:prstGeom>
          <a:noFill/>
        </p:spPr>
        <p:txBody>
          <a:bodyPr wrap="square" anchor="ctr" lIns="0" rIns="0" tIns="0" bIns="0">
            <a:spAutoFit/>
          </a:bodyPr>
          <a:lstStyle/>
          <a:p>
            <a:pPr algn="l"/>
            <a:r>
              <a:rPr sz="1500" b="0" i="0">
                <a:solidFill>
                  <a:srgbClr val="14141C"/>
                </a:solidFill>
                <a:latin typeface="Geist"/>
              </a:rPr>
              <a:t>for a safety-net triage tool, lower the threshold to catch more strokes, accepting more false alarms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Is it reading the brain, or cheating off the skull?</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gradcam.png"/>
          <p:cNvPicPr>
            <a:picLocks noChangeAspect="1"/>
          </p:cNvPicPr>
          <p:nvPr/>
        </p:nvPicPr>
        <p:blipFill>
          <a:blip r:embed="rId2"/>
          <a:stretch>
            <a:fillRect/>
          </a:stretch>
        </p:blipFill>
        <p:spPr>
          <a:xfrm>
            <a:off x="2588895" y="1051560"/>
            <a:ext cx="6983729" cy="4297679"/>
          </a:xfrm>
          <a:prstGeom prst="rect">
            <a:avLst/>
          </a:prstGeom>
        </p:spPr>
      </p:pic>
      <p:sp>
        <p:nvSpPr>
          <p:cNvPr id="8" name="Rectangle 7"/>
          <p:cNvSpPr/>
          <p:nvPr/>
        </p:nvSpPr>
        <p:spPr>
          <a:xfrm>
            <a:off x="457200" y="5458968"/>
            <a:ext cx="11247120" cy="73152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0407"/>
            <a:ext cx="10698480" cy="548640"/>
          </a:xfrm>
          <a:prstGeom prst="rect">
            <a:avLst/>
          </a:prstGeom>
          <a:noFill/>
        </p:spPr>
        <p:txBody>
          <a:bodyPr wrap="square" anchor="ctr" lIns="0" rIns="0" tIns="0" bIns="0">
            <a:spAutoFit/>
          </a:bodyPr>
          <a:lstStyle/>
          <a:p>
            <a:pPr algn="l"/>
            <a:r>
              <a:rPr sz="1450" b="0" i="0">
                <a:solidFill>
                  <a:srgbClr val="14141C"/>
                </a:solidFill>
                <a:latin typeface="Geist"/>
              </a:rPr>
              <a:t>Grad-CAM = feature importance for an image: some heat sits on brain tissue (good), but some drifts to the SKULL EDGE and border -- a shortcut that works here and would break on a new scanner.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wall: the audit we cannot run</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missing_metadata.png"/>
          <p:cNvPicPr>
            <a:picLocks noChangeAspect="1"/>
          </p:cNvPicPr>
          <p:nvPr/>
        </p:nvPicPr>
        <p:blipFill>
          <a:blip r:embed="rId2"/>
          <a:stretch>
            <a:fillRect/>
          </a:stretch>
        </p:blipFill>
        <p:spPr>
          <a:xfrm>
            <a:off x="6305702" y="1530022"/>
            <a:ext cx="5398617" cy="3340754"/>
          </a:xfrm>
          <a:prstGeom prst="rect">
            <a:avLst/>
          </a:prstGeom>
        </p:spPr>
      </p:pic>
      <p:sp>
        <p:nvSpPr>
          <p:cNvPr id="8" name="TextBox 7"/>
          <p:cNvSpPr txBox="1"/>
          <p:nvPr/>
        </p:nvSpPr>
        <p:spPr>
          <a:xfrm>
            <a:off x="457200" y="1234440"/>
            <a:ext cx="5391302" cy="1828800"/>
          </a:xfrm>
          <a:prstGeom prst="rect">
            <a:avLst/>
          </a:prstGeom>
          <a:noFill/>
        </p:spPr>
        <p:txBody>
          <a:bodyPr wrap="square" anchor="t" lIns="0" rIns="0" tIns="0" bIns="0">
            <a:spAutoFit/>
          </a:bodyPr>
          <a:lstStyle/>
          <a:p>
            <a:pPr algn="l"/>
            <a:r>
              <a:rPr sz="1650" b="0" i="0">
                <a:solidFill>
                  <a:srgbClr val="14141C"/>
                </a:solidFill>
                <a:latin typeface="Geist"/>
              </a:rPr>
              <a:t>We can audit by CLASS (normal vs. stroke) because the label exists. But the audit that matters -- older vs. younger, women vs. men, one scanner vs. another -- we cannot run at all.</a:t>
            </a:r>
          </a:p>
        </p:txBody>
      </p:sp>
      <p:sp>
        <p:nvSpPr>
          <p:cNvPr id="9" name="TextBox 8"/>
          <p:cNvSpPr txBox="1"/>
          <p:nvPr/>
        </p:nvSpPr>
        <p:spPr>
          <a:xfrm>
            <a:off x="457200" y="3200400"/>
            <a:ext cx="5391302" cy="1188720"/>
          </a:xfrm>
          <a:prstGeom prst="rect">
            <a:avLst/>
          </a:prstGeom>
          <a:noFill/>
        </p:spPr>
        <p:txBody>
          <a:bodyPr wrap="square" anchor="t" lIns="0" rIns="0" tIns="0" bIns="0">
            <a:spAutoFit/>
          </a:bodyPr>
          <a:lstStyle/>
          <a:p>
            <a:pPr algn="l"/>
            <a:r>
              <a:rPr sz="1650" b="0" i="0">
                <a:solidFill>
                  <a:srgbClr val="14141C"/>
                </a:solidFill>
                <a:latin typeface="Geist"/>
              </a:rPr>
              <a:t>Not because it is hard: the dataset never recorded those fields, so there is nothing to group by.</a:t>
            </a:r>
          </a:p>
        </p:txBody>
      </p:sp>
      <p:sp>
        <p:nvSpPr>
          <p:cNvPr id="10" name="Rectangle 9"/>
          <p:cNvSpPr/>
          <p:nvPr/>
        </p:nvSpPr>
        <p:spPr>
          <a:xfrm>
            <a:off x="457200" y="4846320"/>
            <a:ext cx="11247120" cy="13716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047488"/>
            <a:ext cx="10607040" cy="457200"/>
          </a:xfrm>
          <a:prstGeom prst="rect">
            <a:avLst/>
          </a:prstGeom>
          <a:noFill/>
        </p:spPr>
        <p:txBody>
          <a:bodyPr wrap="square" anchor="t" lIns="0" rIns="0" tIns="0" bIns="0">
            <a:spAutoFit/>
          </a:bodyPr>
          <a:lstStyle/>
          <a:p>
            <a:pPr algn="l"/>
            <a:r>
              <a:rPr sz="1700" b="1" i="0">
                <a:solidFill>
                  <a:srgbClr val="FFFFFF"/>
                </a:solidFill>
                <a:latin typeface="Geist Mono"/>
              </a:rPr>
              <a:t>DISQUALIFYING, NOT A FOOTNOTE</a:t>
            </a:r>
          </a:p>
        </p:txBody>
      </p:sp>
      <p:sp>
        <p:nvSpPr>
          <p:cNvPr id="12" name="TextBox 11"/>
          <p:cNvSpPr txBox="1"/>
          <p:nvPr/>
        </p:nvSpPr>
        <p:spPr>
          <a:xfrm>
            <a:off x="777240" y="5559552"/>
            <a:ext cx="10607040" cy="594360"/>
          </a:xfrm>
          <a:prstGeom prst="rect">
            <a:avLst/>
          </a:prstGeom>
          <a:noFill/>
        </p:spPr>
        <p:txBody>
          <a:bodyPr wrap="square" anchor="t" lIns="0" rIns="0" tIns="0" bIns="0">
            <a:spAutoFit/>
          </a:bodyPr>
          <a:lstStyle/>
          <a:p>
            <a:pPr algn="l"/>
            <a:r>
              <a:rPr sz="1500" b="0" i="0">
                <a:solidFill>
                  <a:srgbClr val="FFFFFF"/>
                </a:solidFill>
                <a:latin typeface="Geist"/>
              </a:rPr>
              <a:t>The detector might be far worse for some group of patients, and we would have no way to know. For a tool that touches patients, an un-runnable fairness audit sinks it on its 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Now a dataset that records sex: audit, then fix</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stroke_fairness_fix.png"/>
          <p:cNvPicPr>
            <a:picLocks noChangeAspect="1"/>
          </p:cNvPicPr>
          <p:nvPr/>
        </p:nvPicPr>
        <p:blipFill>
          <a:blip r:embed="rId2"/>
          <a:stretch>
            <a:fillRect/>
          </a:stretch>
        </p:blipFill>
        <p:spPr>
          <a:xfrm>
            <a:off x="457200" y="1540136"/>
            <a:ext cx="6298387" cy="4234926"/>
          </a:xfrm>
          <a:prstGeom prst="rect">
            <a:avLst/>
          </a:prstGeom>
        </p:spPr>
      </p:pic>
      <p:sp>
        <p:nvSpPr>
          <p:cNvPr id="8" name="Rectangle 7"/>
          <p:cNvSpPr/>
          <p:nvPr/>
        </p:nvSpPr>
        <p:spPr>
          <a:xfrm>
            <a:off x="7167067" y="1188720"/>
            <a:ext cx="4537252" cy="1554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23099" y="1344168"/>
            <a:ext cx="4025188" cy="685800"/>
          </a:xfrm>
          <a:prstGeom prst="rect">
            <a:avLst/>
          </a:prstGeom>
          <a:noFill/>
        </p:spPr>
        <p:txBody>
          <a:bodyPr wrap="square" anchor="t" lIns="0" rIns="0" tIns="0" bIns="0">
            <a:spAutoFit/>
          </a:bodyPr>
          <a:lstStyle/>
          <a:p>
            <a:pPr algn="l"/>
            <a:r>
              <a:rPr sz="3400" b="1" i="0">
                <a:solidFill>
                  <a:srgbClr val="14141C"/>
                </a:solidFill>
                <a:latin typeface="Geist Mono"/>
              </a:rPr>
              <a:t>76% → 83%</a:t>
            </a:r>
          </a:p>
        </p:txBody>
      </p:sp>
      <p:sp>
        <p:nvSpPr>
          <p:cNvPr id="10" name="TextBox 9"/>
          <p:cNvSpPr txBox="1"/>
          <p:nvPr/>
        </p:nvSpPr>
        <p:spPr>
          <a:xfrm>
            <a:off x="7423099" y="2075688"/>
            <a:ext cx="4025188" cy="548640"/>
          </a:xfrm>
          <a:prstGeom prst="rect">
            <a:avLst/>
          </a:prstGeom>
          <a:noFill/>
        </p:spPr>
        <p:txBody>
          <a:bodyPr wrap="square" anchor="t" lIns="0" rIns="0" tIns="0" bIns="0">
            <a:spAutoFit/>
          </a:bodyPr>
          <a:lstStyle/>
          <a:p>
            <a:pPr algn="l"/>
            <a:r>
              <a:rPr sz="1350" b="0" i="0">
                <a:solidFill>
                  <a:srgbClr val="14141C"/>
                </a:solidFill>
                <a:latin typeface="Geist"/>
              </a:rPr>
              <a:t>women's strokes caught, after a group-aware threshold (men held at 85%)</a:t>
            </a:r>
          </a:p>
        </p:txBody>
      </p:sp>
      <p:sp>
        <p:nvSpPr>
          <p:cNvPr id="11" name="Rectangle 10"/>
          <p:cNvSpPr/>
          <p:nvPr/>
        </p:nvSpPr>
        <p:spPr>
          <a:xfrm>
            <a:off x="7167067" y="2926080"/>
            <a:ext cx="4537252" cy="13716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3099" y="3063240"/>
            <a:ext cx="4025188" cy="640080"/>
          </a:xfrm>
          <a:prstGeom prst="rect">
            <a:avLst/>
          </a:prstGeom>
          <a:noFill/>
        </p:spPr>
        <p:txBody>
          <a:bodyPr wrap="square" anchor="t" lIns="0" rIns="0" tIns="0" bIns="0">
            <a:spAutoFit/>
          </a:bodyPr>
          <a:lstStyle/>
          <a:p>
            <a:pPr algn="l"/>
            <a:r>
              <a:rPr sz="3000" b="1" i="0">
                <a:solidFill>
                  <a:srgbClr val="FFFFFF"/>
                </a:solidFill>
                <a:latin typeface="Geist Mono"/>
              </a:rPr>
              <a:t>gap 9% → 2%</a:t>
            </a:r>
          </a:p>
        </p:txBody>
      </p:sp>
      <p:sp>
        <p:nvSpPr>
          <p:cNvPr id="13" name="TextBox 12"/>
          <p:cNvSpPr txBox="1"/>
          <p:nvPr/>
        </p:nvSpPr>
        <p:spPr>
          <a:xfrm>
            <a:off x="7423099" y="3749040"/>
            <a:ext cx="4025188" cy="457200"/>
          </a:xfrm>
          <a:prstGeom prst="rect">
            <a:avLst/>
          </a:prstGeom>
          <a:noFill/>
        </p:spPr>
        <p:txBody>
          <a:bodyPr wrap="square" anchor="t" lIns="0" rIns="0" tIns="0" bIns="0">
            <a:spAutoFit/>
          </a:bodyPr>
          <a:lstStyle/>
          <a:p>
            <a:pPr algn="l"/>
            <a:r>
              <a:rPr sz="1350" b="0" i="0">
                <a:solidFill>
                  <a:srgbClr val="FFFFFF"/>
                </a:solidFill>
                <a:latin typeface="Geist"/>
              </a:rPr>
              <a:t>recording sex made the gap visible AND closable</a:t>
            </a:r>
          </a:p>
        </p:txBody>
      </p:sp>
      <p:sp>
        <p:nvSpPr>
          <p:cNvPr id="14" name="TextBox 13"/>
          <p:cNvSpPr txBox="1"/>
          <p:nvPr/>
        </p:nvSpPr>
        <p:spPr>
          <a:xfrm>
            <a:off x="7167067" y="4480560"/>
            <a:ext cx="4537252" cy="914400"/>
          </a:xfrm>
          <a:prstGeom prst="rect">
            <a:avLst/>
          </a:prstGeom>
          <a:noFill/>
        </p:spPr>
        <p:txBody>
          <a:bodyPr wrap="square" anchor="t" lIns="0" rIns="0" tIns="0" bIns="0">
            <a:spAutoFit/>
          </a:bodyPr>
          <a:lstStyle/>
          <a:p>
            <a:pPr algn="l"/>
            <a:r>
              <a:rPr sz="1500" b="0" i="1">
                <a:solidFill>
                  <a:srgbClr val="14141C"/>
                </a:solidFill>
                <a:latin typeface="Geist"/>
              </a:rPr>
              <a:t>The audit the CT scans made impossible -- run, and fixed.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What drives the risk score: age dominates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pic>
        <p:nvPicPr>
          <p:cNvPr id="7" name="Picture 6" descr="stroke_shap.png"/>
          <p:cNvPicPr>
            <a:picLocks noChangeAspect="1"/>
          </p:cNvPicPr>
          <p:nvPr/>
        </p:nvPicPr>
        <p:blipFill>
          <a:blip r:embed="rId2"/>
          <a:stretch>
            <a:fillRect/>
          </a:stretch>
        </p:blipFill>
        <p:spPr>
          <a:xfrm>
            <a:off x="5518404" y="1376357"/>
            <a:ext cx="6185916" cy="4562485"/>
          </a:xfrm>
          <a:prstGeom prst="rect">
            <a:avLst/>
          </a:prstGeom>
        </p:spPr>
      </p:pic>
      <p:sp>
        <p:nvSpPr>
          <p:cNvPr id="8" name="TextBox 7"/>
          <p:cNvSpPr txBox="1"/>
          <p:nvPr/>
        </p:nvSpPr>
        <p:spPr>
          <a:xfrm>
            <a:off x="457200" y="1234440"/>
            <a:ext cx="4604004" cy="1005840"/>
          </a:xfrm>
          <a:prstGeom prst="rect">
            <a:avLst/>
          </a:prstGeom>
          <a:noFill/>
        </p:spPr>
        <p:txBody>
          <a:bodyPr wrap="square" anchor="t" lIns="0" rIns="0" tIns="0" bIns="0">
            <a:spAutoFit/>
          </a:bodyPr>
          <a:lstStyle/>
          <a:p>
            <a:pPr algn="l"/>
            <a:r>
              <a:rPr sz="1600" b="0" i="0">
                <a:solidFill>
                  <a:srgbClr val="14141C"/>
                </a:solidFill>
                <a:latin typeface="Geist"/>
              </a:rPr>
              <a:t>SHAP = feature importance for a table: how much each column moves the prediction.</a:t>
            </a:r>
          </a:p>
        </p:txBody>
      </p:sp>
      <p:sp>
        <p:nvSpPr>
          <p:cNvPr id="9" name="TextBox 8"/>
          <p:cNvSpPr txBox="1"/>
          <p:nvPr/>
        </p:nvSpPr>
        <p:spPr>
          <a:xfrm>
            <a:off x="457200" y="2423160"/>
            <a:ext cx="4604004" cy="411480"/>
          </a:xfrm>
          <a:prstGeom prst="rect">
            <a:avLst/>
          </a:prstGeom>
          <a:noFill/>
        </p:spPr>
        <p:txBody>
          <a:bodyPr wrap="square" anchor="t" lIns="0" rIns="0" tIns="0" bIns="0">
            <a:spAutoFit/>
          </a:bodyPr>
          <a:lstStyle/>
          <a:p>
            <a:pPr algn="l"/>
            <a:r>
              <a:rPr sz="1800" b="1" i="0">
                <a:solidFill>
                  <a:srgbClr val="FF1493"/>
                </a:solidFill>
                <a:latin typeface="Geist Mono"/>
              </a:rPr>
              <a:t>age</a:t>
            </a:r>
          </a:p>
        </p:txBody>
      </p:sp>
      <p:sp>
        <p:nvSpPr>
          <p:cNvPr id="10" name="TextBox 9"/>
          <p:cNvSpPr txBox="1"/>
          <p:nvPr/>
        </p:nvSpPr>
        <p:spPr>
          <a:xfrm>
            <a:off x="457200" y="2862072"/>
            <a:ext cx="4604004" cy="640080"/>
          </a:xfrm>
          <a:prstGeom prst="rect">
            <a:avLst/>
          </a:prstGeom>
          <a:noFill/>
        </p:spPr>
        <p:txBody>
          <a:bodyPr wrap="square" anchor="t" lIns="0" rIns="0" tIns="0" bIns="0">
            <a:spAutoFit/>
          </a:bodyPr>
          <a:lstStyle/>
          <a:p>
            <a:pPr algn="l"/>
            <a:r>
              <a:rPr sz="1500" b="0" i="0">
                <a:solidFill>
                  <a:srgbClr val="14141C"/>
                </a:solidFill>
                <a:latin typeface="Geist"/>
              </a:rPr>
              <a:t>by far the strongest driver</a:t>
            </a:r>
          </a:p>
        </p:txBody>
      </p:sp>
      <p:sp>
        <p:nvSpPr>
          <p:cNvPr id="11" name="TextBox 10"/>
          <p:cNvSpPr txBox="1"/>
          <p:nvPr/>
        </p:nvSpPr>
        <p:spPr>
          <a:xfrm>
            <a:off x="457200" y="3566160"/>
            <a:ext cx="4604004" cy="411480"/>
          </a:xfrm>
          <a:prstGeom prst="rect">
            <a:avLst/>
          </a:prstGeom>
          <a:noFill/>
        </p:spPr>
        <p:txBody>
          <a:bodyPr wrap="square" anchor="t" lIns="0" rIns="0" tIns="0" bIns="0">
            <a:spAutoFit/>
          </a:bodyPr>
          <a:lstStyle/>
          <a:p>
            <a:pPr algn="l"/>
            <a:r>
              <a:rPr sz="1800" b="1" i="0">
                <a:solidFill>
                  <a:srgbClr val="F0C840"/>
                </a:solidFill>
                <a:latin typeface="Geist Mono"/>
              </a:rPr>
              <a:t>bmi + glucose</a:t>
            </a:r>
          </a:p>
        </p:txBody>
      </p:sp>
      <p:sp>
        <p:nvSpPr>
          <p:cNvPr id="12" name="TextBox 11"/>
          <p:cNvSpPr txBox="1"/>
          <p:nvPr/>
        </p:nvSpPr>
        <p:spPr>
          <a:xfrm>
            <a:off x="457200" y="4005072"/>
            <a:ext cx="4604004" cy="640080"/>
          </a:xfrm>
          <a:prstGeom prst="rect">
            <a:avLst/>
          </a:prstGeom>
          <a:noFill/>
        </p:spPr>
        <p:txBody>
          <a:bodyPr wrap="square" anchor="t" lIns="0" rIns="0" tIns="0" bIns="0">
            <a:spAutoFit/>
          </a:bodyPr>
          <a:lstStyle/>
          <a:p>
            <a:pPr algn="l"/>
            <a:r>
              <a:rPr sz="1500" b="0" i="0">
                <a:solidFill>
                  <a:srgbClr val="14141C"/>
                </a:solidFill>
                <a:latin typeface="Geist"/>
              </a:rPr>
              <a:t>the next tier of risk</a:t>
            </a:r>
          </a:p>
        </p:txBody>
      </p:sp>
      <p:sp>
        <p:nvSpPr>
          <p:cNvPr id="13" name="TextBox 12"/>
          <p:cNvSpPr txBox="1"/>
          <p:nvPr/>
        </p:nvSpPr>
        <p:spPr>
          <a:xfrm>
            <a:off x="457200" y="4709160"/>
            <a:ext cx="4604004" cy="411480"/>
          </a:xfrm>
          <a:prstGeom prst="rect">
            <a:avLst/>
          </a:prstGeom>
          <a:noFill/>
        </p:spPr>
        <p:txBody>
          <a:bodyPr wrap="square" anchor="t" lIns="0" rIns="0" tIns="0" bIns="0">
            <a:spAutoFit/>
          </a:bodyPr>
          <a:lstStyle/>
          <a:p>
            <a:pPr algn="l"/>
            <a:r>
              <a:rPr sz="1800" b="1" i="0">
                <a:solidFill>
                  <a:srgbClr val="8A2BE2"/>
                </a:solidFill>
                <a:latin typeface="Geist Mono"/>
              </a:rPr>
              <a:t>sex</a:t>
            </a:r>
          </a:p>
        </p:txBody>
      </p:sp>
      <p:sp>
        <p:nvSpPr>
          <p:cNvPr id="14" name="TextBox 13"/>
          <p:cNvSpPr txBox="1"/>
          <p:nvPr/>
        </p:nvSpPr>
        <p:spPr>
          <a:xfrm>
            <a:off x="457200" y="5148072"/>
            <a:ext cx="4604004" cy="640080"/>
          </a:xfrm>
          <a:prstGeom prst="rect">
            <a:avLst/>
          </a:prstGeom>
          <a:noFill/>
        </p:spPr>
        <p:txBody>
          <a:bodyPr wrap="square" anchor="t" lIns="0" rIns="0" tIns="0" bIns="0">
            <a:spAutoFit/>
          </a:bodyPr>
          <a:lstStyle/>
          <a:p>
            <a:pPr algn="l"/>
            <a:r>
              <a:rPr sz="1500" b="0" i="0">
                <a:solidFill>
                  <a:srgbClr val="14141C"/>
                </a:solidFill>
                <a:latin typeface="Geist"/>
              </a:rPr>
              <a:t>barely moves the score -- yet it mattered for FAIRNESS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TAKEAWAY</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Stroke on a brain CT -- and the fairness the data hides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400" b="1" i="0">
                <a:solidFill>
                  <a:srgbClr val="14141C"/>
                </a:solidFill>
                <a:latin typeface="Geist Mono"/>
              </a:rPr>
              <a:t>Recording demographics makes fairness auditable – and fixable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sp>
        <p:nvSpPr>
          <p:cNvPr id="7" name="Rectangle 6"/>
          <p:cNvSpPr/>
          <p:nvPr/>
        </p:nvSpPr>
        <p:spPr>
          <a:xfrm>
            <a:off x="45720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35680" cy="91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554480"/>
            <a:ext cx="3023616" cy="777240"/>
          </a:xfrm>
          <a:prstGeom prst="rect">
            <a:avLst/>
          </a:prstGeom>
          <a:noFill/>
        </p:spPr>
        <p:txBody>
          <a:bodyPr wrap="square" anchor="t" lIns="0" rIns="0" tIns="0" bIns="0">
            <a:spAutoFit/>
          </a:bodyPr>
          <a:lstStyle/>
          <a:p>
            <a:pPr algn="l"/>
            <a:r>
              <a:rPr sz="1600" b="1" i="0">
                <a:solidFill>
                  <a:srgbClr val="FF1493"/>
                </a:solidFill>
                <a:latin typeface="Geist Mono"/>
              </a:rPr>
              <a:t>CT: WORKS, CAN'T AUDIT</a:t>
            </a:r>
          </a:p>
        </p:txBody>
      </p:sp>
      <p:sp>
        <p:nvSpPr>
          <p:cNvPr id="10" name="TextBox 9"/>
          <p:cNvSpPr txBox="1"/>
          <p:nvPr/>
        </p:nvSpPr>
        <p:spPr>
          <a:xfrm>
            <a:off x="713232" y="2514600"/>
            <a:ext cx="3023616" cy="2743199"/>
          </a:xfrm>
          <a:prstGeom prst="rect">
            <a:avLst/>
          </a:prstGeom>
          <a:noFill/>
        </p:spPr>
        <p:txBody>
          <a:bodyPr wrap="square" anchor="t" lIns="0" rIns="0" tIns="0" bIns="0">
            <a:spAutoFit/>
          </a:bodyPr>
          <a:lstStyle/>
          <a:p>
            <a:pPr algn="l"/>
            <a:r>
              <a:rPr sz="1550" b="0" i="0">
                <a:solidFill>
                  <a:srgbClr val="14141C"/>
                </a:solidFill>
                <a:latin typeface="Geist"/>
              </a:rPr>
              <a:t>AUC 0.817 -- a real detector. But the dataset records only image + label, so the who-does-it-fail audit simply cannot run.</a:t>
            </a:r>
          </a:p>
        </p:txBody>
      </p:sp>
      <p:sp>
        <p:nvSpPr>
          <p:cNvPr id="11" name="Rectangle 10"/>
          <p:cNvSpPr/>
          <p:nvPr/>
        </p:nvSpPr>
        <p:spPr>
          <a:xfrm>
            <a:off x="457200" y="525780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5394960"/>
            <a:ext cx="3023616" cy="548640"/>
          </a:xfrm>
          <a:prstGeom prst="rect">
            <a:avLst/>
          </a:prstGeom>
          <a:noFill/>
        </p:spPr>
        <p:txBody>
          <a:bodyPr wrap="square" anchor="ctr" lIns="0" rIns="0" tIns="0" bIns="0">
            <a:spAutoFit/>
          </a:bodyPr>
          <a:lstStyle/>
          <a:p>
            <a:pPr algn="l"/>
            <a:r>
              <a:rPr sz="1450" b="1" i="0">
                <a:solidFill>
                  <a:srgbClr val="FF1493"/>
                </a:solidFill>
                <a:latin typeface="Geist Mono"/>
              </a:rPr>
              <a:t>no demographics = no audit</a:t>
            </a:r>
          </a:p>
        </p:txBody>
      </p:sp>
      <p:sp>
        <p:nvSpPr>
          <p:cNvPr id="13" name="Rectangle 12"/>
          <p:cNvSpPr/>
          <p:nvPr/>
        </p:nvSpPr>
        <p:spPr>
          <a:xfrm>
            <a:off x="431292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2920" y="1051560"/>
            <a:ext cx="3535680"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8952" y="1554480"/>
            <a:ext cx="3023616" cy="777240"/>
          </a:xfrm>
          <a:prstGeom prst="rect">
            <a:avLst/>
          </a:prstGeom>
          <a:noFill/>
        </p:spPr>
        <p:txBody>
          <a:bodyPr wrap="square" anchor="t" lIns="0" rIns="0" tIns="0" bIns="0">
            <a:spAutoFit/>
          </a:bodyPr>
          <a:lstStyle/>
          <a:p>
            <a:pPr algn="l"/>
            <a:r>
              <a:rPr sz="1600" b="1" i="0">
                <a:solidFill>
                  <a:srgbClr val="40E0D0"/>
                </a:solidFill>
                <a:latin typeface="Geist Mono"/>
              </a:rPr>
              <a:t>TABULAR: AUDITED + FIXED</a:t>
            </a:r>
          </a:p>
        </p:txBody>
      </p:sp>
      <p:sp>
        <p:nvSpPr>
          <p:cNvPr id="16" name="TextBox 15"/>
          <p:cNvSpPr txBox="1"/>
          <p:nvPr/>
        </p:nvSpPr>
        <p:spPr>
          <a:xfrm>
            <a:off x="4568952" y="2514600"/>
            <a:ext cx="3023616" cy="2743199"/>
          </a:xfrm>
          <a:prstGeom prst="rect">
            <a:avLst/>
          </a:prstGeom>
          <a:noFill/>
        </p:spPr>
        <p:txBody>
          <a:bodyPr wrap="square" anchor="t" lIns="0" rIns="0" tIns="0" bIns="0">
            <a:spAutoFit/>
          </a:bodyPr>
          <a:lstStyle/>
          <a:p>
            <a:pPr algn="l"/>
            <a:r>
              <a:rPr sz="1550" b="0" i="0">
                <a:solidFill>
                  <a:srgbClr val="14141C"/>
                </a:solidFill>
                <a:latin typeface="Geist"/>
              </a:rPr>
              <a:t>AUC 0.81, and because it records sex we found a real gap (76% vs 85%) and closed it (to 83% vs 85%) with a group-aware threshold.</a:t>
            </a:r>
          </a:p>
        </p:txBody>
      </p:sp>
      <p:sp>
        <p:nvSpPr>
          <p:cNvPr id="17" name="Rectangle 16"/>
          <p:cNvSpPr/>
          <p:nvPr/>
        </p:nvSpPr>
        <p:spPr>
          <a:xfrm>
            <a:off x="4312920" y="525780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68952" y="5394960"/>
            <a:ext cx="3023616" cy="548640"/>
          </a:xfrm>
          <a:prstGeom prst="rect">
            <a:avLst/>
          </a:prstGeom>
          <a:noFill/>
        </p:spPr>
        <p:txBody>
          <a:bodyPr wrap="square" anchor="ctr" lIns="0" rIns="0" tIns="0" bIns="0">
            <a:spAutoFit/>
          </a:bodyPr>
          <a:lstStyle/>
          <a:p>
            <a:pPr algn="l"/>
            <a:r>
              <a:rPr sz="1450" b="1" i="0">
                <a:solidFill>
                  <a:srgbClr val="40E0D0"/>
                </a:solidFill>
                <a:latin typeface="Geist Mono"/>
              </a:rPr>
              <a:t>metadata = auditable + fixable</a:t>
            </a:r>
          </a:p>
        </p:txBody>
      </p:sp>
      <p:sp>
        <p:nvSpPr>
          <p:cNvPr id="19" name="Rectangle 18"/>
          <p:cNvSpPr/>
          <p:nvPr/>
        </p:nvSpPr>
        <p:spPr>
          <a:xfrm>
            <a:off x="816864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68640" y="1051560"/>
            <a:ext cx="3535680" cy="914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4672" y="1554480"/>
            <a:ext cx="3023616" cy="777240"/>
          </a:xfrm>
          <a:prstGeom prst="rect">
            <a:avLst/>
          </a:prstGeom>
          <a:noFill/>
        </p:spPr>
        <p:txBody>
          <a:bodyPr wrap="square" anchor="t" lIns="0" rIns="0" tIns="0" bIns="0">
            <a:spAutoFit/>
          </a:bodyPr>
          <a:lstStyle/>
          <a:p>
            <a:pPr algn="l"/>
            <a:r>
              <a:rPr sz="1600" b="1" i="0">
                <a:solidFill>
                  <a:srgbClr val="8A2BE2"/>
                </a:solidFill>
                <a:latin typeface="Geist Mono"/>
              </a:rPr>
              <a:t>THE RULE</a:t>
            </a:r>
          </a:p>
        </p:txBody>
      </p:sp>
      <p:sp>
        <p:nvSpPr>
          <p:cNvPr id="22" name="TextBox 21"/>
          <p:cNvSpPr txBox="1"/>
          <p:nvPr/>
        </p:nvSpPr>
        <p:spPr>
          <a:xfrm>
            <a:off x="8424672" y="2514600"/>
            <a:ext cx="3023616" cy="2743199"/>
          </a:xfrm>
          <a:prstGeom prst="rect">
            <a:avLst/>
          </a:prstGeom>
          <a:noFill/>
        </p:spPr>
        <p:txBody>
          <a:bodyPr wrap="square" anchor="t" lIns="0" rIns="0" tIns="0" bIns="0">
            <a:spAutoFit/>
          </a:bodyPr>
          <a:lstStyle/>
          <a:p>
            <a:pPr algn="l"/>
            <a:r>
              <a:rPr sz="1550" b="0" i="0">
                <a:solidFill>
                  <a:srgbClr val="14141C"/>
                </a:solidFill>
                <a:latin typeface="Geist"/>
              </a:rPr>
              <a:t>A model that runs is easy. A model you can AUDIT is the real bar -- and recording who is in the data is what makes it possible.</a:t>
            </a:r>
          </a:p>
        </p:txBody>
      </p:sp>
      <p:sp>
        <p:nvSpPr>
          <p:cNvPr id="23" name="Rectangle 22"/>
          <p:cNvSpPr/>
          <p:nvPr/>
        </p:nvSpPr>
        <p:spPr>
          <a:xfrm>
            <a:off x="8168640" y="525780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4672" y="5394960"/>
            <a:ext cx="3023616" cy="548640"/>
          </a:xfrm>
          <a:prstGeom prst="rect">
            <a:avLst/>
          </a:prstGeom>
          <a:noFill/>
        </p:spPr>
        <p:txBody>
          <a:bodyPr wrap="square" anchor="ctr" lIns="0" rIns="0" tIns="0" bIns="0">
            <a:spAutoFit/>
          </a:bodyPr>
          <a:lstStyle/>
          <a:p>
            <a:pPr algn="l"/>
            <a:r>
              <a:rPr sz="1450" b="1" i="0">
                <a:solidFill>
                  <a:srgbClr val="8A2BE2"/>
                </a:solidFill>
                <a:latin typeface="Geist Mono"/>
              </a:rPr>
              <a:t>audit is the bar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References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sp>
        <p:nvSpPr>
          <p:cNvPr id="7" name="TextBox 6"/>
          <p:cNvSpPr txBox="1"/>
          <p:nvPr/>
        </p:nvSpPr>
        <p:spPr>
          <a:xfrm>
            <a:off x="457200" y="1097280"/>
            <a:ext cx="3383280" cy="731520"/>
          </a:xfrm>
          <a:prstGeom prst="rect">
            <a:avLst/>
          </a:prstGeom>
          <a:noFill/>
        </p:spPr>
        <p:txBody>
          <a:bodyPr wrap="square" anchor="t" lIns="0" rIns="0" tIns="0" bIns="0">
            <a:spAutoFit/>
          </a:bodyPr>
          <a:lstStyle/>
          <a:p>
            <a:pPr algn="l"/>
            <a:r>
              <a:rPr sz="1450" b="1" i="0">
                <a:solidFill>
                  <a:srgbClr val="40E0D0"/>
                </a:solidFill>
                <a:latin typeface="Geist Mono"/>
              </a:rPr>
              <a:t>HEAD-CT TRIAGE AI</a:t>
            </a:r>
          </a:p>
        </p:txBody>
      </p:sp>
      <p:sp>
        <p:nvSpPr>
          <p:cNvPr id="8" name="TextBox 7"/>
          <p:cNvSpPr txBox="1"/>
          <p:nvPr/>
        </p:nvSpPr>
        <p:spPr>
          <a:xfrm>
            <a:off x="457200" y="1920240"/>
            <a:ext cx="3383280" cy="4251959"/>
          </a:xfrm>
          <a:prstGeom prst="rect">
            <a:avLst/>
          </a:prstGeom>
          <a:noFill/>
        </p:spPr>
        <p:txBody>
          <a:bodyPr wrap="square" anchor="t" lIns="0" rIns="0" tIns="0" bIns="0">
            <a:spAutoFit/>
          </a:bodyPr>
          <a:lstStyle/>
          <a:p>
            <a:pPr algn="l"/>
            <a:r>
              <a:rPr sz="1350" b="0" i="0">
                <a:solidFill>
                  <a:srgbClr val="14141C"/>
                </a:solidFill>
                <a:latin typeface="Geist"/>
              </a:rPr>
              <a:t>[1] Chilamkurthy 2018, The Lancet -- critical findings on head CT.
[2] Flanders 2020, Radiology: AI -- the RSNA hemorrhage challenge.
[3] Seyam 2022, Radiology: AI -- a deployed tool in the clinic.</a:t>
            </a:r>
          </a:p>
        </p:txBody>
      </p:sp>
      <p:sp>
        <p:nvSpPr>
          <p:cNvPr id="9" name="TextBox 8"/>
          <p:cNvSpPr txBox="1"/>
          <p:nvPr/>
        </p:nvSpPr>
        <p:spPr>
          <a:xfrm>
            <a:off x="4389120" y="1097280"/>
            <a:ext cx="3383280" cy="731520"/>
          </a:xfrm>
          <a:prstGeom prst="rect">
            <a:avLst/>
          </a:prstGeom>
          <a:noFill/>
        </p:spPr>
        <p:txBody>
          <a:bodyPr wrap="square" anchor="t" lIns="0" rIns="0" tIns="0" bIns="0">
            <a:spAutoFit/>
          </a:bodyPr>
          <a:lstStyle/>
          <a:p>
            <a:pPr algn="l"/>
            <a:r>
              <a:rPr sz="1450" b="1" i="0">
                <a:solidFill>
                  <a:srgbClr val="FF1493"/>
                </a:solidFill>
                <a:latin typeface="Geist Mono"/>
              </a:rPr>
              <a:t>DATA &amp; DOCUMENTATION</a:t>
            </a:r>
          </a:p>
        </p:txBody>
      </p:sp>
      <p:sp>
        <p:nvSpPr>
          <p:cNvPr id="10" name="TextBox 9"/>
          <p:cNvSpPr txBox="1"/>
          <p:nvPr/>
        </p:nvSpPr>
        <p:spPr>
          <a:xfrm>
            <a:off x="4389120" y="1920240"/>
            <a:ext cx="3383280" cy="4251959"/>
          </a:xfrm>
          <a:prstGeom prst="rect">
            <a:avLst/>
          </a:prstGeom>
          <a:noFill/>
        </p:spPr>
        <p:txBody>
          <a:bodyPr wrap="square" anchor="t" lIns="0" rIns="0" tIns="0" bIns="0">
            <a:spAutoFit/>
          </a:bodyPr>
          <a:lstStyle/>
          <a:p>
            <a:pPr algn="l"/>
            <a:r>
              <a:rPr sz="1350" b="0" i="0">
                <a:solidFill>
                  <a:srgbClr val="14141C"/>
                </a:solidFill>
                <a:latin typeface="Geist"/>
              </a:rPr>
              <a:t>[4] Gebru 2021, Comms of the ACM -- Datasheets for Datasets.
[5] Tripathi 2023, J Am Coll Radiol -- biases in radiology-AI data.
[8] Kim 2022, BMC Med Imaging -- transfer learning.</a:t>
            </a:r>
          </a:p>
        </p:txBody>
      </p:sp>
      <p:sp>
        <p:nvSpPr>
          <p:cNvPr id="11" name="TextBox 10"/>
          <p:cNvSpPr txBox="1"/>
          <p:nvPr/>
        </p:nvSpPr>
        <p:spPr>
          <a:xfrm>
            <a:off x="8321040" y="1097280"/>
            <a:ext cx="3383280" cy="731520"/>
          </a:xfrm>
          <a:prstGeom prst="rect">
            <a:avLst/>
          </a:prstGeom>
          <a:noFill/>
        </p:spPr>
        <p:txBody>
          <a:bodyPr wrap="square" anchor="t" lIns="0" rIns="0" tIns="0" bIns="0">
            <a:spAutoFit/>
          </a:bodyPr>
          <a:lstStyle/>
          <a:p>
            <a:pPr algn="l"/>
            <a:r>
              <a:rPr sz="1450" b="1" i="0">
                <a:solidFill>
                  <a:srgbClr val="8A2BE2"/>
                </a:solidFill>
                <a:latin typeface="Geist Mono"/>
              </a:rPr>
              <a:t>FAIRNESS NEEDS METADATA</a:t>
            </a:r>
          </a:p>
        </p:txBody>
      </p:sp>
      <p:sp>
        <p:nvSpPr>
          <p:cNvPr id="12" name="TextBox 11"/>
          <p:cNvSpPr txBox="1"/>
          <p:nvPr/>
        </p:nvSpPr>
        <p:spPr>
          <a:xfrm>
            <a:off x="8321040" y="1920240"/>
            <a:ext cx="3383280" cy="4251959"/>
          </a:xfrm>
          <a:prstGeom prst="rect">
            <a:avLst/>
          </a:prstGeom>
          <a:noFill/>
        </p:spPr>
        <p:txBody>
          <a:bodyPr wrap="square" anchor="t" lIns="0" rIns="0" tIns="0" bIns="0">
            <a:spAutoFit/>
          </a:bodyPr>
          <a:lstStyle/>
          <a:p>
            <a:pPr algn="l"/>
            <a:r>
              <a:rPr sz="1350" b="0" i="0">
                <a:solidFill>
                  <a:srgbClr val="14141C"/>
                </a:solidFill>
                <a:latin typeface="Geist"/>
              </a:rPr>
              <a:t>[6] Seyyed-Kalantari 2021, Nature Medicine -- underdiagnosis bias.
[7] Yang 2024, Nature Medicine -- limits of fair imaging AI.
Saver 2006, Stroke -- "Time Is Brain".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honest bottom line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Stroke on a brain CT -- and the fairness the data hides  ·  2026-07-08</a:t>
            </a:r>
          </a:p>
        </p:txBody>
      </p:sp>
      <p:sp>
        <p:nvSpPr>
          <p:cNvPr id="7" name="TextBox 6"/>
          <p:cNvSpPr txBox="1"/>
          <p:nvPr/>
        </p:nvSpPr>
        <p:spPr>
          <a:xfrm>
            <a:off x="457200" y="2198217"/>
            <a:ext cx="11247120" cy="914400"/>
          </a:xfrm>
          <a:prstGeom prst="rect">
            <a:avLst/>
          </a:prstGeom>
          <a:noFill/>
        </p:spPr>
        <p:txBody>
          <a:bodyPr wrap="square" anchor="t" lIns="0" rIns="0" tIns="0" bIns="0">
            <a:spAutoFit/>
          </a:bodyPr>
          <a:lstStyle/>
          <a:p>
            <a:pPr algn="ctr"/>
            <a:r>
              <a:rPr sz="3000" b="1" i="0">
                <a:solidFill>
                  <a:srgbClr val="40E0D0"/>
                </a:solidFill>
                <a:latin typeface="Geist Mono"/>
              </a:rPr>
              <a:t>An imaging dataset can hide who is in it.</a:t>
            </a:r>
          </a:p>
        </p:txBody>
      </p:sp>
      <p:sp>
        <p:nvSpPr>
          <p:cNvPr id="8" name="Rectangle 7"/>
          <p:cNvSpPr/>
          <p:nvPr/>
        </p:nvSpPr>
        <p:spPr>
          <a:xfrm>
            <a:off x="4892040" y="3432657"/>
            <a:ext cx="2377440" cy="457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935577"/>
            <a:ext cx="9418320" cy="1188720"/>
          </a:xfrm>
          <a:prstGeom prst="rect">
            <a:avLst/>
          </a:prstGeom>
          <a:noFill/>
        </p:spPr>
        <p:txBody>
          <a:bodyPr wrap="square" anchor="t" lIns="0" rIns="0" tIns="0" bIns="0">
            <a:spAutoFit/>
          </a:bodyPr>
          <a:lstStyle/>
          <a:p>
            <a:pPr algn="ctr"/>
            <a:r>
              <a:rPr sz="1900" b="0" i="0">
                <a:solidFill>
                  <a:srgbClr val="14141C"/>
                </a:solidFill>
                <a:latin typeface="Geist"/>
              </a:rPr>
              <a:t>Recording demographics is what turns fairness from a hope into something you can measure -- and fix. That is the finding, not the footnote.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417320"/>
            <a:ext cx="10058400" cy="1280160"/>
          </a:xfrm>
          <a:prstGeom prst="rect">
            <a:avLst/>
          </a:prstGeom>
          <a:noFill/>
        </p:spPr>
        <p:txBody>
          <a:bodyPr wrap="square" anchor="t" lIns="0" rIns="0" tIns="0" bIns="0">
            <a:spAutoFit/>
          </a:bodyPr>
          <a:lstStyle/>
          <a:p>
            <a:pPr algn="ctr"/>
            <a:r>
              <a:rPr sz="6000" b="1" i="0">
                <a:solidFill>
                  <a:srgbClr val="FF1493"/>
                </a:solidFill>
                <a:latin typeface="Geist Mono"/>
              </a:rPr>
              <a:t>Thank You</a:t>
            </a:r>
          </a:p>
        </p:txBody>
      </p:sp>
      <p:sp>
        <p:nvSpPr>
          <p:cNvPr id="6" name="TextBox 5"/>
          <p:cNvSpPr txBox="1"/>
          <p:nvPr/>
        </p:nvSpPr>
        <p:spPr>
          <a:xfrm>
            <a:off x="1188720" y="3246120"/>
            <a:ext cx="10058400" cy="640080"/>
          </a:xfrm>
          <a:prstGeom prst="rect">
            <a:avLst/>
          </a:prstGeom>
          <a:noFill/>
        </p:spPr>
        <p:txBody>
          <a:bodyPr wrap="square" anchor="t" lIns="0" rIns="0" tIns="0" bIns="0">
            <a:spAutoFit/>
          </a:bodyPr>
          <a:lstStyle/>
          <a:p>
            <a:pPr algn="ctr"/>
            <a:r>
              <a:rPr sz="3000" b="0" i="0">
                <a:solidFill>
                  <a:srgbClr val="40E0D0"/>
                </a:solidFill>
                <a:latin typeface="Noto Sans CJK TC"/>
              </a:rPr>
              <a:t>魏晉祺</a:t>
            </a:r>
          </a:p>
        </p:txBody>
      </p:sp>
      <p:sp>
        <p:nvSpPr>
          <p:cNvPr id="7" name="TextBox 6"/>
          <p:cNvSpPr txBox="1"/>
          <p:nvPr/>
        </p:nvSpPr>
        <p:spPr>
          <a:xfrm>
            <a:off x="1188720" y="3922776"/>
            <a:ext cx="10058400" cy="457200"/>
          </a:xfrm>
          <a:prstGeom prst="rect">
            <a:avLst/>
          </a:prstGeom>
          <a:noFill/>
        </p:spPr>
        <p:txBody>
          <a:bodyPr wrap="square" anchor="t" lIns="0" rIns="0" tIns="0" bIns="0">
            <a:spAutoFit/>
          </a:bodyPr>
          <a:lstStyle/>
          <a:p>
            <a:pPr algn="ctr"/>
            <a:r>
              <a:rPr sz="2000" b="1" i="0">
                <a:solidFill>
                  <a:srgbClr val="40E0D0"/>
                </a:solidFill>
                <a:latin typeface="Geist Mono"/>
              </a:rPr>
              <a:t>Jinchi Wei</a:t>
            </a:r>
          </a:p>
        </p:txBody>
      </p:sp>
      <p:sp>
        <p:nvSpPr>
          <p:cNvPr id="8" name="TextBox 7"/>
          <p:cNvSpPr txBox="1"/>
          <p:nvPr/>
        </p:nvSpPr>
        <p:spPr>
          <a:xfrm>
            <a:off x="1188720" y="4398264"/>
            <a:ext cx="10058400" cy="365760"/>
          </a:xfrm>
          <a:prstGeom prst="rect">
            <a:avLst/>
          </a:prstGeom>
          <a:noFill/>
        </p:spPr>
        <p:txBody>
          <a:bodyPr wrap="square" anchor="t" lIns="0" rIns="0" tIns="0" bIns="0">
            <a:spAutoFit/>
          </a:bodyPr>
          <a:lstStyle/>
          <a:p>
            <a:pPr algn="ctr"/>
            <a:r>
              <a:rPr sz="1300" b="0" i="0">
                <a:solidFill>
                  <a:srgbClr val="FFFFFF"/>
                </a:solidFill>
                <a:latin typeface="Geist"/>
              </a:rPr>
              <a:t>Outset</a:t>
            </a:r>
          </a:p>
        </p:txBody>
      </p:sp>
      <p:sp>
        <p:nvSpPr>
          <p:cNvPr id="9" name="TextBox 8"/>
          <p:cNvSpPr txBox="1"/>
          <p:nvPr/>
        </p:nvSpPr>
        <p:spPr>
          <a:xfrm>
            <a:off x="1188720" y="4837176"/>
            <a:ext cx="10058400" cy="365760"/>
          </a:xfrm>
          <a:prstGeom prst="rect">
            <a:avLst/>
          </a:prstGeom>
          <a:noFill/>
        </p:spPr>
        <p:txBody>
          <a:bodyPr wrap="square" anchor="t" lIns="0" rIns="0" tIns="0" bIns="0">
            <a:spAutoFit/>
          </a:bodyPr>
          <a:lstStyle/>
          <a:p>
            <a:pPr algn="ctr"/>
            <a:r>
              <a:rPr sz="1600" b="0" i="0">
                <a:solidFill>
                  <a:srgbClr val="F0C840"/>
                </a:solidFill>
                <a:latin typeface="Geist Mono"/>
              </a:rPr>
              <a:t>jinchikwei@gmail.com</a:t>
            </a:r>
          </a:p>
        </p:txBody>
      </p:sp>
      <p:pic>
        <p:nvPicPr>
          <p:cNvPr id="10" name="Picture 9" descr="meng.png"/>
          <p:cNvPicPr>
            <a:picLocks noChangeAspect="1"/>
          </p:cNvPicPr>
          <p:nvPr/>
        </p:nvPicPr>
        <p:blipFill>
          <a:blip r:embed="rId2"/>
          <a:stretch>
            <a:fillRect/>
          </a:stretch>
        </p:blipFill>
        <p:spPr>
          <a:xfrm>
            <a:off x="10086477" y="5486400"/>
            <a:ext cx="690906" cy="914400"/>
          </a:xfrm>
          <a:prstGeom prst="rect">
            <a:avLst/>
          </a:prstGeom>
        </p:spPr>
      </p:pic>
      <p:pic>
        <p:nvPicPr>
          <p:cNvPr id="11" name="Picture 10" descr="xiang.png"/>
          <p:cNvPicPr>
            <a:picLocks noChangeAspect="1"/>
          </p:cNvPicPr>
          <p:nvPr/>
        </p:nvPicPr>
        <p:blipFill>
          <a:blip r:embed="rId3"/>
          <a:stretch>
            <a:fillRect/>
          </a:stretch>
        </p:blipFill>
        <p:spPr>
          <a:xfrm>
            <a:off x="10978551" y="5486400"/>
            <a:ext cx="755944"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