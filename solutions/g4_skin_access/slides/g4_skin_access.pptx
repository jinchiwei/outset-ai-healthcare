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0"/>
            <a:ext cx="228600"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1280160"/>
            <a:ext cx="10058400" cy="365760"/>
          </a:xfrm>
          <a:prstGeom prst="rect">
            <a:avLst/>
          </a:prstGeom>
          <a:noFill/>
        </p:spPr>
        <p:txBody>
          <a:bodyPr wrap="square" anchor="t" lIns="0" rIns="0" tIns="0" bIns="0">
            <a:spAutoFit/>
          </a:bodyPr>
          <a:lstStyle/>
          <a:p>
            <a:pPr algn="l"/>
            <a:r>
              <a:rPr sz="1400" b="1" i="0">
                <a:solidFill>
                  <a:srgbClr val="40E0D0"/>
                </a:solidFill>
                <a:latin typeface="Geist Mono"/>
              </a:rPr>
              <a:t>Outset · AI in Healthcare · Day 3 · Group 4</a:t>
            </a:r>
          </a:p>
        </p:txBody>
      </p:sp>
      <p:sp>
        <p:nvSpPr>
          <p:cNvPr id="6" name="TextBox 5"/>
          <p:cNvSpPr txBox="1"/>
          <p:nvPr/>
        </p:nvSpPr>
        <p:spPr>
          <a:xfrm>
            <a:off x="1188720" y="1737360"/>
            <a:ext cx="10058400" cy="1828800"/>
          </a:xfrm>
          <a:prstGeom prst="rect">
            <a:avLst/>
          </a:prstGeom>
          <a:noFill/>
        </p:spPr>
        <p:txBody>
          <a:bodyPr wrap="square" anchor="t" lIns="0" rIns="0" tIns="0" bIns="0">
            <a:spAutoFit/>
          </a:bodyPr>
          <a:lstStyle/>
          <a:p>
            <a:pPr algn="l"/>
            <a:r>
              <a:rPr sz="4800" b="1" i="0">
                <a:solidFill>
                  <a:srgbClr val="FFFFFF"/>
                </a:solidFill>
                <a:latin typeface="Geist Mono"/>
              </a:rPr>
              <a:t>Good for whom?</a:t>
            </a:r>
          </a:p>
        </p:txBody>
      </p:sp>
      <p:sp>
        <p:nvSpPr>
          <p:cNvPr id="7" name="TextBox 6"/>
          <p:cNvSpPr txBox="1"/>
          <p:nvPr/>
        </p:nvSpPr>
        <p:spPr>
          <a:xfrm>
            <a:off x="1188720" y="3703320"/>
            <a:ext cx="10058400" cy="640080"/>
          </a:xfrm>
          <a:prstGeom prst="rect">
            <a:avLst/>
          </a:prstGeom>
          <a:noFill/>
        </p:spPr>
        <p:txBody>
          <a:bodyPr wrap="square" anchor="t" lIns="0" rIns="0" tIns="0" bIns="0">
            <a:spAutoFit/>
          </a:bodyPr>
          <a:lstStyle/>
          <a:p>
            <a:pPr algn="l"/>
            <a:r>
              <a:rPr sz="1800" b="0" i="0">
                <a:solidFill>
                  <a:srgbClr val="E5E5EA"/>
                </a:solidFill>
                <a:latin typeface="Geist"/>
              </a:rPr>
              <a:t>Skin-cancer AI, access, and who is missing from the training data</a:t>
            </a:r>
          </a:p>
        </p:txBody>
      </p:sp>
      <p:sp>
        <p:nvSpPr>
          <p:cNvPr id="8" name="TextBox 7"/>
          <p:cNvSpPr txBox="1"/>
          <p:nvPr/>
        </p:nvSpPr>
        <p:spPr>
          <a:xfrm>
            <a:off x="1188720" y="4480559"/>
            <a:ext cx="10058400" cy="365760"/>
          </a:xfrm>
          <a:prstGeom prst="rect">
            <a:avLst/>
          </a:prstGeom>
          <a:noFill/>
        </p:spPr>
        <p:txBody>
          <a:bodyPr wrap="square" anchor="t" lIns="0" rIns="0" tIns="0" bIns="0">
            <a:spAutoFit/>
          </a:bodyPr>
          <a:lstStyle/>
          <a:p>
            <a:pPr algn="l"/>
            <a:r>
              <a:rPr sz="2200" b="1" i="0">
                <a:solidFill>
                  <a:srgbClr val="40E0D0"/>
                </a:solidFill>
                <a:latin typeface="Geist Mono"/>
              </a:rPr>
              <a:t>Jinchi Wei</a:t>
            </a:r>
          </a:p>
        </p:txBody>
      </p:sp>
      <p:sp>
        <p:nvSpPr>
          <p:cNvPr id="9" name="TextBox 8"/>
          <p:cNvSpPr txBox="1"/>
          <p:nvPr/>
        </p:nvSpPr>
        <p:spPr>
          <a:xfrm>
            <a:off x="1188720" y="4937759"/>
            <a:ext cx="10058400" cy="320040"/>
          </a:xfrm>
          <a:prstGeom prst="rect">
            <a:avLst/>
          </a:prstGeom>
          <a:noFill/>
        </p:spPr>
        <p:txBody>
          <a:bodyPr wrap="square" anchor="t" lIns="0" rIns="0" tIns="0" bIns="0">
            <a:spAutoFit/>
          </a:bodyPr>
          <a:lstStyle/>
          <a:p>
            <a:pPr algn="l"/>
            <a:r>
              <a:rPr sz="1600" b="1" i="0">
                <a:solidFill>
                  <a:srgbClr val="FF1493"/>
                </a:solidFill>
                <a:latin typeface="Geist Mono"/>
              </a:rPr>
              <a:t>Outset</a:t>
            </a:r>
          </a:p>
        </p:txBody>
      </p:sp>
      <p:sp>
        <p:nvSpPr>
          <p:cNvPr id="10" name="Rectangle 9"/>
          <p:cNvSpPr/>
          <p:nvPr/>
        </p:nvSpPr>
        <p:spPr>
          <a:xfrm>
            <a:off x="1188720" y="5440679"/>
            <a:ext cx="3657600" cy="18288"/>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5577840"/>
            <a:ext cx="10058400" cy="274320"/>
          </a:xfrm>
          <a:prstGeom prst="rect">
            <a:avLst/>
          </a:prstGeom>
          <a:noFill/>
        </p:spPr>
        <p:txBody>
          <a:bodyPr wrap="square" anchor="t" lIns="0" rIns="0" tIns="0" bIns="0">
            <a:spAutoFit/>
          </a:bodyPr>
          <a:lstStyle/>
          <a:p>
            <a:pPr algn="l"/>
            <a:r>
              <a:rPr sz="1200" b="0" i="0">
                <a:solidFill>
                  <a:srgbClr val="F0C840"/>
                </a:solidFill>
                <a:latin typeface="Geist Mono"/>
              </a:rPr>
              <a:t>2026-07-08</a:t>
            </a:r>
          </a:p>
        </p:txBody>
      </p:sp>
      <p:pic>
        <p:nvPicPr>
          <p:cNvPr id="12" name="Picture 11" descr="ucsf-logo.png"/>
          <p:cNvPicPr>
            <a:picLocks noChangeAspect="1"/>
          </p:cNvPicPr>
          <p:nvPr/>
        </p:nvPicPr>
        <p:blipFill>
          <a:blip r:embed="rId2"/>
          <a:stretch>
            <a:fillRect/>
          </a:stretch>
        </p:blipFill>
        <p:spPr>
          <a:xfrm>
            <a:off x="9310379" y="5248656"/>
            <a:ext cx="1163329" cy="1152144"/>
          </a:xfrm>
          <a:prstGeom prst="rect">
            <a:avLst/>
          </a:prstGeom>
        </p:spPr>
      </p:pic>
      <p:pic>
        <p:nvPicPr>
          <p:cNvPr id="13" name="Picture 12" descr="cal-logo.png"/>
          <p:cNvPicPr>
            <a:picLocks noChangeAspect="1"/>
          </p:cNvPicPr>
          <p:nvPr/>
        </p:nvPicPr>
        <p:blipFill>
          <a:blip r:embed="rId3"/>
          <a:stretch>
            <a:fillRect/>
          </a:stretch>
        </p:blipFill>
        <p:spPr>
          <a:xfrm>
            <a:off x="10702308" y="5413248"/>
            <a:ext cx="1032187" cy="8229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40E0D0"/>
                </a:solidFill>
                <a:latin typeface="Geist Mono"/>
              </a:rPr>
              <a:t>Overview</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BACKGROUND</a:t>
            </a:r>
          </a:p>
        </p:txBody>
      </p:sp>
      <p:sp>
        <p:nvSpPr>
          <p:cNvPr id="7" name="Rectangle 6"/>
          <p:cNvSpPr/>
          <p:nvPr/>
        </p:nvSpPr>
        <p:spPr>
          <a:xfrm>
            <a:off x="777240" y="5120640"/>
            <a:ext cx="1828800" cy="18288"/>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Good for whom?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A promise, and a catch</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Good for whom?  ·  2026-07-08</a:t>
            </a:r>
          </a:p>
        </p:txBody>
      </p:sp>
      <p:sp>
        <p:nvSpPr>
          <p:cNvPr id="7" name="TextBox 6"/>
          <p:cNvSpPr txBox="1"/>
          <p:nvPr/>
        </p:nvSpPr>
        <p:spPr>
          <a:xfrm>
            <a:off x="548640" y="1234440"/>
            <a:ext cx="11064240" cy="896112"/>
          </a:xfrm>
          <a:prstGeom prst="rect">
            <a:avLst/>
          </a:prstGeom>
          <a:noFill/>
        </p:spPr>
        <p:txBody>
          <a:bodyPr wrap="square" anchor="t" lIns="0" rIns="0" tIns="0" bIns="0">
            <a:spAutoFit/>
          </a:bodyPr>
          <a:lstStyle/>
          <a:p>
            <a:pPr algn="l"/>
            <a:r>
              <a:rPr sz="1400" b="0" i="0">
                <a:solidFill>
                  <a:srgbClr val="14141C"/>
                </a:solidFill>
                <a:latin typeface="Geist"/>
              </a:rPr>
              <a:t>Skin-cancer AI is pitched as a way to reach the roughly three billion people with little access to a dermatologist. That promise is real, and so is the catch: a model only learns what it is shown, and the images these models learn from are badly skewed toward light skin.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AI mostly practiced on light skin</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Good for whom?  ·  2026-07-08</a:t>
            </a:r>
          </a:p>
        </p:txBody>
      </p:sp>
      <p:pic>
        <p:nvPicPr>
          <p:cNvPr id="7" name="Picture 6" descr="intro_dataset_skew.png"/>
          <p:cNvPicPr>
            <a:picLocks noChangeAspect="1"/>
          </p:cNvPicPr>
          <p:nvPr/>
        </p:nvPicPr>
        <p:blipFill>
          <a:blip r:embed="rId2"/>
          <a:stretch>
            <a:fillRect/>
          </a:stretch>
        </p:blipFill>
        <p:spPr>
          <a:xfrm>
            <a:off x="457200" y="1632187"/>
            <a:ext cx="6298387" cy="4005104"/>
          </a:xfrm>
          <a:prstGeom prst="rect">
            <a:avLst/>
          </a:prstGeom>
        </p:spPr>
      </p:pic>
      <p:sp>
        <p:nvSpPr>
          <p:cNvPr id="8" name="Rectangle 7"/>
          <p:cNvSpPr/>
          <p:nvPr/>
        </p:nvSpPr>
        <p:spPr>
          <a:xfrm>
            <a:off x="7121347" y="1097280"/>
            <a:ext cx="4582972" cy="507491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21347" y="1097280"/>
            <a:ext cx="4582972" cy="82296"/>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22515" y="1389888"/>
            <a:ext cx="91440" cy="9144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23683" y="1325880"/>
            <a:ext cx="4016044" cy="1426464"/>
          </a:xfrm>
          <a:prstGeom prst="rect">
            <a:avLst/>
          </a:prstGeom>
          <a:noFill/>
        </p:spPr>
        <p:txBody>
          <a:bodyPr wrap="square" anchor="t" lIns="0" rIns="0" tIns="0" bIns="0">
            <a:spAutoFit/>
          </a:bodyPr>
          <a:lstStyle/>
          <a:p>
            <a:pPr algn="l"/>
            <a:r>
              <a:rPr sz="1300" b="0" i="0">
                <a:solidFill>
                  <a:srgbClr val="14141C"/>
                </a:solidFill>
                <a:latin typeface="Geist"/>
              </a:rPr>
              <a:t>A review of twenty-one public skin datasets, over a hundred thousand images, found almost all came from Europe, North America, and Oceania, with almost none labeled as darker skin. On the Fitzpatrick scale the training data piles up on the left and nearly vanishes on the right.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Same model, one number hides who it fails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Good for whom?  ·  2026-07-08</a:t>
            </a:r>
          </a:p>
        </p:txBody>
      </p:sp>
      <p:pic>
        <p:nvPicPr>
          <p:cNvPr id="7" name="Picture 6" descr="intro_accuracy_by_group.png"/>
          <p:cNvPicPr>
            <a:picLocks noChangeAspect="1"/>
          </p:cNvPicPr>
          <p:nvPr/>
        </p:nvPicPr>
        <p:blipFill>
          <a:blip r:embed="rId2"/>
          <a:stretch>
            <a:fillRect/>
          </a:stretch>
        </p:blipFill>
        <p:spPr>
          <a:xfrm>
            <a:off x="457200" y="1534504"/>
            <a:ext cx="6298387" cy="4200471"/>
          </a:xfrm>
          <a:prstGeom prst="rect">
            <a:avLst/>
          </a:prstGeom>
        </p:spPr>
      </p:pic>
      <p:sp>
        <p:nvSpPr>
          <p:cNvPr id="8" name="Rectangle 7"/>
          <p:cNvSpPr/>
          <p:nvPr/>
        </p:nvSpPr>
        <p:spPr>
          <a:xfrm>
            <a:off x="7121347" y="1097280"/>
            <a:ext cx="4582972" cy="507491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21347" y="1097280"/>
            <a:ext cx="4582972" cy="82296"/>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22515" y="1389888"/>
            <a:ext cx="91440" cy="9144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23683" y="1325880"/>
            <a:ext cx="4016044" cy="1426464"/>
          </a:xfrm>
          <a:prstGeom prst="rect">
            <a:avLst/>
          </a:prstGeom>
          <a:noFill/>
        </p:spPr>
        <p:txBody>
          <a:bodyPr wrap="square" anchor="t" lIns="0" rIns="0" tIns="0" bIns="0">
            <a:spAutoFit/>
          </a:bodyPr>
          <a:lstStyle/>
          <a:p>
            <a:pPr algn="l"/>
            <a:r>
              <a:rPr sz="1300" b="0" i="0">
                <a:solidFill>
                  <a:srgbClr val="14141C"/>
                </a:solidFill>
                <a:latin typeface="Geist"/>
              </a:rPr>
              <a:t>Groh showed a model is most accurate on the skin types it saw most; Daneshjou showed top models drop sharply on dark skin. Same model, very different results depending on who you are, and the single average number a report shows sits in between and hides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Accurate on average can still be unfair</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Good for whom?  ·  2026-07-08</a:t>
            </a:r>
          </a:p>
        </p:txBody>
      </p:sp>
      <p:pic>
        <p:nvPicPr>
          <p:cNvPr id="7" name="Picture 6" descr="intro_proxy_gone_wrong.png"/>
          <p:cNvPicPr>
            <a:picLocks noChangeAspect="1"/>
          </p:cNvPicPr>
          <p:nvPr/>
        </p:nvPicPr>
        <p:blipFill>
          <a:blip r:embed="rId2"/>
          <a:stretch>
            <a:fillRect/>
          </a:stretch>
        </p:blipFill>
        <p:spPr>
          <a:xfrm>
            <a:off x="457200" y="2036103"/>
            <a:ext cx="6298387" cy="3197272"/>
          </a:xfrm>
          <a:prstGeom prst="rect">
            <a:avLst/>
          </a:prstGeom>
        </p:spPr>
      </p:pic>
      <p:sp>
        <p:nvSpPr>
          <p:cNvPr id="8" name="Rectangle 7"/>
          <p:cNvSpPr/>
          <p:nvPr/>
        </p:nvSpPr>
        <p:spPr>
          <a:xfrm>
            <a:off x="7121347" y="1097280"/>
            <a:ext cx="4582972" cy="507491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21347" y="1097280"/>
            <a:ext cx="4582972" cy="82296"/>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22515" y="1389888"/>
            <a:ext cx="91440" cy="9144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23683" y="1325880"/>
            <a:ext cx="4016044" cy="1426464"/>
          </a:xfrm>
          <a:prstGeom prst="rect">
            <a:avLst/>
          </a:prstGeom>
          <a:noFill/>
        </p:spPr>
        <p:txBody>
          <a:bodyPr wrap="square" anchor="t" lIns="0" rIns="0" tIns="0" bIns="0">
            <a:spAutoFit/>
          </a:bodyPr>
          <a:lstStyle/>
          <a:p>
            <a:pPr algn="l"/>
            <a:r>
              <a:rPr sz="1300" b="0" i="0">
                <a:solidFill>
                  <a:srgbClr val="14141C"/>
                </a:solidFill>
                <a:latin typeface="Geist"/>
              </a:rPr>
              <a:t>Obermeyer studied a health algorithm used on millions of patients that looked fair on paper but underserved Black patients, because it was trained to predict cost as a stand-in for illness. It scored well on the wrong target. That is the exact suspicion we bring to our own model.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FF1493"/>
                </a:solidFill>
                <a:latin typeface="Geist Mono"/>
              </a:rPr>
              <a:t>Methodology</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METHODS</a:t>
            </a:r>
          </a:p>
        </p:txBody>
      </p:sp>
      <p:sp>
        <p:nvSpPr>
          <p:cNvPr id="7" name="Rectangle 6"/>
          <p:cNvSpPr/>
          <p:nvPr/>
        </p:nvSpPr>
        <p:spPr>
          <a:xfrm>
            <a:off x="777240" y="5120640"/>
            <a:ext cx="1828800" cy="18288"/>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Good for whom?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same model, a harder question</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Good for whom?  ·  2026-07-08</a:t>
            </a:r>
          </a:p>
        </p:txBody>
      </p:sp>
      <p:sp>
        <p:nvSpPr>
          <p:cNvPr id="7" name="TextBox 6"/>
          <p:cNvSpPr txBox="1"/>
          <p:nvPr/>
        </p:nvSpPr>
        <p:spPr>
          <a:xfrm>
            <a:off x="548640" y="1234440"/>
            <a:ext cx="11064240" cy="694944"/>
          </a:xfrm>
          <a:prstGeom prst="rect">
            <a:avLst/>
          </a:prstGeom>
          <a:noFill/>
        </p:spPr>
        <p:txBody>
          <a:bodyPr wrap="square" anchor="t" lIns="0" rIns="0" tIns="0" bIns="0">
            <a:spAutoFit/>
          </a:bodyPr>
          <a:lstStyle/>
          <a:p>
            <a:pPr algn="l"/>
            <a:r>
              <a:rPr sz="1400" b="0" i="0">
                <a:solidFill>
                  <a:srgbClr val="14141C"/>
                </a:solidFill>
                <a:latin typeface="Geist"/>
              </a:rPr>
              <a:t>We use the exact same DermaMNIST skin-lesion model as the screening group: a ResNet18 pretrained on ordinary photos, with a fresh head, sorting images into seven skin conditions. We change nothing about the model. We change the question we ask of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equity lens: break the average apart</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Good for whom?  ·  2026-07-08</a:t>
            </a:r>
          </a:p>
        </p:txBody>
      </p:sp>
      <p:sp>
        <p:nvSpPr>
          <p:cNvPr id="7" name="TextBox 6"/>
          <p:cNvSpPr txBox="1"/>
          <p:nvPr/>
        </p:nvSpPr>
        <p:spPr>
          <a:xfrm>
            <a:off x="548640" y="1234440"/>
            <a:ext cx="11064240" cy="694944"/>
          </a:xfrm>
          <a:prstGeom prst="rect">
            <a:avLst/>
          </a:prstGeom>
          <a:noFill/>
        </p:spPr>
        <p:txBody>
          <a:bodyPr wrap="square" anchor="t" lIns="0" rIns="0" tIns="0" bIns="0">
            <a:spAutoFit/>
          </a:bodyPr>
          <a:lstStyle/>
          <a:p>
            <a:pPr algn="l"/>
            <a:r>
              <a:rPr sz="1400" b="0" i="0">
                <a:solidFill>
                  <a:srgbClr val="14141C"/>
                </a:solidFill>
                <a:latin typeface="Geist"/>
              </a:rPr>
              <a:t>The screening group asks how good the model is. We ask a harder question: good for whom? A single accuracy number is a blend, and a blend can hide that one group is being carried by another. So we refuse to trust the average and split the score apart by condition.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F0C840"/>
                </a:solidFill>
                <a:latin typeface="Geist Mono"/>
              </a:rPr>
              <a:t>Results</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RESULTS</a:t>
            </a:r>
          </a:p>
        </p:txBody>
      </p:sp>
      <p:sp>
        <p:nvSpPr>
          <p:cNvPr id="7" name="Rectangle 6"/>
          <p:cNvSpPr/>
          <p:nvPr/>
        </p:nvSpPr>
        <p:spPr>
          <a:xfrm>
            <a:off x="777240" y="5120640"/>
            <a:ext cx="1828800" cy="18288"/>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Good for whom?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headline number looks fine</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Good for whom?  ·  2026-07-08</a:t>
            </a:r>
          </a:p>
        </p:txBody>
      </p:sp>
      <p:sp>
        <p:nvSpPr>
          <p:cNvPr id="7" name="TextBox 6"/>
          <p:cNvSpPr txBox="1"/>
          <p:nvPr/>
        </p:nvSpPr>
        <p:spPr>
          <a:xfrm>
            <a:off x="548640" y="1234440"/>
            <a:ext cx="11064240" cy="694944"/>
          </a:xfrm>
          <a:prstGeom prst="rect">
            <a:avLst/>
          </a:prstGeom>
          <a:noFill/>
        </p:spPr>
        <p:txBody>
          <a:bodyPr wrap="square" anchor="t" lIns="0" rIns="0" tIns="0" bIns="0">
            <a:spAutoFit/>
          </a:bodyPr>
          <a:lstStyle/>
          <a:p>
            <a:pPr algn="l"/>
            <a:r>
              <a:rPr sz="1400" b="0" i="0">
                <a:solidFill>
                  <a:srgbClr val="14141C"/>
                </a:solidFill>
                <a:latin typeface="Geist"/>
              </a:rPr>
              <a:t>Trained and tested on held-out images, the model lands at about sixty-eight percent overall accuracy. Not amazing, not embarrassing, the kind of number you would quietly accept and move on. This is exactly the moment the equity lens says stop and break it apart.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Break it apart: a whole condition is failed</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Good for whom?  ·  2026-07-08</a:t>
            </a:r>
          </a:p>
        </p:txBody>
      </p:sp>
      <p:pic>
        <p:nvPicPr>
          <p:cNvPr id="7" name="Picture 6" descr="equity_per_class.png"/>
          <p:cNvPicPr>
            <a:picLocks noChangeAspect="1"/>
          </p:cNvPicPr>
          <p:nvPr/>
        </p:nvPicPr>
        <p:blipFill>
          <a:blip r:embed="rId2"/>
          <a:stretch>
            <a:fillRect/>
          </a:stretch>
        </p:blipFill>
        <p:spPr>
          <a:xfrm>
            <a:off x="457200" y="1752404"/>
            <a:ext cx="6298387" cy="3764671"/>
          </a:xfrm>
          <a:prstGeom prst="rect">
            <a:avLst/>
          </a:prstGeom>
        </p:spPr>
      </p:pic>
      <p:sp>
        <p:nvSpPr>
          <p:cNvPr id="8" name="Rectangle 7"/>
          <p:cNvSpPr/>
          <p:nvPr/>
        </p:nvSpPr>
        <p:spPr>
          <a:xfrm>
            <a:off x="7121347" y="1097280"/>
            <a:ext cx="4582972" cy="507491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21347" y="1097280"/>
            <a:ext cx="4582972" cy="82296"/>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22515" y="1389888"/>
            <a:ext cx="91440" cy="9144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23683" y="1325880"/>
            <a:ext cx="4016044" cy="649224"/>
          </a:xfrm>
          <a:prstGeom prst="rect">
            <a:avLst/>
          </a:prstGeom>
          <a:noFill/>
        </p:spPr>
        <p:txBody>
          <a:bodyPr wrap="square" anchor="t" lIns="0" rIns="0" tIns="0" bIns="0">
            <a:spAutoFit/>
          </a:bodyPr>
          <a:lstStyle/>
          <a:p>
            <a:pPr algn="l"/>
            <a:r>
              <a:rPr sz="1300" b="0" i="0">
                <a:solidFill>
                  <a:srgbClr val="14141C"/>
                </a:solidFill>
                <a:latin typeface="Geist"/>
              </a:rPr>
              <a:t>Splitting the same score by condition, the average was hiding a near-total failure</a:t>
            </a:r>
          </a:p>
        </p:txBody>
      </p:sp>
      <p:sp>
        <p:nvSpPr>
          <p:cNvPr id="12" name="Rectangle 11"/>
          <p:cNvSpPr/>
          <p:nvPr/>
        </p:nvSpPr>
        <p:spPr>
          <a:xfrm>
            <a:off x="7322515" y="2167128"/>
            <a:ext cx="91440" cy="9144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23683" y="2103120"/>
            <a:ext cx="4016044" cy="1042415"/>
          </a:xfrm>
          <a:prstGeom prst="rect">
            <a:avLst/>
          </a:prstGeom>
          <a:noFill/>
        </p:spPr>
        <p:txBody>
          <a:bodyPr wrap="square" anchor="t" lIns="0" rIns="0" tIns="0" bIns="0">
            <a:spAutoFit/>
          </a:bodyPr>
          <a:lstStyle/>
          <a:p>
            <a:pPr algn="l"/>
            <a:r>
              <a:rPr sz="1300" b="0" i="0">
                <a:solidFill>
                  <a:srgbClr val="14141C"/>
                </a:solidFill>
                <a:latin typeface="Geist"/>
              </a:rPr>
              <a:t>Ordinary moles, the giant class, are caught almost perfectly at ninety-nine percent and prop the average up. Several rarer conditions are caught almost never, some flat at zero.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Why: the model sees some conditions far more</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Good for whom?  ·  2026-07-08</a:t>
            </a:r>
          </a:p>
        </p:txBody>
      </p:sp>
      <p:pic>
        <p:nvPicPr>
          <p:cNvPr id="7" name="Picture 6" descr="train_imbalance.png"/>
          <p:cNvPicPr>
            <a:picLocks noChangeAspect="1"/>
          </p:cNvPicPr>
          <p:nvPr/>
        </p:nvPicPr>
        <p:blipFill>
          <a:blip r:embed="rId2"/>
          <a:stretch>
            <a:fillRect/>
          </a:stretch>
        </p:blipFill>
        <p:spPr>
          <a:xfrm>
            <a:off x="457200" y="1827462"/>
            <a:ext cx="6298387" cy="3614555"/>
          </a:xfrm>
          <a:prstGeom prst="rect">
            <a:avLst/>
          </a:prstGeom>
        </p:spPr>
      </p:pic>
      <p:sp>
        <p:nvSpPr>
          <p:cNvPr id="8" name="Rectangle 7"/>
          <p:cNvSpPr/>
          <p:nvPr/>
        </p:nvSpPr>
        <p:spPr>
          <a:xfrm>
            <a:off x="7121347" y="1097280"/>
            <a:ext cx="4582972" cy="507491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21347" y="1097280"/>
            <a:ext cx="4582972" cy="82296"/>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22515" y="1389888"/>
            <a:ext cx="91440" cy="9144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23683" y="1325880"/>
            <a:ext cx="4016044" cy="256032"/>
          </a:xfrm>
          <a:prstGeom prst="rect">
            <a:avLst/>
          </a:prstGeom>
          <a:noFill/>
        </p:spPr>
        <p:txBody>
          <a:bodyPr wrap="square" anchor="t" lIns="0" rIns="0" tIns="0" bIns="0">
            <a:spAutoFit/>
          </a:bodyPr>
          <a:lstStyle/>
          <a:p>
            <a:pPr algn="l"/>
            <a:r>
              <a:rPr sz="1300" b="0" i="0">
                <a:solidFill>
                  <a:srgbClr val="14141C"/>
                </a:solidFill>
                <a:latin typeface="Geist"/>
              </a:rPr>
              <a:t>The gap is not mysterious</a:t>
            </a:r>
          </a:p>
        </p:txBody>
      </p:sp>
      <p:sp>
        <p:nvSpPr>
          <p:cNvPr id="12" name="Rectangle 11"/>
          <p:cNvSpPr/>
          <p:nvPr/>
        </p:nvSpPr>
        <p:spPr>
          <a:xfrm>
            <a:off x="7322515" y="1773936"/>
            <a:ext cx="91440" cy="9144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23683" y="1709928"/>
            <a:ext cx="4016044" cy="1234440"/>
          </a:xfrm>
          <a:prstGeom prst="rect">
            <a:avLst/>
          </a:prstGeom>
          <a:noFill/>
        </p:spPr>
        <p:txBody>
          <a:bodyPr wrap="square" anchor="t" lIns="0" rIns="0" tIns="0" bIns="0">
            <a:spAutoFit/>
          </a:bodyPr>
          <a:lstStyle/>
          <a:p>
            <a:pPr algn="l"/>
            <a:r>
              <a:rPr sz="1300" b="0" i="0">
                <a:solidFill>
                  <a:srgbClr val="14141C"/>
                </a:solidFill>
                <a:latin typeface="Geist"/>
              </a:rPr>
              <a:t>One class has thousands of training images and the rare conditions have only dozens. Whatever the model sees most, it gets best at. This is the same skew the literature describes for skin tone, along the axis DermaMNIST actually labels.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blind spot we cannot measure</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Good for whom?  ·  2026-07-08</a:t>
            </a:r>
          </a:p>
        </p:txBody>
      </p:sp>
      <p:pic>
        <p:nvPicPr>
          <p:cNvPr id="7" name="Picture 6" descr="skin_tone_gap.png"/>
          <p:cNvPicPr>
            <a:picLocks noChangeAspect="1"/>
          </p:cNvPicPr>
          <p:nvPr/>
        </p:nvPicPr>
        <p:blipFill>
          <a:blip r:embed="rId2"/>
          <a:stretch>
            <a:fillRect/>
          </a:stretch>
        </p:blipFill>
        <p:spPr>
          <a:xfrm>
            <a:off x="457200" y="1762406"/>
            <a:ext cx="6298387" cy="3744666"/>
          </a:xfrm>
          <a:prstGeom prst="rect">
            <a:avLst/>
          </a:prstGeom>
        </p:spPr>
      </p:pic>
      <p:sp>
        <p:nvSpPr>
          <p:cNvPr id="8" name="Rectangle 7"/>
          <p:cNvSpPr/>
          <p:nvPr/>
        </p:nvSpPr>
        <p:spPr>
          <a:xfrm>
            <a:off x="7121347" y="1097280"/>
            <a:ext cx="4582972" cy="507491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21347" y="1097280"/>
            <a:ext cx="4582972" cy="82296"/>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22515" y="1389888"/>
            <a:ext cx="91440" cy="9144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23683" y="1325880"/>
            <a:ext cx="4016044" cy="1627632"/>
          </a:xfrm>
          <a:prstGeom prst="rect">
            <a:avLst/>
          </a:prstGeom>
          <a:noFill/>
        </p:spPr>
        <p:txBody>
          <a:bodyPr wrap="square" anchor="t" lIns="0" rIns="0" tIns="0" bIns="0">
            <a:spAutoFit/>
          </a:bodyPr>
          <a:lstStyle/>
          <a:p>
            <a:pPr algn="l"/>
            <a:r>
              <a:rPr sz="1300" b="0" i="0">
                <a:solidFill>
                  <a:srgbClr val="14141C"/>
                </a:solidFill>
                <a:latin typeface="Geist"/>
              </a:rPr>
              <a:t>The gap the literature warns about most is along skin tone, and DermaMNIST ships no skin-tone labels. It records the lesion type and nothing about the patient. So we cannot check the real skin-tone gap here. We can demonstrate the risk of a blind spot, not measure it, and saying so is part of doing this honestly.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8A2BE2"/>
                </a:solidFill>
                <a:latin typeface="Geist Mono"/>
              </a:rPr>
              <a:t>Validation</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BEING HONEST</a:t>
            </a:r>
          </a:p>
        </p:txBody>
      </p:sp>
      <p:sp>
        <p:nvSpPr>
          <p:cNvPr id="7" name="Rectangle 6"/>
          <p:cNvSpPr/>
          <p:nvPr/>
        </p:nvSpPr>
        <p:spPr>
          <a:xfrm>
            <a:off x="777240" y="5120640"/>
            <a:ext cx="1828800" cy="18288"/>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Good for whom?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Who gets left out</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Good for whom?  ·  2026-07-08</a:t>
            </a:r>
          </a:p>
        </p:txBody>
      </p:sp>
      <p:sp>
        <p:nvSpPr>
          <p:cNvPr id="7" name="TextBox 6"/>
          <p:cNvSpPr txBox="1"/>
          <p:nvPr/>
        </p:nvSpPr>
        <p:spPr>
          <a:xfrm>
            <a:off x="548640" y="1234440"/>
            <a:ext cx="11064240" cy="896112"/>
          </a:xfrm>
          <a:prstGeom prst="rect">
            <a:avLst/>
          </a:prstGeom>
          <a:noFill/>
        </p:spPr>
        <p:txBody>
          <a:bodyPr wrap="square" anchor="t" lIns="0" rIns="0" tIns="0" bIns="0">
            <a:spAutoFit/>
          </a:bodyPr>
          <a:lstStyle/>
          <a:p>
            <a:pPr algn="l"/>
            <a:r>
              <a:rPr sz="1400" b="0" i="0">
                <a:solidFill>
                  <a:srgbClr val="14141C"/>
                </a:solidFill>
                <a:latin typeface="Geist"/>
              </a:rPr>
              <a:t>The people the pitch was meant to help most are the ones most likely missing from the data. Skin-cancer AI aimed at the three billion with little access serves people disproportionately in regions and skin types barely present in training sets. A tool that is worst where care is scarcest can widen the gap it was sold to close.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References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Good for whom?  ·  2026-07-08</a:t>
            </a:r>
          </a:p>
        </p:txBody>
      </p:sp>
      <p:sp>
        <p:nvSpPr>
          <p:cNvPr id="7" name="TextBox 6"/>
          <p:cNvSpPr txBox="1"/>
          <p:nvPr/>
        </p:nvSpPr>
        <p:spPr>
          <a:xfrm>
            <a:off x="548640" y="1234440"/>
            <a:ext cx="11064240" cy="694944"/>
          </a:xfrm>
          <a:prstGeom prst="rect">
            <a:avLst/>
          </a:prstGeom>
          <a:noFill/>
        </p:spPr>
        <p:txBody>
          <a:bodyPr wrap="square" anchor="t" lIns="0" rIns="0" tIns="0" bIns="0">
            <a:spAutoFit/>
          </a:bodyPr>
          <a:lstStyle/>
          <a:p>
            <a:pPr algn="l"/>
            <a:r>
              <a:rPr sz="1400" b="0" i="0">
                <a:solidFill>
                  <a:srgbClr val="14141C"/>
                </a:solidFill>
                <a:latin typeface="Geist"/>
              </a:rPr>
              <a:t>The equity lens on dermatology AI rests on a specific body of work, from the Fitzpatrick scale that names the groups to the studies that measured the gaps and the proxy-bias case that explains why a fair-looking number can still be unfair.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0"/>
            <a:ext cx="228600"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1417320"/>
            <a:ext cx="10058400" cy="1280160"/>
          </a:xfrm>
          <a:prstGeom prst="rect">
            <a:avLst/>
          </a:prstGeom>
          <a:noFill/>
        </p:spPr>
        <p:txBody>
          <a:bodyPr wrap="square" anchor="t" lIns="0" rIns="0" tIns="0" bIns="0">
            <a:spAutoFit/>
          </a:bodyPr>
          <a:lstStyle/>
          <a:p>
            <a:pPr algn="ctr"/>
            <a:r>
              <a:rPr sz="6000" b="1" i="0">
                <a:solidFill>
                  <a:srgbClr val="FF1493"/>
                </a:solidFill>
                <a:latin typeface="Geist Mono"/>
              </a:rPr>
              <a:t>Thank You</a:t>
            </a:r>
          </a:p>
        </p:txBody>
      </p:sp>
      <p:sp>
        <p:nvSpPr>
          <p:cNvPr id="6" name="TextBox 5"/>
          <p:cNvSpPr txBox="1"/>
          <p:nvPr/>
        </p:nvSpPr>
        <p:spPr>
          <a:xfrm>
            <a:off x="1188720" y="3246120"/>
            <a:ext cx="10058400" cy="640080"/>
          </a:xfrm>
          <a:prstGeom prst="rect">
            <a:avLst/>
          </a:prstGeom>
          <a:noFill/>
        </p:spPr>
        <p:txBody>
          <a:bodyPr wrap="square" anchor="t" lIns="0" rIns="0" tIns="0" bIns="0">
            <a:spAutoFit/>
          </a:bodyPr>
          <a:lstStyle/>
          <a:p>
            <a:pPr algn="ctr"/>
            <a:r>
              <a:rPr sz="3000" b="0" i="0">
                <a:solidFill>
                  <a:srgbClr val="40E0D0"/>
                </a:solidFill>
                <a:latin typeface="Noto Sans CJK TC"/>
              </a:rPr>
              <a:t>魏晉祺</a:t>
            </a:r>
          </a:p>
        </p:txBody>
      </p:sp>
      <p:sp>
        <p:nvSpPr>
          <p:cNvPr id="7" name="TextBox 6"/>
          <p:cNvSpPr txBox="1"/>
          <p:nvPr/>
        </p:nvSpPr>
        <p:spPr>
          <a:xfrm>
            <a:off x="1188720" y="3922776"/>
            <a:ext cx="10058400" cy="457200"/>
          </a:xfrm>
          <a:prstGeom prst="rect">
            <a:avLst/>
          </a:prstGeom>
          <a:noFill/>
        </p:spPr>
        <p:txBody>
          <a:bodyPr wrap="square" anchor="t" lIns="0" rIns="0" tIns="0" bIns="0">
            <a:spAutoFit/>
          </a:bodyPr>
          <a:lstStyle/>
          <a:p>
            <a:pPr algn="ctr"/>
            <a:r>
              <a:rPr sz="2000" b="1" i="0">
                <a:solidFill>
                  <a:srgbClr val="40E0D0"/>
                </a:solidFill>
                <a:latin typeface="Geist Mono"/>
              </a:rPr>
              <a:t>Jinchi Wei</a:t>
            </a:r>
          </a:p>
        </p:txBody>
      </p:sp>
      <p:sp>
        <p:nvSpPr>
          <p:cNvPr id="8" name="TextBox 7"/>
          <p:cNvSpPr txBox="1"/>
          <p:nvPr/>
        </p:nvSpPr>
        <p:spPr>
          <a:xfrm>
            <a:off x="1188720" y="4398264"/>
            <a:ext cx="10058400" cy="365760"/>
          </a:xfrm>
          <a:prstGeom prst="rect">
            <a:avLst/>
          </a:prstGeom>
          <a:noFill/>
        </p:spPr>
        <p:txBody>
          <a:bodyPr wrap="square" anchor="t" lIns="0" rIns="0" tIns="0" bIns="0">
            <a:spAutoFit/>
          </a:bodyPr>
          <a:lstStyle/>
          <a:p>
            <a:pPr algn="ctr"/>
            <a:r>
              <a:rPr sz="1300" b="0" i="0">
                <a:solidFill>
                  <a:srgbClr val="FFFFFF"/>
                </a:solidFill>
                <a:latin typeface="Geist"/>
              </a:rPr>
              <a:t>Outset</a:t>
            </a:r>
          </a:p>
        </p:txBody>
      </p:sp>
      <p:sp>
        <p:nvSpPr>
          <p:cNvPr id="9" name="TextBox 8"/>
          <p:cNvSpPr txBox="1"/>
          <p:nvPr/>
        </p:nvSpPr>
        <p:spPr>
          <a:xfrm>
            <a:off x="1188720" y="4837176"/>
            <a:ext cx="10058400" cy="365760"/>
          </a:xfrm>
          <a:prstGeom prst="rect">
            <a:avLst/>
          </a:prstGeom>
          <a:noFill/>
        </p:spPr>
        <p:txBody>
          <a:bodyPr wrap="square" anchor="t" lIns="0" rIns="0" tIns="0" bIns="0">
            <a:spAutoFit/>
          </a:bodyPr>
          <a:lstStyle/>
          <a:p>
            <a:pPr algn="ctr"/>
            <a:r>
              <a:rPr sz="1600" b="0" i="0">
                <a:solidFill>
                  <a:srgbClr val="F0C840"/>
                </a:solidFill>
                <a:latin typeface="Geist Mono"/>
              </a:rPr>
              <a:t>jinchikwei@gmail.com</a:t>
            </a:r>
          </a:p>
        </p:txBody>
      </p:sp>
      <p:pic>
        <p:nvPicPr>
          <p:cNvPr id="10" name="Picture 9" descr="meng.png"/>
          <p:cNvPicPr>
            <a:picLocks noChangeAspect="1"/>
          </p:cNvPicPr>
          <p:nvPr/>
        </p:nvPicPr>
        <p:blipFill>
          <a:blip r:embed="rId2"/>
          <a:stretch>
            <a:fillRect/>
          </a:stretch>
        </p:blipFill>
        <p:spPr>
          <a:xfrm>
            <a:off x="10086477" y="5486400"/>
            <a:ext cx="690906" cy="914400"/>
          </a:xfrm>
          <a:prstGeom prst="rect">
            <a:avLst/>
          </a:prstGeom>
        </p:spPr>
      </p:pic>
      <p:pic>
        <p:nvPicPr>
          <p:cNvPr id="11" name="Picture 10" descr="xiang.png"/>
          <p:cNvPicPr>
            <a:picLocks noChangeAspect="1"/>
          </p:cNvPicPr>
          <p:nvPr/>
        </p:nvPicPr>
        <p:blipFill>
          <a:blip r:embed="rId3"/>
          <a:stretch>
            <a:fillRect/>
          </a:stretch>
        </p:blipFill>
        <p:spPr>
          <a:xfrm>
            <a:off x="10978551" y="5486400"/>
            <a:ext cx="755944" cy="9144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